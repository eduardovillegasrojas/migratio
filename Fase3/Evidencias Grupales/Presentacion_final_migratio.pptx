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9144000" cy="5143500"/>
  <p:embeddedFontLst>
    <p:embeddedFont>
      <p:font typeface="Catamaran"/>
      <p:regular r:id="rId51"/>
      <p:bold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53" roundtripDataSignature="AMtx7mjgBl6HUZjLwt7OMZZt7MH7GsqZ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A4A8AA-24DE-483B-A2CB-9BDBEC9F8954}">
  <a:tblStyle styleId="{09A4A8AA-24DE-483B-A2CB-9BDBEC9F895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E498E1A-57DE-4726-B92D-F0067C99A70F}"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Catamaran-regular.fntdata"/><Relationship Id="rId50" Type="http://schemas.openxmlformats.org/officeDocument/2006/relationships/slide" Target="slides/slide44.xml"/><Relationship Id="rId53" Type="http://customschemas.google.com/relationships/presentationmetadata" Target="metadata"/><Relationship Id="rId52" Type="http://schemas.openxmlformats.org/officeDocument/2006/relationships/font" Target="fonts/Catamaran-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 name="Google Shape;9;p1: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 name="Google Shape;31;p2: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3: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4: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5: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7: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7: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8: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8: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9: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p9: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0: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p10: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1: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p11: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2: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3" name="Google Shape;393;p12: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3: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4" name="Google Shape;434;p13: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4: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0" name="Google Shape;480;p14: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15: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0" name="Google Shape;530;p15: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16: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9" name="Google Shape;569;p16: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17: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8" name="Google Shape;608;p17: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18: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0" name="Google Shape;650;p18: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19: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9" name="Google Shape;689;p19: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20: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2" name="Google Shape;732;p20: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21: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1" name="Google Shape;771;p21: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22: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0" name="Google Shape;810;p22: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23: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9" name="Google Shape;849;p23: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24: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1" name="Google Shape;891;p24: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25: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1" name="Google Shape;931;p25: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6: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0" name="Google Shape;970;p26: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27: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9" name="Google Shape;1009;p27: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28: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9" name="Google Shape;1049;p28: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29: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9" name="Google Shape;1089;p29: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30: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9" name="Google Shape;1129;p30: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31: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8" name="Google Shape;1168;p31: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p32: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7" name="Google Shape;1207;p32: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p6: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6" name="Google Shape;1246;p6: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p35: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6" name="Google Shape;1286;p35: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p38: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6" name="Google Shape;1326;p38: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p39: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5" name="Google Shape;1365;p39: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p40: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4" name="Google Shape;1404;p40: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p41: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5" name="Google Shape;1445;p41: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p42: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5" name="Google Shape;1485;p42: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p43: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5" name="Google Shape;1525;p43: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p44: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4" name="Google Shape;1564;p44: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p45: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3" name="Google Shape;1603;p45: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p33: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3" name="Google Shape;1643;p33: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1" name="Shape 1681"/>
        <p:cNvGrpSpPr/>
        <p:nvPr/>
      </p:nvGrpSpPr>
      <p:grpSpPr>
        <a:xfrm>
          <a:off x="0" y="0"/>
          <a:ext cx="0" cy="0"/>
          <a:chOff x="0" y="0"/>
          <a:chExt cx="0" cy="0"/>
        </a:xfrm>
      </p:grpSpPr>
      <p:sp>
        <p:nvSpPr>
          <p:cNvPr id="1682" name="Google Shape;1682;p34: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3" name="Google Shape;1683;p34: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g394d6a005cf_2_114:notes"/>
          <p:cNvSpPr/>
          <p:nvPr>
            <p:ph idx="2" type="sldImg"/>
          </p:nvPr>
        </p:nvSpPr>
        <p:spPr>
          <a:xfrm>
            <a:off x="2857500" y="385763"/>
            <a:ext cx="3429000" cy="1928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6" name="Google Shape;1726;g394d6a005cf_2_114: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 Id="rId4" Type="http://schemas.openxmlformats.org/officeDocument/2006/relationships/image" Target="../media/image9.jpg"/><Relationship Id="rId10" Type="http://schemas.openxmlformats.org/officeDocument/2006/relationships/image" Target="../media/image12.png"/><Relationship Id="rId9" Type="http://schemas.openxmlformats.org/officeDocument/2006/relationships/image" Target="../media/image13.png"/><Relationship Id="rId5" Type="http://schemas.openxmlformats.org/officeDocument/2006/relationships/image" Target="../media/image16.png"/><Relationship Id="rId6" Type="http://schemas.openxmlformats.org/officeDocument/2006/relationships/image" Target="../media/image8.jpg"/><Relationship Id="rId7" Type="http://schemas.openxmlformats.org/officeDocument/2006/relationships/image" Target="../media/image14.png"/><Relationship Id="rId8"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jpg"/><Relationship Id="rId4" Type="http://schemas.openxmlformats.org/officeDocument/2006/relationships/image" Target="../media/image19.png"/><Relationship Id="rId11" Type="http://schemas.openxmlformats.org/officeDocument/2006/relationships/image" Target="../media/image4.png"/><Relationship Id="rId10" Type="http://schemas.openxmlformats.org/officeDocument/2006/relationships/image" Target="../media/image6.png"/><Relationship Id="rId9" Type="http://schemas.openxmlformats.org/officeDocument/2006/relationships/image" Target="../media/image10.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jpg"/><Relationship Id="rId4" Type="http://schemas.openxmlformats.org/officeDocument/2006/relationships/image" Target="../media/image16.png"/><Relationship Id="rId5" Type="http://schemas.openxmlformats.org/officeDocument/2006/relationships/image" Target="../media/image37.jpg"/><Relationship Id="rId6"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22.jpg"/><Relationship Id="rId6" Type="http://schemas.openxmlformats.org/officeDocument/2006/relationships/image" Target="../media/image2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36.jpg"/><Relationship Id="rId5" Type="http://schemas.openxmlformats.org/officeDocument/2006/relationships/image" Target="../media/image19.png"/><Relationship Id="rId6"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49.jpg"/><Relationship Id="rId6" Type="http://schemas.openxmlformats.org/officeDocument/2006/relationships/image" Target="../media/image20.jpg"/><Relationship Id="rId7" Type="http://schemas.openxmlformats.org/officeDocument/2006/relationships/image" Target="../media/image30.jpg"/><Relationship Id="rId8" Type="http://schemas.openxmlformats.org/officeDocument/2006/relationships/image" Target="../media/image2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jp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jp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27.png"/><Relationship Id="rId6" Type="http://schemas.openxmlformats.org/officeDocument/2006/relationships/image" Target="../media/image42.png"/><Relationship Id="rId7" Type="http://schemas.openxmlformats.org/officeDocument/2006/relationships/image" Target="../media/image25.png"/><Relationship Id="rId8"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jp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jp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4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jp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jp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31.png"/><Relationship Id="rId6"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1.jp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34.png"/><Relationship Id="rId6"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1.jp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1.jpg"/><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41.png"/><Relationship Id="rId6" Type="http://schemas.openxmlformats.org/officeDocument/2006/relationships/image" Target="../media/image40.png"/><Relationship Id="rId7" Type="http://schemas.openxmlformats.org/officeDocument/2006/relationships/image" Target="../media/image5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1.jp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6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1.jp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1.jpg"/><Relationship Id="rId4" Type="http://schemas.openxmlformats.org/officeDocument/2006/relationships/image" Target="../media/image19.png"/><Relationship Id="rId9" Type="http://schemas.openxmlformats.org/officeDocument/2006/relationships/image" Target="../media/image50.png"/><Relationship Id="rId5" Type="http://schemas.openxmlformats.org/officeDocument/2006/relationships/image" Target="../media/image48.png"/><Relationship Id="rId6" Type="http://schemas.openxmlformats.org/officeDocument/2006/relationships/image" Target="../media/image54.png"/><Relationship Id="rId7" Type="http://schemas.openxmlformats.org/officeDocument/2006/relationships/image" Target="../media/image52.png"/><Relationship Id="rId8"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1.jpg"/><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1.jpg"/><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6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1.jpg"/><Relationship Id="rId4"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57.png"/><Relationship Id="rId6" Type="http://schemas.openxmlformats.org/officeDocument/2006/relationships/image" Target="../media/image60.png"/><Relationship Id="rId7" Type="http://schemas.openxmlformats.org/officeDocument/2006/relationships/image" Target="../media/image59.png"/><Relationship Id="rId8" Type="http://schemas.openxmlformats.org/officeDocument/2006/relationships/image" Target="../media/image6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58.png"/><Relationship Id="rId6" Type="http://schemas.openxmlformats.org/officeDocument/2006/relationships/hyperlink" Target="https://vision-api-wki3.onrender.com/"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1.jpg"/><Relationship Id="rId4" Type="http://schemas.openxmlformats.org/officeDocument/2006/relationships/image" Target="../media/image19.png"/><Relationship Id="rId5" Type="http://schemas.openxmlformats.org/officeDocument/2006/relationships/image" Target="../media/image1.png"/><Relationship Id="rId6"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 name="Shape 10"/>
        <p:cNvGrpSpPr/>
        <p:nvPr/>
      </p:nvGrpSpPr>
      <p:grpSpPr>
        <a:xfrm>
          <a:off x="0" y="0"/>
          <a:ext cx="0" cy="0"/>
          <a:chOff x="0" y="0"/>
          <a:chExt cx="0" cy="0"/>
        </a:xfrm>
      </p:grpSpPr>
      <p:sp>
        <p:nvSpPr>
          <p:cNvPr id="11" name="Google Shape;11;p1"/>
          <p:cNvSpPr/>
          <p:nvPr/>
        </p:nvSpPr>
        <p:spPr>
          <a:xfrm>
            <a:off x="9136925" y="0"/>
            <a:ext cx="7074" cy="5143499"/>
          </a:xfrm>
          <a:custGeom>
            <a:rect b="b" l="l" r="r" t="t"/>
            <a:pathLst>
              <a:path extrusionOk="0" h="5143499" w="7074">
                <a:moveTo>
                  <a:pt x="7074" y="0"/>
                </a:moveTo>
                <a:lnTo>
                  <a:pt x="0" y="0"/>
                </a:lnTo>
                <a:lnTo>
                  <a:pt x="0" y="5143499"/>
                </a:lnTo>
                <a:lnTo>
                  <a:pt x="7074" y="5143499"/>
                </a:lnTo>
                <a:lnTo>
                  <a:pt x="707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 name="Google Shape;12;p1"/>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 name="Google Shape;13;p1"/>
          <p:cNvSpPr/>
          <p:nvPr/>
        </p:nvSpPr>
        <p:spPr>
          <a:xfrm>
            <a:off x="0" y="0"/>
            <a:ext cx="3954763" cy="5143499"/>
          </a:xfrm>
          <a:custGeom>
            <a:rect b="b" l="l" r="r" t="t"/>
            <a:pathLst>
              <a:path extrusionOk="0" h="5143499" w="3954763">
                <a:moveTo>
                  <a:pt x="3954763" y="0"/>
                </a:moveTo>
                <a:lnTo>
                  <a:pt x="3954763" y="5143499"/>
                </a:lnTo>
                <a:lnTo>
                  <a:pt x="0" y="5143499"/>
                </a:lnTo>
                <a:lnTo>
                  <a:pt x="0" y="0"/>
                </a:lnTo>
                <a:lnTo>
                  <a:pt x="3954763"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1"/>
          <p:cNvSpPr/>
          <p:nvPr/>
        </p:nvSpPr>
        <p:spPr>
          <a:xfrm>
            <a:off x="0" y="0"/>
            <a:ext cx="3954763" cy="51435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 name="Google Shape;15;p1"/>
          <p:cNvSpPr/>
          <p:nvPr/>
        </p:nvSpPr>
        <p:spPr>
          <a:xfrm>
            <a:off x="5360375" y="932300"/>
            <a:ext cx="2509352" cy="2697200"/>
          </a:xfrm>
          <a:custGeom>
            <a:rect b="b" l="l" r="r" t="t"/>
            <a:pathLst>
              <a:path extrusionOk="0" h="2697200" w="2509352">
                <a:moveTo>
                  <a:pt x="0" y="0"/>
                </a:moveTo>
                <a:lnTo>
                  <a:pt x="2509352" y="0"/>
                </a:lnTo>
                <a:lnTo>
                  <a:pt x="2509352" y="2697200"/>
                </a:lnTo>
                <a:lnTo>
                  <a:pt x="0" y="2697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1"/>
          <p:cNvSpPr/>
          <p:nvPr/>
        </p:nvSpPr>
        <p:spPr>
          <a:xfrm>
            <a:off x="5360375" y="932300"/>
            <a:ext cx="2509352" cy="28174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 name="Google Shape;17;p1"/>
          <p:cNvSpPr/>
          <p:nvPr/>
        </p:nvSpPr>
        <p:spPr>
          <a:xfrm>
            <a:off x="4854350" y="3629500"/>
            <a:ext cx="3521400" cy="380700"/>
          </a:xfrm>
          <a:custGeom>
            <a:rect b="b" l="l" r="r" t="t"/>
            <a:pathLst>
              <a:path extrusionOk="0" h="380700" w="3521400">
                <a:moveTo>
                  <a:pt x="0" y="0"/>
                </a:moveTo>
                <a:lnTo>
                  <a:pt x="3521400" y="0"/>
                </a:lnTo>
                <a:lnTo>
                  <a:pt x="3521400" y="380700"/>
                </a:lnTo>
                <a:lnTo>
                  <a:pt x="0" y="3807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 name="Google Shape;18;p1"/>
          <p:cNvSpPr/>
          <p:nvPr/>
        </p:nvSpPr>
        <p:spPr>
          <a:xfrm>
            <a:off x="5782238" y="4521503"/>
            <a:ext cx="479188" cy="472785"/>
          </a:xfrm>
          <a:custGeom>
            <a:rect b="b" l="l" r="r" t="t"/>
            <a:pathLst>
              <a:path extrusionOk="0" h="472785" w="479188">
                <a:moveTo>
                  <a:pt x="0" y="0"/>
                </a:moveTo>
                <a:lnTo>
                  <a:pt x="479188" y="0"/>
                </a:lnTo>
                <a:lnTo>
                  <a:pt x="479188" y="472785"/>
                </a:lnTo>
                <a:lnTo>
                  <a:pt x="0" y="47278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 name="Google Shape;19;p1"/>
          <p:cNvSpPr/>
          <p:nvPr/>
        </p:nvSpPr>
        <p:spPr>
          <a:xfrm>
            <a:off x="5782238" y="4521503"/>
            <a:ext cx="479188" cy="472785"/>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 name="Google Shape;20;p1"/>
          <p:cNvSpPr/>
          <p:nvPr/>
        </p:nvSpPr>
        <p:spPr>
          <a:xfrm>
            <a:off x="6338800" y="4566982"/>
            <a:ext cx="1194107" cy="293875"/>
          </a:xfrm>
          <a:custGeom>
            <a:rect b="b" l="l" r="r" t="t"/>
            <a:pathLst>
              <a:path extrusionOk="0" h="293875" w="1194107">
                <a:moveTo>
                  <a:pt x="0" y="0"/>
                </a:moveTo>
                <a:lnTo>
                  <a:pt x="1194107" y="0"/>
                </a:lnTo>
                <a:lnTo>
                  <a:pt x="1194107" y="293875"/>
                </a:lnTo>
                <a:lnTo>
                  <a:pt x="0" y="2938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 name="Google Shape;21;p1"/>
          <p:cNvSpPr/>
          <p:nvPr/>
        </p:nvSpPr>
        <p:spPr>
          <a:xfrm>
            <a:off x="6338800" y="4566982"/>
            <a:ext cx="1194107" cy="293875"/>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 name="Google Shape;22;p1"/>
          <p:cNvSpPr/>
          <p:nvPr/>
        </p:nvSpPr>
        <p:spPr>
          <a:xfrm>
            <a:off x="0" y="4754725"/>
            <a:ext cx="871325" cy="70800"/>
          </a:xfrm>
          <a:custGeom>
            <a:rect b="b" l="l" r="r" t="t"/>
            <a:pathLst>
              <a:path extrusionOk="0" h="70800" w="871325">
                <a:moveTo>
                  <a:pt x="871325" y="0"/>
                </a:moveTo>
                <a:lnTo>
                  <a:pt x="871325" y="70800"/>
                </a:lnTo>
                <a:lnTo>
                  <a:pt x="0" y="70800"/>
                </a:lnTo>
                <a:lnTo>
                  <a:pt x="0" y="0"/>
                </a:lnTo>
                <a:lnTo>
                  <a:pt x="871325"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1"/>
          <p:cNvSpPr/>
          <p:nvPr/>
        </p:nvSpPr>
        <p:spPr>
          <a:xfrm>
            <a:off x="922775" y="4492900"/>
            <a:ext cx="2090001" cy="594450"/>
          </a:xfrm>
          <a:custGeom>
            <a:rect b="b" l="l" r="r" t="t"/>
            <a:pathLst>
              <a:path extrusionOk="0" h="594450" w="2090001">
                <a:moveTo>
                  <a:pt x="0" y="0"/>
                </a:moveTo>
                <a:lnTo>
                  <a:pt x="2090001" y="0"/>
                </a:lnTo>
                <a:lnTo>
                  <a:pt x="2090001" y="594450"/>
                </a:lnTo>
                <a:lnTo>
                  <a:pt x="0" y="59445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p1"/>
          <p:cNvSpPr/>
          <p:nvPr/>
        </p:nvSpPr>
        <p:spPr>
          <a:xfrm>
            <a:off x="922775" y="4492900"/>
            <a:ext cx="5048311" cy="594450"/>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 name="Google Shape;25;p1"/>
          <p:cNvSpPr/>
          <p:nvPr/>
        </p:nvSpPr>
        <p:spPr>
          <a:xfrm>
            <a:off x="3064225" y="4754700"/>
            <a:ext cx="932400" cy="70800"/>
          </a:xfrm>
          <a:custGeom>
            <a:rect b="b" l="l" r="r" t="t"/>
            <a:pathLst>
              <a:path extrusionOk="0" h="70800" w="932400">
                <a:moveTo>
                  <a:pt x="0" y="0"/>
                </a:moveTo>
                <a:lnTo>
                  <a:pt x="932400" y="0"/>
                </a:lnTo>
                <a:lnTo>
                  <a:pt x="932400" y="70800"/>
                </a:lnTo>
                <a:lnTo>
                  <a:pt x="0" y="7080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Google Shape;26;p1"/>
          <p:cNvSpPr/>
          <p:nvPr/>
        </p:nvSpPr>
        <p:spPr>
          <a:xfrm>
            <a:off x="3954763" y="0"/>
            <a:ext cx="5182162" cy="5143499"/>
          </a:xfrm>
          <a:custGeom>
            <a:rect b="b" l="l" r="r" t="t"/>
            <a:pathLst>
              <a:path extrusionOk="0" h="5143499" w="5182162">
                <a:moveTo>
                  <a:pt x="5182162" y="0"/>
                </a:moveTo>
                <a:lnTo>
                  <a:pt x="0" y="0"/>
                </a:lnTo>
                <a:lnTo>
                  <a:pt x="0" y="5143499"/>
                </a:lnTo>
                <a:lnTo>
                  <a:pt x="5182162" y="5143499"/>
                </a:lnTo>
                <a:lnTo>
                  <a:pt x="518216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7" name="Google Shape;27;p1"/>
          <p:cNvPicPr preferRelativeResize="0"/>
          <p:nvPr/>
        </p:nvPicPr>
        <p:blipFill rotWithShape="1">
          <a:blip r:embed="rId9">
            <a:alphaModFix/>
          </a:blip>
          <a:srcRect b="0" l="0" r="0" t="0"/>
          <a:stretch/>
        </p:blipFill>
        <p:spPr>
          <a:xfrm>
            <a:off x="4765569" y="907808"/>
            <a:ext cx="3600953" cy="3343742"/>
          </a:xfrm>
          <a:prstGeom prst="rect">
            <a:avLst/>
          </a:prstGeom>
          <a:noFill/>
          <a:ln>
            <a:noFill/>
          </a:ln>
        </p:spPr>
      </p:pic>
      <p:pic>
        <p:nvPicPr>
          <p:cNvPr id="28" name="Google Shape;28;p1"/>
          <p:cNvPicPr preferRelativeResize="0"/>
          <p:nvPr/>
        </p:nvPicPr>
        <p:blipFill rotWithShape="1">
          <a:blip r:embed="rId10">
            <a:alphaModFix/>
          </a:blip>
          <a:srcRect b="0" l="0" r="0" t="0"/>
          <a:stretch/>
        </p:blipFill>
        <p:spPr>
          <a:xfrm>
            <a:off x="4600513" y="3839600"/>
            <a:ext cx="3914775" cy="1464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2"/>
          <p:cNvSpPr txBox="1"/>
          <p:nvPr/>
        </p:nvSpPr>
        <p:spPr>
          <a:xfrm>
            <a:off x="911331" y="1071980"/>
            <a:ext cx="1429255" cy="1437795"/>
          </a:xfrm>
          <a:prstGeom prst="rect">
            <a:avLst/>
          </a:prstGeom>
          <a:noFill/>
          <a:ln>
            <a:noFill/>
          </a:ln>
        </p:spPr>
        <p:txBody>
          <a:bodyPr anchorCtr="0" anchor="t" bIns="0" lIns="0" spcFirstLastPara="1" rIns="0" wrap="square" tIns="5900">
            <a:noAutofit/>
          </a:bodyPr>
          <a:lstStyle/>
          <a:p>
            <a:pPr indent="0" lvl="0" marL="0" marR="0" rtl="0" algn="l">
              <a:lnSpc>
                <a:spcPct val="97894"/>
              </a:lnSpc>
              <a:spcBef>
                <a:spcPts val="0"/>
              </a:spcBef>
              <a:spcAft>
                <a:spcPts val="0"/>
              </a:spcAft>
              <a:buClr>
                <a:srgbClr val="000000"/>
              </a:buClr>
              <a:buSzPts val="950"/>
              <a:buFont typeface="Arial"/>
              <a:buNone/>
            </a:pPr>
            <a:r>
              <a:rPr b="0" i="0" lang="es-ES" sz="950" u="none" cap="none" strike="noStrike">
                <a:solidFill>
                  <a:srgbClr val="1F1F1F"/>
                </a:solidFill>
                <a:latin typeface="Times New Roman"/>
                <a:ea typeface="Times New Roman"/>
                <a:cs typeface="Times New Roman"/>
                <a:sym typeface="Times New Roman"/>
              </a:rPr>
              <a:t>canales:</a:t>
            </a:r>
            <a:endParaRPr b="0" i="0" sz="950" u="none" cap="none" strike="noStrike">
              <a:solidFill>
                <a:schemeClr val="dk1"/>
              </a:solidFill>
              <a:latin typeface="Times New Roman"/>
              <a:ea typeface="Times New Roman"/>
              <a:cs typeface="Times New Roman"/>
              <a:sym typeface="Times New Roman"/>
            </a:endParaRPr>
          </a:p>
        </p:txBody>
      </p:sp>
      <p:sp>
        <p:nvSpPr>
          <p:cNvPr id="34" name="Google Shape;34;p2"/>
          <p:cNvSpPr txBox="1"/>
          <p:nvPr/>
        </p:nvSpPr>
        <p:spPr>
          <a:xfrm>
            <a:off x="6286662" y="1042963"/>
            <a:ext cx="2303401" cy="159476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a:p>
            <a:pPr indent="0" lvl="0" marL="340714" marR="0" rtl="0" algn="l">
              <a:lnSpc>
                <a:spcPct val="95825"/>
              </a:lnSpc>
              <a:spcBef>
                <a:spcPts val="10444"/>
              </a:spcBef>
              <a:spcAft>
                <a:spcPts val="0"/>
              </a:spcAft>
              <a:buClr>
                <a:srgbClr val="000000"/>
              </a:buClr>
              <a:buSzPts val="950"/>
              <a:buFont typeface="Arial"/>
              <a:buNone/>
            </a:pPr>
            <a:r>
              <a:rPr b="1" i="0" lang="es-ES" sz="950" u="none" cap="none" strike="noStrike">
                <a:solidFill>
                  <a:srgbClr val="1F1F1F"/>
                </a:solidFill>
                <a:latin typeface="Times New Roman"/>
                <a:ea typeface="Times New Roman"/>
                <a:cs typeface="Times New Roman"/>
                <a:sym typeface="Times New Roman"/>
              </a:rPr>
              <a:t>Aprovechar las agencias de</a:t>
            </a:r>
            <a:endParaRPr b="0" i="0" sz="950" u="none" cap="none" strike="noStrike">
              <a:solidFill>
                <a:schemeClr val="dk1"/>
              </a:solidFill>
              <a:latin typeface="Times New Roman"/>
              <a:ea typeface="Times New Roman"/>
              <a:cs typeface="Times New Roman"/>
              <a:sym typeface="Times New Roman"/>
            </a:endParaRPr>
          </a:p>
        </p:txBody>
      </p:sp>
      <p:sp>
        <p:nvSpPr>
          <p:cNvPr id="35" name="Google Shape;35;p2"/>
          <p:cNvSpPr txBox="1"/>
          <p:nvPr/>
        </p:nvSpPr>
        <p:spPr>
          <a:xfrm>
            <a:off x="568900" y="2809635"/>
            <a:ext cx="2091300" cy="1512664"/>
          </a:xfrm>
          <a:prstGeom prst="rect">
            <a:avLst/>
          </a:prstGeom>
          <a:noFill/>
          <a:ln>
            <a:noFill/>
          </a:ln>
        </p:spPr>
        <p:txBody>
          <a:bodyPr anchorCtr="0" anchor="t" bIns="0" lIns="0" spcFirstLastPara="1" rIns="0" wrap="square" tIns="5900">
            <a:noAutofit/>
          </a:bodyPr>
          <a:lstStyle/>
          <a:p>
            <a:pPr indent="0" lvl="0" marL="549470" marR="0" rtl="0" algn="l">
              <a:lnSpc>
                <a:spcPct val="97894"/>
              </a:lnSpc>
              <a:spcBef>
                <a:spcPts val="0"/>
              </a:spcBef>
              <a:spcAft>
                <a:spcPts val="0"/>
              </a:spcAft>
              <a:buClr>
                <a:srgbClr val="000000"/>
              </a:buClr>
              <a:buSzPts val="950"/>
              <a:buFont typeface="Arial"/>
              <a:buNone/>
            </a:pPr>
            <a:r>
              <a:rPr b="1" i="0" lang="es-ES" sz="950" u="none" cap="none" strike="noStrike">
                <a:solidFill>
                  <a:srgbClr val="1F1F1F"/>
                </a:solidFill>
                <a:latin typeface="Times New Roman"/>
                <a:ea typeface="Times New Roman"/>
                <a:cs typeface="Times New Roman"/>
                <a:sym typeface="Times New Roman"/>
              </a:rPr>
              <a:t>objetivo especíﬁcos</a:t>
            </a:r>
            <a:endParaRPr b="0" i="0" sz="950" u="none" cap="none" strike="noStrike">
              <a:solidFill>
                <a:schemeClr val="dk1"/>
              </a:solidFill>
              <a:latin typeface="Times New Roman"/>
              <a:ea typeface="Times New Roman"/>
              <a:cs typeface="Times New Roman"/>
              <a:sym typeface="Times New Roman"/>
            </a:endParaRPr>
          </a:p>
        </p:txBody>
      </p:sp>
      <p:sp>
        <p:nvSpPr>
          <p:cNvPr id="36" name="Google Shape;36;p2"/>
          <p:cNvSpPr txBox="1"/>
          <p:nvPr/>
        </p:nvSpPr>
        <p:spPr>
          <a:xfrm>
            <a:off x="4002850" y="3051250"/>
            <a:ext cx="1225675" cy="1225700"/>
          </a:xfrm>
          <a:prstGeom prst="rect">
            <a:avLst/>
          </a:prstGeom>
          <a:noFill/>
          <a:ln>
            <a:noFill/>
          </a:ln>
        </p:spPr>
        <p:txBody>
          <a:bodyPr anchorCtr="0" anchor="t" bIns="0" lIns="0" spcFirstLastPara="1" rIns="0" wrap="square" tIns="27300">
            <a:noAutofit/>
          </a:bodyPr>
          <a:lstStyle/>
          <a:p>
            <a:pPr indent="0" lvl="0" marL="286114" marR="0" rtl="0" algn="l">
              <a:lnSpc>
                <a:spcPct val="95825"/>
              </a:lnSpc>
              <a:spcBef>
                <a:spcPts val="0"/>
              </a:spcBef>
              <a:spcAft>
                <a:spcPts val="0"/>
              </a:spcAft>
              <a:buClr>
                <a:srgbClr val="000000"/>
              </a:buClr>
              <a:buSzPts val="950"/>
              <a:buFont typeface="Arial"/>
              <a:buNone/>
            </a:pPr>
            <a:r>
              <a:rPr b="1" i="0" lang="es-ES" sz="950" u="none" cap="none" strike="noStrike">
                <a:solidFill>
                  <a:srgbClr val="1F1F1F"/>
                </a:solidFill>
                <a:latin typeface="Times New Roman"/>
                <a:ea typeface="Times New Roman"/>
                <a:cs typeface="Times New Roman"/>
                <a:sym typeface="Times New Roman"/>
              </a:rPr>
              <a:t>servicio.</a:t>
            </a:r>
            <a:endParaRPr b="0" i="0" sz="950" u="none" cap="none" strike="noStrike">
              <a:solidFill>
                <a:schemeClr val="dk1"/>
              </a:solidFill>
              <a:latin typeface="Times New Roman"/>
              <a:ea typeface="Times New Roman"/>
              <a:cs typeface="Times New Roman"/>
              <a:sym typeface="Times New Roman"/>
            </a:endParaRPr>
          </a:p>
        </p:txBody>
      </p:sp>
      <p:sp>
        <p:nvSpPr>
          <p:cNvPr id="37" name="Google Shape;37;p2"/>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 name="Google Shape;38;p2"/>
          <p:cNvSpPr/>
          <p:nvPr/>
        </p:nvSpPr>
        <p:spPr>
          <a:xfrm>
            <a:off x="43687" y="10189"/>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 name="Google Shape;39;p2"/>
          <p:cNvSpPr/>
          <p:nvPr/>
        </p:nvSpPr>
        <p:spPr>
          <a:xfrm>
            <a:off x="108776" y="79325"/>
            <a:ext cx="3177775" cy="725425"/>
          </a:xfrm>
          <a:custGeom>
            <a:rect b="b" l="l" r="r" t="t"/>
            <a:pathLst>
              <a:path extrusionOk="0" h="725425" w="3177775">
                <a:moveTo>
                  <a:pt x="0" y="0"/>
                </a:moveTo>
                <a:lnTo>
                  <a:pt x="3177775" y="0"/>
                </a:lnTo>
                <a:lnTo>
                  <a:pt x="3177775"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 name="Google Shape;40;p2"/>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 name="Google Shape;41;p2"/>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 name="Google Shape;42;p2"/>
          <p:cNvSpPr/>
          <p:nvPr/>
        </p:nvSpPr>
        <p:spPr>
          <a:xfrm>
            <a:off x="5288102" y="4803200"/>
            <a:ext cx="3372423" cy="0"/>
          </a:xfrm>
          <a:custGeom>
            <a:rect b="b" l="l" r="r" t="t"/>
            <a:pathLst>
              <a:path extrusionOk="0" h="120000" w="3372423">
                <a:moveTo>
                  <a:pt x="0" y="0"/>
                </a:moveTo>
                <a:lnTo>
                  <a:pt x="3372423"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 name="Google Shape;43;p2"/>
          <p:cNvSpPr/>
          <p:nvPr/>
        </p:nvSpPr>
        <p:spPr>
          <a:xfrm>
            <a:off x="2810800" y="4803200"/>
            <a:ext cx="1045102" cy="0"/>
          </a:xfrm>
          <a:custGeom>
            <a:rect b="b" l="l" r="r" t="t"/>
            <a:pathLst>
              <a:path extrusionOk="0" h="120000" w="1045102">
                <a:moveTo>
                  <a:pt x="0" y="0"/>
                </a:moveTo>
                <a:lnTo>
                  <a:pt x="1045102"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 name="Google Shape;44;p2"/>
          <p:cNvSpPr/>
          <p:nvPr/>
        </p:nvSpPr>
        <p:spPr>
          <a:xfrm>
            <a:off x="5288102" y="4803200"/>
            <a:ext cx="3377185" cy="0"/>
          </a:xfrm>
          <a:custGeom>
            <a:rect b="b" l="l" r="r" t="t"/>
            <a:pathLst>
              <a:path extrusionOk="0" h="120000" w="3377185">
                <a:moveTo>
                  <a:pt x="0" y="0"/>
                </a:moveTo>
                <a:lnTo>
                  <a:pt x="337718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 name="Google Shape;45;p2"/>
          <p:cNvSpPr/>
          <p:nvPr/>
        </p:nvSpPr>
        <p:spPr>
          <a:xfrm>
            <a:off x="2810800" y="4803200"/>
            <a:ext cx="1045102" cy="0"/>
          </a:xfrm>
          <a:custGeom>
            <a:rect b="b" l="l" r="r" t="t"/>
            <a:pathLst>
              <a:path extrusionOk="0" h="120000" w="1045102">
                <a:moveTo>
                  <a:pt x="0" y="0"/>
                </a:moveTo>
                <a:lnTo>
                  <a:pt x="1045102"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 name="Google Shape;46;p2"/>
          <p:cNvSpPr/>
          <p:nvPr/>
        </p:nvSpPr>
        <p:spPr>
          <a:xfrm>
            <a:off x="613450" y="2410450"/>
            <a:ext cx="2197500" cy="623400"/>
          </a:xfrm>
          <a:custGeom>
            <a:rect b="b" l="l" r="r" t="t"/>
            <a:pathLst>
              <a:path extrusionOk="0" h="623400" w="2197500">
                <a:moveTo>
                  <a:pt x="0" y="0"/>
                </a:moveTo>
                <a:lnTo>
                  <a:pt x="2197500" y="0"/>
                </a:lnTo>
                <a:lnTo>
                  <a:pt x="2197500" y="623400"/>
                </a:lnTo>
                <a:lnTo>
                  <a:pt x="0" y="623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 name="Google Shape;47;p2"/>
          <p:cNvSpPr/>
          <p:nvPr/>
        </p:nvSpPr>
        <p:spPr>
          <a:xfrm>
            <a:off x="507400" y="4211800"/>
            <a:ext cx="2303400" cy="623400"/>
          </a:xfrm>
          <a:custGeom>
            <a:rect b="b" l="l" r="r" t="t"/>
            <a:pathLst>
              <a:path extrusionOk="0" h="623400" w="2303400">
                <a:moveTo>
                  <a:pt x="0" y="0"/>
                </a:moveTo>
                <a:lnTo>
                  <a:pt x="2303400" y="0"/>
                </a:lnTo>
                <a:lnTo>
                  <a:pt x="2303400" y="623400"/>
                </a:lnTo>
                <a:lnTo>
                  <a:pt x="0" y="623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 name="Google Shape;48;p2"/>
          <p:cNvSpPr/>
          <p:nvPr/>
        </p:nvSpPr>
        <p:spPr>
          <a:xfrm>
            <a:off x="6358402" y="2608563"/>
            <a:ext cx="2158500" cy="422287"/>
          </a:xfrm>
          <a:custGeom>
            <a:rect b="b" l="l" r="r" t="t"/>
            <a:pathLst>
              <a:path extrusionOk="0" h="422287" w="2158500">
                <a:moveTo>
                  <a:pt x="0" y="0"/>
                </a:moveTo>
                <a:lnTo>
                  <a:pt x="2158500" y="0"/>
                </a:lnTo>
                <a:lnTo>
                  <a:pt x="2158500" y="422287"/>
                </a:lnTo>
                <a:lnTo>
                  <a:pt x="0" y="422287"/>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 name="Google Shape;49;p2"/>
          <p:cNvSpPr/>
          <p:nvPr/>
        </p:nvSpPr>
        <p:spPr>
          <a:xfrm>
            <a:off x="3473350" y="2410450"/>
            <a:ext cx="2128500" cy="915900"/>
          </a:xfrm>
          <a:custGeom>
            <a:rect b="b" l="l" r="r" t="t"/>
            <a:pathLst>
              <a:path extrusionOk="0" h="915900" w="2128500">
                <a:moveTo>
                  <a:pt x="0" y="0"/>
                </a:moveTo>
                <a:lnTo>
                  <a:pt x="2128500" y="0"/>
                </a:lnTo>
                <a:lnTo>
                  <a:pt x="2128500" y="915900"/>
                </a:lnTo>
                <a:lnTo>
                  <a:pt x="0" y="915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 name="Google Shape;50;p2"/>
          <p:cNvSpPr/>
          <p:nvPr/>
        </p:nvSpPr>
        <p:spPr>
          <a:xfrm>
            <a:off x="3855902" y="4211800"/>
            <a:ext cx="1432200" cy="623400"/>
          </a:xfrm>
          <a:custGeom>
            <a:rect b="b" l="l" r="r" t="t"/>
            <a:pathLst>
              <a:path extrusionOk="0" h="623400" w="1432200">
                <a:moveTo>
                  <a:pt x="0" y="0"/>
                </a:moveTo>
                <a:lnTo>
                  <a:pt x="1432200" y="0"/>
                </a:lnTo>
                <a:lnTo>
                  <a:pt x="1432200" y="623400"/>
                </a:lnTo>
                <a:lnTo>
                  <a:pt x="0" y="623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 name="Google Shape;51;p2"/>
          <p:cNvSpPr/>
          <p:nvPr/>
        </p:nvSpPr>
        <p:spPr>
          <a:xfrm>
            <a:off x="3795800" y="1120175"/>
            <a:ext cx="1471550" cy="1354500"/>
          </a:xfrm>
          <a:custGeom>
            <a:rect b="b" l="l" r="r" t="t"/>
            <a:pathLst>
              <a:path extrusionOk="0" h="1354500" w="1471550">
                <a:moveTo>
                  <a:pt x="0" y="0"/>
                </a:moveTo>
                <a:lnTo>
                  <a:pt x="1471550" y="0"/>
                </a:lnTo>
                <a:lnTo>
                  <a:pt x="1471550" y="1354500"/>
                </a:lnTo>
                <a:lnTo>
                  <a:pt x="0" y="13545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 name="Google Shape;52;p2"/>
          <p:cNvSpPr/>
          <p:nvPr/>
        </p:nvSpPr>
        <p:spPr>
          <a:xfrm>
            <a:off x="968090" y="1040285"/>
            <a:ext cx="1362974" cy="1424726"/>
          </a:xfrm>
          <a:custGeom>
            <a:rect b="b" l="l" r="r" t="t"/>
            <a:pathLst>
              <a:path extrusionOk="0" h="1424726" w="1362974">
                <a:moveTo>
                  <a:pt x="0" y="0"/>
                </a:moveTo>
                <a:lnTo>
                  <a:pt x="1362974" y="0"/>
                </a:lnTo>
                <a:lnTo>
                  <a:pt x="1362974" y="1424726"/>
                </a:lnTo>
                <a:lnTo>
                  <a:pt x="0" y="1424726"/>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 name="Google Shape;53;p2"/>
          <p:cNvSpPr/>
          <p:nvPr/>
        </p:nvSpPr>
        <p:spPr>
          <a:xfrm>
            <a:off x="6387991" y="974614"/>
            <a:ext cx="2303401" cy="1565600"/>
          </a:xfrm>
          <a:custGeom>
            <a:rect b="b" l="l" r="r" t="t"/>
            <a:pathLst>
              <a:path extrusionOk="0" h="1565600" w="2303401">
                <a:moveTo>
                  <a:pt x="0" y="0"/>
                </a:moveTo>
                <a:lnTo>
                  <a:pt x="2303401" y="0"/>
                </a:lnTo>
                <a:lnTo>
                  <a:pt x="2303401" y="1565600"/>
                </a:lnTo>
                <a:lnTo>
                  <a:pt x="0" y="15656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 name="Google Shape;54;p2"/>
          <p:cNvSpPr/>
          <p:nvPr/>
        </p:nvSpPr>
        <p:spPr>
          <a:xfrm>
            <a:off x="568900" y="2849036"/>
            <a:ext cx="2091300" cy="1473264"/>
          </a:xfrm>
          <a:custGeom>
            <a:rect b="b" l="l" r="r" t="t"/>
            <a:pathLst>
              <a:path extrusionOk="0" h="1473264" w="2091300">
                <a:moveTo>
                  <a:pt x="0" y="0"/>
                </a:moveTo>
                <a:lnTo>
                  <a:pt x="2091300" y="0"/>
                </a:lnTo>
                <a:lnTo>
                  <a:pt x="2091300" y="1473264"/>
                </a:lnTo>
                <a:lnTo>
                  <a:pt x="0" y="1473264"/>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 name="Google Shape;55;p2"/>
          <p:cNvSpPr/>
          <p:nvPr/>
        </p:nvSpPr>
        <p:spPr>
          <a:xfrm>
            <a:off x="4002850" y="3051250"/>
            <a:ext cx="1225675" cy="1225700"/>
          </a:xfrm>
          <a:custGeom>
            <a:rect b="b" l="l" r="r" t="t"/>
            <a:pathLst>
              <a:path extrusionOk="0" h="1225700" w="1225675">
                <a:moveTo>
                  <a:pt x="0" y="0"/>
                </a:moveTo>
                <a:lnTo>
                  <a:pt x="1225675" y="0"/>
                </a:lnTo>
                <a:lnTo>
                  <a:pt x="1225675" y="1225700"/>
                </a:lnTo>
                <a:lnTo>
                  <a:pt x="0" y="12257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 name="Google Shape;56;p2"/>
          <p:cNvSpPr/>
          <p:nvPr/>
        </p:nvSpPr>
        <p:spPr>
          <a:xfrm>
            <a:off x="6701875" y="3179953"/>
            <a:ext cx="1471550" cy="1089660"/>
          </a:xfrm>
          <a:custGeom>
            <a:rect b="b" l="l" r="r" t="t"/>
            <a:pathLst>
              <a:path extrusionOk="0" h="1089660" w="1471550">
                <a:moveTo>
                  <a:pt x="0" y="0"/>
                </a:moveTo>
                <a:lnTo>
                  <a:pt x="1471550" y="0"/>
                </a:lnTo>
                <a:lnTo>
                  <a:pt x="1471550" y="1089660"/>
                </a:lnTo>
                <a:lnTo>
                  <a:pt x="0" y="108966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 name="Google Shape;57;p2"/>
          <p:cNvSpPr/>
          <p:nvPr/>
        </p:nvSpPr>
        <p:spPr>
          <a:xfrm>
            <a:off x="8683025" y="4635500"/>
            <a:ext cx="335700" cy="335400"/>
          </a:xfrm>
          <a:custGeom>
            <a:rect b="b" l="l" r="r" t="t"/>
            <a:pathLst>
              <a:path extrusionOk="0" h="335400" w="335700">
                <a:moveTo>
                  <a:pt x="0" y="0"/>
                </a:moveTo>
                <a:lnTo>
                  <a:pt x="335700" y="0"/>
                </a:lnTo>
                <a:lnTo>
                  <a:pt x="3357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 name="Google Shape;58;p2"/>
          <p:cNvSpPr txBox="1"/>
          <p:nvPr/>
        </p:nvSpPr>
        <p:spPr>
          <a:xfrm>
            <a:off x="226700" y="133350"/>
            <a:ext cx="51835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TABLA DE CONTENIDO</a:t>
            </a:r>
            <a:endParaRPr b="1" i="0" sz="2400" u="none" cap="none" strike="noStrike">
              <a:solidFill>
                <a:schemeClr val="accent5"/>
              </a:solidFill>
              <a:latin typeface="Calibri"/>
              <a:ea typeface="Calibri"/>
              <a:cs typeface="Calibri"/>
              <a:sym typeface="Calibri"/>
            </a:endParaRPr>
          </a:p>
        </p:txBody>
      </p:sp>
      <p:sp>
        <p:nvSpPr>
          <p:cNvPr id="59" name="Google Shape;59;p2"/>
          <p:cNvSpPr/>
          <p:nvPr/>
        </p:nvSpPr>
        <p:spPr>
          <a:xfrm>
            <a:off x="3220023" y="1561881"/>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9</a:t>
            </a:r>
            <a:endParaRPr b="1" i="0" sz="1800" u="none" cap="none" strike="noStrike">
              <a:solidFill>
                <a:schemeClr val="lt1"/>
              </a:solidFill>
              <a:latin typeface="Calibri"/>
              <a:ea typeface="Calibri"/>
              <a:cs typeface="Calibri"/>
              <a:sym typeface="Calibri"/>
            </a:endParaRPr>
          </a:p>
        </p:txBody>
      </p:sp>
      <p:sp>
        <p:nvSpPr>
          <p:cNvPr id="60" name="Google Shape;60;p2"/>
          <p:cNvSpPr/>
          <p:nvPr/>
        </p:nvSpPr>
        <p:spPr>
          <a:xfrm>
            <a:off x="3220023" y="1963910"/>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 name="Google Shape;61;p2"/>
          <p:cNvSpPr/>
          <p:nvPr/>
        </p:nvSpPr>
        <p:spPr>
          <a:xfrm>
            <a:off x="3215898" y="2341304"/>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 name="Google Shape;62;p2"/>
          <p:cNvSpPr/>
          <p:nvPr/>
        </p:nvSpPr>
        <p:spPr>
          <a:xfrm>
            <a:off x="262157" y="820543"/>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1</a:t>
            </a:r>
            <a:endParaRPr b="1" i="0" sz="1800" u="none" cap="none" strike="noStrike">
              <a:solidFill>
                <a:schemeClr val="lt1"/>
              </a:solidFill>
              <a:latin typeface="Calibri"/>
              <a:ea typeface="Calibri"/>
              <a:cs typeface="Calibri"/>
              <a:sym typeface="Calibri"/>
            </a:endParaRPr>
          </a:p>
        </p:txBody>
      </p:sp>
      <p:sp>
        <p:nvSpPr>
          <p:cNvPr id="63" name="Google Shape;63;p2"/>
          <p:cNvSpPr/>
          <p:nvPr/>
        </p:nvSpPr>
        <p:spPr>
          <a:xfrm>
            <a:off x="262157" y="1187049"/>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2</a:t>
            </a:r>
            <a:endParaRPr b="1" i="0" sz="1800" u="none" cap="none" strike="noStrike">
              <a:solidFill>
                <a:schemeClr val="lt1"/>
              </a:solidFill>
              <a:latin typeface="Calibri"/>
              <a:ea typeface="Calibri"/>
              <a:cs typeface="Calibri"/>
              <a:sym typeface="Calibri"/>
            </a:endParaRPr>
          </a:p>
        </p:txBody>
      </p:sp>
      <p:sp>
        <p:nvSpPr>
          <p:cNvPr id="64" name="Google Shape;64;p2"/>
          <p:cNvSpPr/>
          <p:nvPr/>
        </p:nvSpPr>
        <p:spPr>
          <a:xfrm>
            <a:off x="267230" y="1555535"/>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3</a:t>
            </a:r>
            <a:endParaRPr b="1" i="0" sz="1800" u="none" cap="none" strike="noStrike">
              <a:solidFill>
                <a:schemeClr val="lt1"/>
              </a:solidFill>
              <a:latin typeface="Calibri"/>
              <a:ea typeface="Calibri"/>
              <a:cs typeface="Calibri"/>
              <a:sym typeface="Calibri"/>
            </a:endParaRPr>
          </a:p>
        </p:txBody>
      </p:sp>
      <p:sp>
        <p:nvSpPr>
          <p:cNvPr id="65" name="Google Shape;65;p2"/>
          <p:cNvSpPr/>
          <p:nvPr/>
        </p:nvSpPr>
        <p:spPr>
          <a:xfrm>
            <a:off x="267293" y="1963910"/>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4</a:t>
            </a:r>
            <a:endParaRPr b="1" i="0" sz="1800" u="none" cap="none" strike="noStrike">
              <a:solidFill>
                <a:schemeClr val="lt1"/>
              </a:solidFill>
              <a:latin typeface="Calibri"/>
              <a:ea typeface="Calibri"/>
              <a:cs typeface="Calibri"/>
              <a:sym typeface="Calibri"/>
            </a:endParaRPr>
          </a:p>
        </p:txBody>
      </p:sp>
      <p:sp>
        <p:nvSpPr>
          <p:cNvPr id="66" name="Google Shape;66;p2"/>
          <p:cNvSpPr/>
          <p:nvPr/>
        </p:nvSpPr>
        <p:spPr>
          <a:xfrm>
            <a:off x="3225685" y="2740241"/>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 name="Google Shape;67;p2"/>
          <p:cNvSpPr/>
          <p:nvPr/>
        </p:nvSpPr>
        <p:spPr>
          <a:xfrm>
            <a:off x="3220180" y="1187049"/>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8</a:t>
            </a:r>
            <a:endParaRPr b="1" i="0" sz="1800" u="none" cap="none" strike="noStrike">
              <a:solidFill>
                <a:schemeClr val="lt1"/>
              </a:solidFill>
              <a:latin typeface="Calibri"/>
              <a:ea typeface="Calibri"/>
              <a:cs typeface="Calibri"/>
              <a:sym typeface="Calibri"/>
            </a:endParaRPr>
          </a:p>
        </p:txBody>
      </p:sp>
      <p:sp>
        <p:nvSpPr>
          <p:cNvPr id="68" name="Google Shape;68;p2"/>
          <p:cNvSpPr/>
          <p:nvPr/>
        </p:nvSpPr>
        <p:spPr>
          <a:xfrm>
            <a:off x="5803157" y="1566402"/>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 name="Google Shape;69;p2"/>
          <p:cNvSpPr/>
          <p:nvPr/>
        </p:nvSpPr>
        <p:spPr>
          <a:xfrm>
            <a:off x="5803157" y="1184640"/>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 name="Google Shape;70;p2"/>
          <p:cNvSpPr/>
          <p:nvPr/>
        </p:nvSpPr>
        <p:spPr>
          <a:xfrm>
            <a:off x="5808199" y="1959322"/>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 name="Google Shape;71;p2"/>
          <p:cNvSpPr/>
          <p:nvPr/>
        </p:nvSpPr>
        <p:spPr>
          <a:xfrm>
            <a:off x="5803157" y="820222"/>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 name="Google Shape;72;p2"/>
          <p:cNvSpPr/>
          <p:nvPr/>
        </p:nvSpPr>
        <p:spPr>
          <a:xfrm>
            <a:off x="5797355" y="2338610"/>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 name="Google Shape;73;p2"/>
          <p:cNvSpPr/>
          <p:nvPr/>
        </p:nvSpPr>
        <p:spPr>
          <a:xfrm>
            <a:off x="5808199" y="2748520"/>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 name="Google Shape;74;p2"/>
          <p:cNvSpPr/>
          <p:nvPr/>
        </p:nvSpPr>
        <p:spPr>
          <a:xfrm>
            <a:off x="3220023" y="826891"/>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7</a:t>
            </a:r>
            <a:endParaRPr b="1" i="0" sz="1800" u="none" cap="none" strike="noStrike">
              <a:solidFill>
                <a:schemeClr val="lt1"/>
              </a:solidFill>
              <a:latin typeface="Calibri"/>
              <a:ea typeface="Calibri"/>
              <a:cs typeface="Calibri"/>
              <a:sym typeface="Calibri"/>
            </a:endParaRPr>
          </a:p>
        </p:txBody>
      </p:sp>
      <p:sp>
        <p:nvSpPr>
          <p:cNvPr id="75" name="Google Shape;75;p2"/>
          <p:cNvSpPr/>
          <p:nvPr/>
        </p:nvSpPr>
        <p:spPr>
          <a:xfrm>
            <a:off x="261724" y="2341304"/>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5</a:t>
            </a:r>
            <a:endParaRPr b="1" i="0" sz="1800" u="none" cap="none" strike="noStrike">
              <a:solidFill>
                <a:schemeClr val="lt1"/>
              </a:solidFill>
              <a:latin typeface="Calibri"/>
              <a:ea typeface="Calibri"/>
              <a:cs typeface="Calibri"/>
              <a:sym typeface="Calibri"/>
            </a:endParaRPr>
          </a:p>
        </p:txBody>
      </p:sp>
      <p:sp>
        <p:nvSpPr>
          <p:cNvPr id="76" name="Google Shape;76;p2"/>
          <p:cNvSpPr/>
          <p:nvPr/>
        </p:nvSpPr>
        <p:spPr>
          <a:xfrm>
            <a:off x="261724" y="2742850"/>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6</a:t>
            </a:r>
            <a:endParaRPr b="1" i="0" sz="1800" u="none" cap="none" strike="noStrike">
              <a:solidFill>
                <a:schemeClr val="lt1"/>
              </a:solidFill>
              <a:latin typeface="Calibri"/>
              <a:ea typeface="Calibri"/>
              <a:cs typeface="Calibri"/>
              <a:sym typeface="Calibri"/>
            </a:endParaRPr>
          </a:p>
        </p:txBody>
      </p:sp>
      <p:sp>
        <p:nvSpPr>
          <p:cNvPr id="77" name="Google Shape;77;p2"/>
          <p:cNvSpPr txBox="1"/>
          <p:nvPr/>
        </p:nvSpPr>
        <p:spPr>
          <a:xfrm>
            <a:off x="597890" y="750843"/>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Contexto</a:t>
            </a:r>
            <a:endParaRPr b="1" i="0" sz="1800" u="none" cap="none" strike="noStrike">
              <a:solidFill>
                <a:schemeClr val="dk1"/>
              </a:solidFill>
              <a:latin typeface="Calibri"/>
              <a:ea typeface="Calibri"/>
              <a:cs typeface="Calibri"/>
              <a:sym typeface="Calibri"/>
            </a:endParaRPr>
          </a:p>
        </p:txBody>
      </p:sp>
      <p:sp>
        <p:nvSpPr>
          <p:cNvPr id="78" name="Google Shape;78;p2"/>
          <p:cNvSpPr txBox="1"/>
          <p:nvPr/>
        </p:nvSpPr>
        <p:spPr>
          <a:xfrm>
            <a:off x="577795" y="2302324"/>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Solución</a:t>
            </a:r>
            <a:endParaRPr b="1" i="0" sz="1800" u="none" cap="none" strike="noStrike">
              <a:solidFill>
                <a:schemeClr val="dk1"/>
              </a:solidFill>
              <a:latin typeface="Calibri"/>
              <a:ea typeface="Calibri"/>
              <a:cs typeface="Calibri"/>
              <a:sym typeface="Calibri"/>
            </a:endParaRPr>
          </a:p>
        </p:txBody>
      </p:sp>
      <p:sp>
        <p:nvSpPr>
          <p:cNvPr id="79" name="Google Shape;79;p2"/>
          <p:cNvSpPr txBox="1"/>
          <p:nvPr/>
        </p:nvSpPr>
        <p:spPr>
          <a:xfrm>
            <a:off x="572492" y="1137032"/>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Problema</a:t>
            </a:r>
            <a:endParaRPr b="1" i="0" sz="1800" u="none" cap="none" strike="noStrike">
              <a:solidFill>
                <a:schemeClr val="dk1"/>
              </a:solidFill>
              <a:latin typeface="Calibri"/>
              <a:ea typeface="Calibri"/>
              <a:cs typeface="Calibri"/>
              <a:sym typeface="Calibri"/>
            </a:endParaRPr>
          </a:p>
        </p:txBody>
      </p:sp>
      <p:sp>
        <p:nvSpPr>
          <p:cNvPr id="80" name="Google Shape;80;p2"/>
          <p:cNvSpPr txBox="1"/>
          <p:nvPr/>
        </p:nvSpPr>
        <p:spPr>
          <a:xfrm>
            <a:off x="563166" y="1510102"/>
            <a:ext cx="229806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Diagrama de proceso</a:t>
            </a:r>
            <a:endParaRPr b="1" i="0" sz="1800" u="none" cap="none" strike="noStrike">
              <a:solidFill>
                <a:schemeClr val="dk1"/>
              </a:solidFill>
              <a:latin typeface="Calibri"/>
              <a:ea typeface="Calibri"/>
              <a:cs typeface="Calibri"/>
              <a:sym typeface="Calibri"/>
            </a:endParaRPr>
          </a:p>
        </p:txBody>
      </p:sp>
      <p:sp>
        <p:nvSpPr>
          <p:cNvPr id="81" name="Google Shape;81;p2"/>
          <p:cNvSpPr txBox="1"/>
          <p:nvPr/>
        </p:nvSpPr>
        <p:spPr>
          <a:xfrm>
            <a:off x="568641" y="1915288"/>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Necesidad</a:t>
            </a:r>
            <a:endParaRPr b="1" i="0" sz="1800" u="none" cap="none" strike="noStrike">
              <a:solidFill>
                <a:schemeClr val="dk1"/>
              </a:solidFill>
              <a:latin typeface="Calibri"/>
              <a:ea typeface="Calibri"/>
              <a:cs typeface="Calibri"/>
              <a:sym typeface="Calibri"/>
            </a:endParaRPr>
          </a:p>
        </p:txBody>
      </p:sp>
      <p:sp>
        <p:nvSpPr>
          <p:cNvPr id="82" name="Google Shape;82;p2"/>
          <p:cNvSpPr txBox="1"/>
          <p:nvPr/>
        </p:nvSpPr>
        <p:spPr>
          <a:xfrm>
            <a:off x="3498576" y="2324810"/>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Evidencias</a:t>
            </a:r>
            <a:endParaRPr b="1" i="0" sz="1800" u="none" cap="none" strike="noStrike">
              <a:solidFill>
                <a:schemeClr val="dk1"/>
              </a:solidFill>
              <a:latin typeface="Calibri"/>
              <a:ea typeface="Calibri"/>
              <a:cs typeface="Calibri"/>
              <a:sym typeface="Calibri"/>
            </a:endParaRPr>
          </a:p>
        </p:txBody>
      </p:sp>
      <p:sp>
        <p:nvSpPr>
          <p:cNvPr id="83" name="Google Shape;83;p2"/>
          <p:cNvSpPr txBox="1"/>
          <p:nvPr/>
        </p:nvSpPr>
        <p:spPr>
          <a:xfrm>
            <a:off x="3510308" y="1931306"/>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Roles</a:t>
            </a:r>
            <a:endParaRPr b="1" i="0" sz="1800" u="none" cap="none" strike="noStrike">
              <a:solidFill>
                <a:schemeClr val="dk1"/>
              </a:solidFill>
              <a:latin typeface="Calibri"/>
              <a:ea typeface="Calibri"/>
              <a:cs typeface="Calibri"/>
              <a:sym typeface="Calibri"/>
            </a:endParaRPr>
          </a:p>
        </p:txBody>
      </p:sp>
      <p:sp>
        <p:nvSpPr>
          <p:cNvPr id="84" name="Google Shape;84;p2"/>
          <p:cNvSpPr txBox="1"/>
          <p:nvPr/>
        </p:nvSpPr>
        <p:spPr>
          <a:xfrm>
            <a:off x="3503780" y="1525736"/>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Metodología</a:t>
            </a:r>
            <a:endParaRPr b="1" i="0" sz="1800" u="none" cap="none" strike="noStrike">
              <a:solidFill>
                <a:schemeClr val="dk1"/>
              </a:solidFill>
              <a:latin typeface="Calibri"/>
              <a:ea typeface="Calibri"/>
              <a:cs typeface="Calibri"/>
              <a:sym typeface="Calibri"/>
            </a:endParaRPr>
          </a:p>
        </p:txBody>
      </p:sp>
      <p:sp>
        <p:nvSpPr>
          <p:cNvPr id="85" name="Google Shape;85;p2"/>
          <p:cNvSpPr txBox="1"/>
          <p:nvPr/>
        </p:nvSpPr>
        <p:spPr>
          <a:xfrm>
            <a:off x="3501415" y="1139987"/>
            <a:ext cx="20723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Modelo de datos</a:t>
            </a:r>
            <a:endParaRPr b="1" i="0" sz="1800" u="none" cap="none" strike="noStrike">
              <a:solidFill>
                <a:schemeClr val="dk1"/>
              </a:solidFill>
              <a:latin typeface="Calibri"/>
              <a:ea typeface="Calibri"/>
              <a:cs typeface="Calibri"/>
              <a:sym typeface="Calibri"/>
            </a:endParaRPr>
          </a:p>
        </p:txBody>
      </p:sp>
      <p:sp>
        <p:nvSpPr>
          <p:cNvPr id="86" name="Google Shape;86;p2"/>
          <p:cNvSpPr txBox="1"/>
          <p:nvPr/>
        </p:nvSpPr>
        <p:spPr>
          <a:xfrm>
            <a:off x="3503780" y="767700"/>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Herramientas</a:t>
            </a:r>
            <a:endParaRPr b="1" i="0" sz="1800" u="none" cap="none" strike="noStrike">
              <a:solidFill>
                <a:schemeClr val="dk1"/>
              </a:solidFill>
              <a:latin typeface="Calibri"/>
              <a:ea typeface="Calibri"/>
              <a:cs typeface="Calibri"/>
              <a:sym typeface="Calibri"/>
            </a:endParaRPr>
          </a:p>
        </p:txBody>
      </p:sp>
      <p:sp>
        <p:nvSpPr>
          <p:cNvPr id="87" name="Google Shape;87;p2"/>
          <p:cNvSpPr txBox="1"/>
          <p:nvPr/>
        </p:nvSpPr>
        <p:spPr>
          <a:xfrm>
            <a:off x="6091013" y="2704241"/>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Conclusiones</a:t>
            </a:r>
            <a:endParaRPr b="1" i="0" sz="1800" u="none" cap="none" strike="noStrike">
              <a:solidFill>
                <a:schemeClr val="dk1"/>
              </a:solidFill>
              <a:latin typeface="Calibri"/>
              <a:ea typeface="Calibri"/>
              <a:cs typeface="Calibri"/>
              <a:sym typeface="Calibri"/>
            </a:endParaRPr>
          </a:p>
        </p:txBody>
      </p:sp>
      <p:sp>
        <p:nvSpPr>
          <p:cNvPr id="88" name="Google Shape;88;p2"/>
          <p:cNvSpPr txBox="1"/>
          <p:nvPr/>
        </p:nvSpPr>
        <p:spPr>
          <a:xfrm>
            <a:off x="6108594" y="1882380"/>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Sprints</a:t>
            </a:r>
            <a:endParaRPr b="1" i="0" sz="1800" u="none" cap="none" strike="noStrike">
              <a:solidFill>
                <a:schemeClr val="dk1"/>
              </a:solidFill>
              <a:latin typeface="Calibri"/>
              <a:ea typeface="Calibri"/>
              <a:cs typeface="Calibri"/>
              <a:sym typeface="Calibri"/>
            </a:endParaRPr>
          </a:p>
        </p:txBody>
      </p:sp>
      <p:sp>
        <p:nvSpPr>
          <p:cNvPr id="89" name="Google Shape;89;p2"/>
          <p:cNvSpPr txBox="1"/>
          <p:nvPr/>
        </p:nvSpPr>
        <p:spPr>
          <a:xfrm>
            <a:off x="6058421" y="1503460"/>
            <a:ext cx="21307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Tablero Kanban</a:t>
            </a:r>
            <a:endParaRPr b="1" i="0" sz="1800" u="none" cap="none" strike="noStrike">
              <a:solidFill>
                <a:schemeClr val="dk1"/>
              </a:solidFill>
              <a:latin typeface="Calibri"/>
              <a:ea typeface="Calibri"/>
              <a:cs typeface="Calibri"/>
              <a:sym typeface="Calibri"/>
            </a:endParaRPr>
          </a:p>
        </p:txBody>
      </p:sp>
      <p:sp>
        <p:nvSpPr>
          <p:cNvPr id="90" name="Google Shape;90;p2"/>
          <p:cNvSpPr txBox="1"/>
          <p:nvPr/>
        </p:nvSpPr>
        <p:spPr>
          <a:xfrm>
            <a:off x="6059784" y="1156494"/>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Carta Gantt</a:t>
            </a:r>
            <a:endParaRPr b="1" i="0" sz="1800" u="none" cap="none" strike="noStrike">
              <a:solidFill>
                <a:schemeClr val="dk1"/>
              </a:solidFill>
              <a:latin typeface="Calibri"/>
              <a:ea typeface="Calibri"/>
              <a:cs typeface="Calibri"/>
              <a:sym typeface="Calibri"/>
            </a:endParaRPr>
          </a:p>
        </p:txBody>
      </p:sp>
      <p:sp>
        <p:nvSpPr>
          <p:cNvPr id="91" name="Google Shape;91;p2"/>
          <p:cNvSpPr txBox="1"/>
          <p:nvPr/>
        </p:nvSpPr>
        <p:spPr>
          <a:xfrm>
            <a:off x="6059784" y="782879"/>
            <a:ext cx="185497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Product backlog</a:t>
            </a:r>
            <a:endParaRPr b="1" i="0" sz="1800" u="none" cap="none" strike="noStrike">
              <a:solidFill>
                <a:schemeClr val="dk1"/>
              </a:solidFill>
              <a:latin typeface="Calibri"/>
              <a:ea typeface="Calibri"/>
              <a:cs typeface="Calibri"/>
              <a:sym typeface="Calibri"/>
            </a:endParaRPr>
          </a:p>
        </p:txBody>
      </p:sp>
      <p:sp>
        <p:nvSpPr>
          <p:cNvPr id="92" name="Google Shape;92;p2"/>
          <p:cNvSpPr txBox="1"/>
          <p:nvPr/>
        </p:nvSpPr>
        <p:spPr>
          <a:xfrm>
            <a:off x="568640" y="2722553"/>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Arquitectura</a:t>
            </a:r>
            <a:endParaRPr b="1" i="0" sz="1800" u="none" cap="none" strike="noStrike">
              <a:solidFill>
                <a:schemeClr val="dk1"/>
              </a:solidFill>
              <a:latin typeface="Calibri"/>
              <a:ea typeface="Calibri"/>
              <a:cs typeface="Calibri"/>
              <a:sym typeface="Calibri"/>
            </a:endParaRPr>
          </a:p>
        </p:txBody>
      </p:sp>
      <p:sp>
        <p:nvSpPr>
          <p:cNvPr id="93" name="Google Shape;93;p2"/>
          <p:cNvSpPr txBox="1"/>
          <p:nvPr/>
        </p:nvSpPr>
        <p:spPr>
          <a:xfrm>
            <a:off x="6096199" y="2280345"/>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Demostración</a:t>
            </a:r>
            <a:endParaRPr b="1" i="0" sz="1800" u="none" cap="none" strike="noStrike">
              <a:solidFill>
                <a:schemeClr val="dk1"/>
              </a:solidFill>
              <a:latin typeface="Calibri"/>
              <a:ea typeface="Calibri"/>
              <a:cs typeface="Calibri"/>
              <a:sym typeface="Calibri"/>
            </a:endParaRPr>
          </a:p>
        </p:txBody>
      </p:sp>
      <p:sp>
        <p:nvSpPr>
          <p:cNvPr id="94" name="Google Shape;94;p2"/>
          <p:cNvSpPr txBox="1"/>
          <p:nvPr/>
        </p:nvSpPr>
        <p:spPr>
          <a:xfrm>
            <a:off x="3503780" y="2715649"/>
            <a:ext cx="16032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Épicas</a:t>
            </a:r>
            <a:endParaRPr b="1" i="0" sz="1800" u="none" cap="none" strike="noStrike">
              <a:solidFill>
                <a:schemeClr val="dk1"/>
              </a:solidFill>
              <a:latin typeface="Calibri"/>
              <a:ea typeface="Calibri"/>
              <a:cs typeface="Calibri"/>
              <a:sym typeface="Calibri"/>
            </a:endParaRPr>
          </a:p>
        </p:txBody>
      </p:sp>
      <p:sp>
        <p:nvSpPr>
          <p:cNvPr id="95" name="Google Shape;95;p2"/>
          <p:cNvSpPr txBox="1"/>
          <p:nvPr/>
        </p:nvSpPr>
        <p:spPr>
          <a:xfrm>
            <a:off x="3168603" y="2699575"/>
            <a:ext cx="4178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12</a:t>
            </a:r>
            <a:endParaRPr b="1" i="0" sz="1800" u="none" cap="none" strike="noStrike">
              <a:solidFill>
                <a:schemeClr val="lt1"/>
              </a:solidFill>
              <a:latin typeface="Calibri"/>
              <a:ea typeface="Calibri"/>
              <a:cs typeface="Calibri"/>
              <a:sym typeface="Calibri"/>
            </a:endParaRPr>
          </a:p>
        </p:txBody>
      </p:sp>
      <p:sp>
        <p:nvSpPr>
          <p:cNvPr id="96" name="Google Shape;96;p2"/>
          <p:cNvSpPr txBox="1"/>
          <p:nvPr/>
        </p:nvSpPr>
        <p:spPr>
          <a:xfrm>
            <a:off x="3147094" y="1933982"/>
            <a:ext cx="4178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10</a:t>
            </a:r>
            <a:endParaRPr b="1" i="0" sz="1800" u="none" cap="none" strike="noStrike">
              <a:solidFill>
                <a:schemeClr val="lt1"/>
              </a:solidFill>
              <a:latin typeface="Calibri"/>
              <a:ea typeface="Calibri"/>
              <a:cs typeface="Calibri"/>
              <a:sym typeface="Calibri"/>
            </a:endParaRPr>
          </a:p>
        </p:txBody>
      </p:sp>
      <p:sp>
        <p:nvSpPr>
          <p:cNvPr id="97" name="Google Shape;97;p2"/>
          <p:cNvSpPr txBox="1"/>
          <p:nvPr/>
        </p:nvSpPr>
        <p:spPr>
          <a:xfrm>
            <a:off x="3159115" y="2308810"/>
            <a:ext cx="4178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11</a:t>
            </a:r>
            <a:endParaRPr b="1" i="0" sz="1800" u="none" cap="none" strike="noStrike">
              <a:solidFill>
                <a:schemeClr val="lt1"/>
              </a:solidFill>
              <a:latin typeface="Calibri"/>
              <a:ea typeface="Calibri"/>
              <a:cs typeface="Calibri"/>
              <a:sym typeface="Calibri"/>
            </a:endParaRPr>
          </a:p>
        </p:txBody>
      </p:sp>
      <p:sp>
        <p:nvSpPr>
          <p:cNvPr id="98" name="Google Shape;98;p2"/>
          <p:cNvSpPr txBox="1"/>
          <p:nvPr/>
        </p:nvSpPr>
        <p:spPr>
          <a:xfrm>
            <a:off x="5743285" y="782555"/>
            <a:ext cx="4178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13</a:t>
            </a:r>
            <a:endParaRPr b="1" i="0" sz="1800" u="none" cap="none" strike="noStrike">
              <a:solidFill>
                <a:schemeClr val="lt1"/>
              </a:solidFill>
              <a:latin typeface="Calibri"/>
              <a:ea typeface="Calibri"/>
              <a:cs typeface="Calibri"/>
              <a:sym typeface="Calibri"/>
            </a:endParaRPr>
          </a:p>
        </p:txBody>
      </p:sp>
      <p:sp>
        <p:nvSpPr>
          <p:cNvPr id="99" name="Google Shape;99;p2"/>
          <p:cNvSpPr txBox="1"/>
          <p:nvPr/>
        </p:nvSpPr>
        <p:spPr>
          <a:xfrm>
            <a:off x="5732925" y="1134308"/>
            <a:ext cx="4178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14</a:t>
            </a:r>
            <a:endParaRPr b="1" i="0" sz="1800" u="none" cap="none" strike="noStrike">
              <a:solidFill>
                <a:schemeClr val="lt1"/>
              </a:solidFill>
              <a:latin typeface="Calibri"/>
              <a:ea typeface="Calibri"/>
              <a:cs typeface="Calibri"/>
              <a:sym typeface="Calibri"/>
            </a:endParaRPr>
          </a:p>
        </p:txBody>
      </p:sp>
      <p:sp>
        <p:nvSpPr>
          <p:cNvPr id="100" name="Google Shape;100;p2"/>
          <p:cNvSpPr txBox="1"/>
          <p:nvPr/>
        </p:nvSpPr>
        <p:spPr>
          <a:xfrm>
            <a:off x="5734616" y="1541861"/>
            <a:ext cx="4178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15</a:t>
            </a:r>
            <a:endParaRPr b="1" i="0" sz="1800" u="none" cap="none" strike="noStrike">
              <a:solidFill>
                <a:schemeClr val="lt1"/>
              </a:solidFill>
              <a:latin typeface="Calibri"/>
              <a:ea typeface="Calibri"/>
              <a:cs typeface="Calibri"/>
              <a:sym typeface="Calibri"/>
            </a:endParaRPr>
          </a:p>
        </p:txBody>
      </p:sp>
      <p:sp>
        <p:nvSpPr>
          <p:cNvPr id="101" name="Google Shape;101;p2"/>
          <p:cNvSpPr txBox="1"/>
          <p:nvPr/>
        </p:nvSpPr>
        <p:spPr>
          <a:xfrm>
            <a:off x="5732186" y="2293199"/>
            <a:ext cx="4178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17</a:t>
            </a:r>
            <a:endParaRPr b="1" i="0" sz="1800" u="none" cap="none" strike="noStrike">
              <a:solidFill>
                <a:schemeClr val="lt1"/>
              </a:solidFill>
              <a:latin typeface="Calibri"/>
              <a:ea typeface="Calibri"/>
              <a:cs typeface="Calibri"/>
              <a:sym typeface="Calibri"/>
            </a:endParaRPr>
          </a:p>
        </p:txBody>
      </p:sp>
      <p:sp>
        <p:nvSpPr>
          <p:cNvPr id="102" name="Google Shape;102;p2"/>
          <p:cNvSpPr txBox="1"/>
          <p:nvPr/>
        </p:nvSpPr>
        <p:spPr>
          <a:xfrm>
            <a:off x="5743285" y="1913680"/>
            <a:ext cx="4178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16</a:t>
            </a:r>
            <a:endParaRPr b="1" i="0" sz="1800" u="none" cap="none" strike="noStrike">
              <a:solidFill>
                <a:schemeClr val="lt1"/>
              </a:solidFill>
              <a:latin typeface="Calibri"/>
              <a:ea typeface="Calibri"/>
              <a:cs typeface="Calibri"/>
              <a:sym typeface="Calibri"/>
            </a:endParaRPr>
          </a:p>
        </p:txBody>
      </p:sp>
      <p:sp>
        <p:nvSpPr>
          <p:cNvPr id="103" name="Google Shape;103;p2"/>
          <p:cNvSpPr txBox="1"/>
          <p:nvPr/>
        </p:nvSpPr>
        <p:spPr>
          <a:xfrm>
            <a:off x="5745246" y="2702103"/>
            <a:ext cx="4178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18</a:t>
            </a:r>
            <a:endParaRPr b="1" i="0" sz="1800" u="none" cap="none" strike="noStrik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txBox="1"/>
          <p:nvPr/>
        </p:nvSpPr>
        <p:spPr>
          <a:xfrm>
            <a:off x="911331" y="1071980"/>
            <a:ext cx="1429255" cy="1437795"/>
          </a:xfrm>
          <a:prstGeom prst="rect">
            <a:avLst/>
          </a:prstGeom>
          <a:noFill/>
          <a:ln>
            <a:noFill/>
          </a:ln>
        </p:spPr>
        <p:txBody>
          <a:bodyPr anchorCtr="0" anchor="t" bIns="0" lIns="0" spcFirstLastPara="1" rIns="0" wrap="square" tIns="5900">
            <a:noAutofit/>
          </a:bodyPr>
          <a:lstStyle/>
          <a:p>
            <a:pPr indent="0" lvl="0" marL="0" marR="0" rtl="0" algn="l">
              <a:lnSpc>
                <a:spcPct val="97894"/>
              </a:lnSpc>
              <a:spcBef>
                <a:spcPts val="0"/>
              </a:spcBef>
              <a:spcAft>
                <a:spcPts val="0"/>
              </a:spcAft>
              <a:buClr>
                <a:srgbClr val="000000"/>
              </a:buClr>
              <a:buSzPts val="950"/>
              <a:buFont typeface="Arial"/>
              <a:buNone/>
            </a:pPr>
            <a:r>
              <a:rPr b="0" i="0" lang="es-ES" sz="950" u="none" cap="none" strike="noStrike">
                <a:solidFill>
                  <a:srgbClr val="1F1F1F"/>
                </a:solidFill>
                <a:latin typeface="Times New Roman"/>
                <a:ea typeface="Times New Roman"/>
                <a:cs typeface="Times New Roman"/>
                <a:sym typeface="Times New Roman"/>
              </a:rPr>
              <a:t>canales:</a:t>
            </a:r>
            <a:endParaRPr b="0" i="0" sz="950" u="none" cap="none" strike="noStrike">
              <a:solidFill>
                <a:schemeClr val="dk1"/>
              </a:solidFill>
              <a:latin typeface="Times New Roman"/>
              <a:ea typeface="Times New Roman"/>
              <a:cs typeface="Times New Roman"/>
              <a:sym typeface="Times New Roman"/>
            </a:endParaRPr>
          </a:p>
        </p:txBody>
      </p:sp>
      <p:sp>
        <p:nvSpPr>
          <p:cNvPr id="109" name="Google Shape;109;p3"/>
          <p:cNvSpPr txBox="1"/>
          <p:nvPr/>
        </p:nvSpPr>
        <p:spPr>
          <a:xfrm>
            <a:off x="6286662" y="1042963"/>
            <a:ext cx="2303401" cy="159476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a:p>
            <a:pPr indent="0" lvl="0" marL="340714" marR="0" rtl="0" algn="l">
              <a:lnSpc>
                <a:spcPct val="95825"/>
              </a:lnSpc>
              <a:spcBef>
                <a:spcPts val="10444"/>
              </a:spcBef>
              <a:spcAft>
                <a:spcPts val="0"/>
              </a:spcAft>
              <a:buClr>
                <a:srgbClr val="000000"/>
              </a:buClr>
              <a:buSzPts val="950"/>
              <a:buFont typeface="Arial"/>
              <a:buNone/>
            </a:pPr>
            <a:r>
              <a:rPr b="1" i="0" lang="es-ES" sz="950" u="none" cap="none" strike="noStrike">
                <a:solidFill>
                  <a:srgbClr val="1F1F1F"/>
                </a:solidFill>
                <a:latin typeface="Times New Roman"/>
                <a:ea typeface="Times New Roman"/>
                <a:cs typeface="Times New Roman"/>
                <a:sym typeface="Times New Roman"/>
              </a:rPr>
              <a:t>Aprovechar las agencias de</a:t>
            </a:r>
            <a:endParaRPr b="0" i="0" sz="950" u="none" cap="none" strike="noStrike">
              <a:solidFill>
                <a:schemeClr val="dk1"/>
              </a:solidFill>
              <a:latin typeface="Times New Roman"/>
              <a:ea typeface="Times New Roman"/>
              <a:cs typeface="Times New Roman"/>
              <a:sym typeface="Times New Roman"/>
            </a:endParaRPr>
          </a:p>
        </p:txBody>
      </p:sp>
      <p:sp>
        <p:nvSpPr>
          <p:cNvPr id="110" name="Google Shape;110;p3"/>
          <p:cNvSpPr txBox="1"/>
          <p:nvPr/>
        </p:nvSpPr>
        <p:spPr>
          <a:xfrm>
            <a:off x="568900" y="2809635"/>
            <a:ext cx="2091300" cy="1512664"/>
          </a:xfrm>
          <a:prstGeom prst="rect">
            <a:avLst/>
          </a:prstGeom>
          <a:noFill/>
          <a:ln>
            <a:noFill/>
          </a:ln>
        </p:spPr>
        <p:txBody>
          <a:bodyPr anchorCtr="0" anchor="t" bIns="0" lIns="0" spcFirstLastPara="1" rIns="0" wrap="square" tIns="5900">
            <a:noAutofit/>
          </a:bodyPr>
          <a:lstStyle/>
          <a:p>
            <a:pPr indent="0" lvl="0" marL="549470" marR="0" rtl="0" algn="l">
              <a:lnSpc>
                <a:spcPct val="97894"/>
              </a:lnSpc>
              <a:spcBef>
                <a:spcPts val="0"/>
              </a:spcBef>
              <a:spcAft>
                <a:spcPts val="0"/>
              </a:spcAft>
              <a:buClr>
                <a:srgbClr val="000000"/>
              </a:buClr>
              <a:buSzPts val="950"/>
              <a:buFont typeface="Arial"/>
              <a:buNone/>
            </a:pPr>
            <a:r>
              <a:rPr b="1" i="0" lang="es-ES" sz="950" u="none" cap="none" strike="noStrike">
                <a:solidFill>
                  <a:srgbClr val="1F1F1F"/>
                </a:solidFill>
                <a:latin typeface="Times New Roman"/>
                <a:ea typeface="Times New Roman"/>
                <a:cs typeface="Times New Roman"/>
                <a:sym typeface="Times New Roman"/>
              </a:rPr>
              <a:t>objetivo especíﬁcos</a:t>
            </a:r>
            <a:endParaRPr b="0" i="0" sz="950" u="none" cap="none" strike="noStrike">
              <a:solidFill>
                <a:schemeClr val="dk1"/>
              </a:solidFill>
              <a:latin typeface="Times New Roman"/>
              <a:ea typeface="Times New Roman"/>
              <a:cs typeface="Times New Roman"/>
              <a:sym typeface="Times New Roman"/>
            </a:endParaRPr>
          </a:p>
        </p:txBody>
      </p:sp>
      <p:sp>
        <p:nvSpPr>
          <p:cNvPr id="111" name="Google Shape;111;p3"/>
          <p:cNvSpPr txBox="1"/>
          <p:nvPr/>
        </p:nvSpPr>
        <p:spPr>
          <a:xfrm>
            <a:off x="4002850" y="3051250"/>
            <a:ext cx="1225675" cy="1225700"/>
          </a:xfrm>
          <a:prstGeom prst="rect">
            <a:avLst/>
          </a:prstGeom>
          <a:noFill/>
          <a:ln>
            <a:noFill/>
          </a:ln>
        </p:spPr>
        <p:txBody>
          <a:bodyPr anchorCtr="0" anchor="t" bIns="0" lIns="0" spcFirstLastPara="1" rIns="0" wrap="square" tIns="27300">
            <a:noAutofit/>
          </a:bodyPr>
          <a:lstStyle/>
          <a:p>
            <a:pPr indent="0" lvl="0" marL="286114" marR="0" rtl="0" algn="l">
              <a:lnSpc>
                <a:spcPct val="95825"/>
              </a:lnSpc>
              <a:spcBef>
                <a:spcPts val="0"/>
              </a:spcBef>
              <a:spcAft>
                <a:spcPts val="0"/>
              </a:spcAft>
              <a:buClr>
                <a:srgbClr val="000000"/>
              </a:buClr>
              <a:buSzPts val="950"/>
              <a:buFont typeface="Arial"/>
              <a:buNone/>
            </a:pPr>
            <a:r>
              <a:rPr b="1" i="0" lang="es-ES" sz="950" u="none" cap="none" strike="noStrike">
                <a:solidFill>
                  <a:srgbClr val="1F1F1F"/>
                </a:solidFill>
                <a:latin typeface="Times New Roman"/>
                <a:ea typeface="Times New Roman"/>
                <a:cs typeface="Times New Roman"/>
                <a:sym typeface="Times New Roman"/>
              </a:rPr>
              <a:t>servicio.</a:t>
            </a:r>
            <a:endParaRPr b="0" i="0" sz="950" u="none" cap="none" strike="noStrike">
              <a:solidFill>
                <a:schemeClr val="dk1"/>
              </a:solidFill>
              <a:latin typeface="Times New Roman"/>
              <a:ea typeface="Times New Roman"/>
              <a:cs typeface="Times New Roman"/>
              <a:sym typeface="Times New Roman"/>
            </a:endParaRPr>
          </a:p>
        </p:txBody>
      </p:sp>
      <p:sp>
        <p:nvSpPr>
          <p:cNvPr id="112" name="Google Shape;112;p3"/>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 name="Google Shape;113;p3"/>
          <p:cNvSpPr/>
          <p:nvPr/>
        </p:nvSpPr>
        <p:spPr>
          <a:xfrm>
            <a:off x="-21018" y="-24872"/>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 name="Google Shape;114;p3"/>
          <p:cNvSpPr/>
          <p:nvPr/>
        </p:nvSpPr>
        <p:spPr>
          <a:xfrm>
            <a:off x="108776" y="79325"/>
            <a:ext cx="3177775" cy="725425"/>
          </a:xfrm>
          <a:custGeom>
            <a:rect b="b" l="l" r="r" t="t"/>
            <a:pathLst>
              <a:path extrusionOk="0" h="725425" w="3177775">
                <a:moveTo>
                  <a:pt x="0" y="0"/>
                </a:moveTo>
                <a:lnTo>
                  <a:pt x="3177775" y="0"/>
                </a:lnTo>
                <a:lnTo>
                  <a:pt x="3177775"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3"/>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 name="Google Shape;117;p3"/>
          <p:cNvSpPr/>
          <p:nvPr/>
        </p:nvSpPr>
        <p:spPr>
          <a:xfrm>
            <a:off x="5288102" y="4803200"/>
            <a:ext cx="3372423" cy="0"/>
          </a:xfrm>
          <a:custGeom>
            <a:rect b="b" l="l" r="r" t="t"/>
            <a:pathLst>
              <a:path extrusionOk="0" h="120000" w="3372423">
                <a:moveTo>
                  <a:pt x="0" y="0"/>
                </a:moveTo>
                <a:lnTo>
                  <a:pt x="3372423"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3"/>
          <p:cNvSpPr/>
          <p:nvPr/>
        </p:nvSpPr>
        <p:spPr>
          <a:xfrm>
            <a:off x="2810800" y="4803200"/>
            <a:ext cx="1045102" cy="0"/>
          </a:xfrm>
          <a:custGeom>
            <a:rect b="b" l="l" r="r" t="t"/>
            <a:pathLst>
              <a:path extrusionOk="0" h="120000" w="1045102">
                <a:moveTo>
                  <a:pt x="0" y="0"/>
                </a:moveTo>
                <a:lnTo>
                  <a:pt x="1045102"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3"/>
          <p:cNvSpPr/>
          <p:nvPr/>
        </p:nvSpPr>
        <p:spPr>
          <a:xfrm>
            <a:off x="5288102" y="4803200"/>
            <a:ext cx="3377185" cy="0"/>
          </a:xfrm>
          <a:custGeom>
            <a:rect b="b" l="l" r="r" t="t"/>
            <a:pathLst>
              <a:path extrusionOk="0" h="120000" w="3377185">
                <a:moveTo>
                  <a:pt x="0" y="0"/>
                </a:moveTo>
                <a:lnTo>
                  <a:pt x="337718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 name="Google Shape;120;p3"/>
          <p:cNvSpPr/>
          <p:nvPr/>
        </p:nvSpPr>
        <p:spPr>
          <a:xfrm>
            <a:off x="2810800" y="4803200"/>
            <a:ext cx="1045102" cy="0"/>
          </a:xfrm>
          <a:custGeom>
            <a:rect b="b" l="l" r="r" t="t"/>
            <a:pathLst>
              <a:path extrusionOk="0" h="120000" w="1045102">
                <a:moveTo>
                  <a:pt x="0" y="0"/>
                </a:moveTo>
                <a:lnTo>
                  <a:pt x="1045102"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 name="Google Shape;121;p3"/>
          <p:cNvSpPr/>
          <p:nvPr/>
        </p:nvSpPr>
        <p:spPr>
          <a:xfrm>
            <a:off x="226700" y="817575"/>
            <a:ext cx="4629900" cy="477000"/>
          </a:xfrm>
          <a:custGeom>
            <a:rect b="b" l="l" r="r" t="t"/>
            <a:pathLst>
              <a:path extrusionOk="0" h="477000" w="4629900">
                <a:moveTo>
                  <a:pt x="0" y="0"/>
                </a:moveTo>
                <a:lnTo>
                  <a:pt x="4629900" y="0"/>
                </a:lnTo>
                <a:lnTo>
                  <a:pt x="4629900" y="477000"/>
                </a:lnTo>
                <a:lnTo>
                  <a:pt x="0" y="4770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3"/>
          <p:cNvSpPr/>
          <p:nvPr/>
        </p:nvSpPr>
        <p:spPr>
          <a:xfrm>
            <a:off x="613450" y="2410450"/>
            <a:ext cx="2197500" cy="623400"/>
          </a:xfrm>
          <a:custGeom>
            <a:rect b="b" l="l" r="r" t="t"/>
            <a:pathLst>
              <a:path extrusionOk="0" h="623400" w="2197500">
                <a:moveTo>
                  <a:pt x="0" y="0"/>
                </a:moveTo>
                <a:lnTo>
                  <a:pt x="2197500" y="0"/>
                </a:lnTo>
                <a:lnTo>
                  <a:pt x="2197500" y="623400"/>
                </a:lnTo>
                <a:lnTo>
                  <a:pt x="0" y="623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3"/>
          <p:cNvSpPr/>
          <p:nvPr/>
        </p:nvSpPr>
        <p:spPr>
          <a:xfrm>
            <a:off x="507400" y="4211800"/>
            <a:ext cx="2303400" cy="623400"/>
          </a:xfrm>
          <a:custGeom>
            <a:rect b="b" l="l" r="r" t="t"/>
            <a:pathLst>
              <a:path extrusionOk="0" h="623400" w="2303400">
                <a:moveTo>
                  <a:pt x="0" y="0"/>
                </a:moveTo>
                <a:lnTo>
                  <a:pt x="2303400" y="0"/>
                </a:lnTo>
                <a:lnTo>
                  <a:pt x="2303400" y="623400"/>
                </a:lnTo>
                <a:lnTo>
                  <a:pt x="0" y="623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 name="Google Shape;124;p3"/>
          <p:cNvSpPr/>
          <p:nvPr/>
        </p:nvSpPr>
        <p:spPr>
          <a:xfrm>
            <a:off x="3473350" y="2410450"/>
            <a:ext cx="2128500" cy="915900"/>
          </a:xfrm>
          <a:custGeom>
            <a:rect b="b" l="l" r="r" t="t"/>
            <a:pathLst>
              <a:path extrusionOk="0" h="915900" w="2128500">
                <a:moveTo>
                  <a:pt x="0" y="0"/>
                </a:moveTo>
                <a:lnTo>
                  <a:pt x="2128500" y="0"/>
                </a:lnTo>
                <a:lnTo>
                  <a:pt x="2128500" y="915900"/>
                </a:lnTo>
                <a:lnTo>
                  <a:pt x="0" y="915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3"/>
          <p:cNvSpPr/>
          <p:nvPr/>
        </p:nvSpPr>
        <p:spPr>
          <a:xfrm>
            <a:off x="6483792" y="4211800"/>
            <a:ext cx="1907700" cy="477000"/>
          </a:xfrm>
          <a:custGeom>
            <a:rect b="b" l="l" r="r" t="t"/>
            <a:pathLst>
              <a:path extrusionOk="0" h="477000" w="1907700">
                <a:moveTo>
                  <a:pt x="0" y="0"/>
                </a:moveTo>
                <a:lnTo>
                  <a:pt x="1907700" y="0"/>
                </a:lnTo>
                <a:lnTo>
                  <a:pt x="1907700" y="477000"/>
                </a:lnTo>
                <a:lnTo>
                  <a:pt x="0" y="4770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 name="Google Shape;126;p3"/>
          <p:cNvSpPr/>
          <p:nvPr/>
        </p:nvSpPr>
        <p:spPr>
          <a:xfrm>
            <a:off x="3795800" y="1120175"/>
            <a:ext cx="1471550" cy="1354500"/>
          </a:xfrm>
          <a:custGeom>
            <a:rect b="b" l="l" r="r" t="t"/>
            <a:pathLst>
              <a:path extrusionOk="0" h="1354500" w="1471550">
                <a:moveTo>
                  <a:pt x="0" y="0"/>
                </a:moveTo>
                <a:lnTo>
                  <a:pt x="1471550" y="0"/>
                </a:lnTo>
                <a:lnTo>
                  <a:pt x="1471550" y="1354500"/>
                </a:lnTo>
                <a:lnTo>
                  <a:pt x="0" y="13545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 name="Google Shape;127;p3"/>
          <p:cNvSpPr/>
          <p:nvPr/>
        </p:nvSpPr>
        <p:spPr>
          <a:xfrm>
            <a:off x="977613" y="1085050"/>
            <a:ext cx="1362974" cy="1424726"/>
          </a:xfrm>
          <a:custGeom>
            <a:rect b="b" l="l" r="r" t="t"/>
            <a:pathLst>
              <a:path extrusionOk="0" h="1424726" w="1362974">
                <a:moveTo>
                  <a:pt x="0" y="0"/>
                </a:moveTo>
                <a:lnTo>
                  <a:pt x="1362974" y="0"/>
                </a:lnTo>
                <a:lnTo>
                  <a:pt x="1362974" y="1424726"/>
                </a:lnTo>
                <a:lnTo>
                  <a:pt x="0" y="1424726"/>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3"/>
          <p:cNvSpPr/>
          <p:nvPr/>
        </p:nvSpPr>
        <p:spPr>
          <a:xfrm>
            <a:off x="6286662" y="1042963"/>
            <a:ext cx="2303401" cy="1565600"/>
          </a:xfrm>
          <a:custGeom>
            <a:rect b="b" l="l" r="r" t="t"/>
            <a:pathLst>
              <a:path extrusionOk="0" h="1565600" w="2303401">
                <a:moveTo>
                  <a:pt x="0" y="0"/>
                </a:moveTo>
                <a:lnTo>
                  <a:pt x="2303401" y="0"/>
                </a:lnTo>
                <a:lnTo>
                  <a:pt x="2303401" y="1565600"/>
                </a:lnTo>
                <a:lnTo>
                  <a:pt x="0" y="15656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 name="Google Shape;129;p3"/>
          <p:cNvSpPr/>
          <p:nvPr/>
        </p:nvSpPr>
        <p:spPr>
          <a:xfrm>
            <a:off x="6701875" y="3179953"/>
            <a:ext cx="1471550" cy="1089660"/>
          </a:xfrm>
          <a:custGeom>
            <a:rect b="b" l="l" r="r" t="t"/>
            <a:pathLst>
              <a:path extrusionOk="0" h="1089660" w="1471550">
                <a:moveTo>
                  <a:pt x="0" y="0"/>
                </a:moveTo>
                <a:lnTo>
                  <a:pt x="1471550" y="0"/>
                </a:lnTo>
                <a:lnTo>
                  <a:pt x="1471550" y="1089660"/>
                </a:lnTo>
                <a:lnTo>
                  <a:pt x="0" y="108966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p3"/>
          <p:cNvSpPr/>
          <p:nvPr/>
        </p:nvSpPr>
        <p:spPr>
          <a:xfrm>
            <a:off x="8683025" y="4635500"/>
            <a:ext cx="335700" cy="335400"/>
          </a:xfrm>
          <a:custGeom>
            <a:rect b="b" l="l" r="r" t="t"/>
            <a:pathLst>
              <a:path extrusionOk="0" h="335400" w="335700">
                <a:moveTo>
                  <a:pt x="0" y="0"/>
                </a:moveTo>
                <a:lnTo>
                  <a:pt x="335700" y="0"/>
                </a:lnTo>
                <a:lnTo>
                  <a:pt x="3357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p3"/>
          <p:cNvSpPr txBox="1"/>
          <p:nvPr/>
        </p:nvSpPr>
        <p:spPr>
          <a:xfrm>
            <a:off x="226700" y="133350"/>
            <a:ext cx="51835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EQUIPO DE TRABAJO - ROLES</a:t>
            </a:r>
            <a:endParaRPr b="1" i="0" sz="2400" u="none" cap="none" strike="noStrike">
              <a:solidFill>
                <a:schemeClr val="accent5"/>
              </a:solidFill>
              <a:latin typeface="Calibri"/>
              <a:ea typeface="Calibri"/>
              <a:cs typeface="Calibri"/>
              <a:sym typeface="Calibri"/>
            </a:endParaRPr>
          </a:p>
        </p:txBody>
      </p:sp>
      <p:pic>
        <p:nvPicPr>
          <p:cNvPr id="132" name="Google Shape;132;p3" title="Diseño sin título-12.png"/>
          <p:cNvPicPr preferRelativeResize="0"/>
          <p:nvPr/>
        </p:nvPicPr>
        <p:blipFill rotWithShape="1">
          <a:blip r:embed="rId5">
            <a:alphaModFix/>
          </a:blip>
          <a:srcRect b="0" l="0" r="0" t="0"/>
          <a:stretch/>
        </p:blipFill>
        <p:spPr>
          <a:xfrm>
            <a:off x="5779823" y="2362221"/>
            <a:ext cx="2816900" cy="2816900"/>
          </a:xfrm>
          <a:prstGeom prst="rect">
            <a:avLst/>
          </a:prstGeom>
          <a:noFill/>
          <a:ln>
            <a:noFill/>
          </a:ln>
        </p:spPr>
      </p:pic>
      <p:pic>
        <p:nvPicPr>
          <p:cNvPr id="133" name="Google Shape;133;p3" title="Diseño sin título-11.png"/>
          <p:cNvPicPr preferRelativeResize="0"/>
          <p:nvPr/>
        </p:nvPicPr>
        <p:blipFill rotWithShape="1">
          <a:blip r:embed="rId6">
            <a:alphaModFix/>
          </a:blip>
          <a:srcRect b="0" l="0" r="0" t="0"/>
          <a:stretch/>
        </p:blipFill>
        <p:spPr>
          <a:xfrm>
            <a:off x="686158" y="2447584"/>
            <a:ext cx="2816900" cy="2816900"/>
          </a:xfrm>
          <a:prstGeom prst="rect">
            <a:avLst/>
          </a:prstGeom>
          <a:noFill/>
          <a:ln>
            <a:noFill/>
          </a:ln>
        </p:spPr>
      </p:pic>
      <p:pic>
        <p:nvPicPr>
          <p:cNvPr id="134" name="Google Shape;134;p3" title="Diseño sin título-4.png"/>
          <p:cNvPicPr preferRelativeResize="0"/>
          <p:nvPr/>
        </p:nvPicPr>
        <p:blipFill rotWithShape="1">
          <a:blip r:embed="rId7">
            <a:alphaModFix/>
          </a:blip>
          <a:srcRect b="6681" l="0" r="0" t="0"/>
          <a:stretch/>
        </p:blipFill>
        <p:spPr>
          <a:xfrm>
            <a:off x="432865" y="677613"/>
            <a:ext cx="1841495" cy="1718363"/>
          </a:xfrm>
          <a:prstGeom prst="rect">
            <a:avLst/>
          </a:prstGeom>
          <a:noFill/>
          <a:ln>
            <a:noFill/>
          </a:ln>
        </p:spPr>
      </p:pic>
      <p:pic>
        <p:nvPicPr>
          <p:cNvPr id="135" name="Google Shape;135;p3" title="Diseño sin título-8.png"/>
          <p:cNvPicPr preferRelativeResize="0"/>
          <p:nvPr/>
        </p:nvPicPr>
        <p:blipFill rotWithShape="1">
          <a:blip r:embed="rId8">
            <a:alphaModFix/>
          </a:blip>
          <a:srcRect b="0" l="0" r="0" t="0"/>
          <a:stretch/>
        </p:blipFill>
        <p:spPr>
          <a:xfrm>
            <a:off x="6668984" y="712221"/>
            <a:ext cx="1874219" cy="1874219"/>
          </a:xfrm>
          <a:prstGeom prst="rect">
            <a:avLst/>
          </a:prstGeom>
          <a:noFill/>
          <a:ln>
            <a:noFill/>
          </a:ln>
        </p:spPr>
      </p:pic>
      <p:pic>
        <p:nvPicPr>
          <p:cNvPr id="136" name="Google Shape;136;p3" title="Diseño sin título-9.png"/>
          <p:cNvPicPr preferRelativeResize="0"/>
          <p:nvPr/>
        </p:nvPicPr>
        <p:blipFill rotWithShape="1">
          <a:blip r:embed="rId9">
            <a:alphaModFix/>
          </a:blip>
          <a:srcRect b="9090" l="0" r="0" t="0"/>
          <a:stretch/>
        </p:blipFill>
        <p:spPr>
          <a:xfrm>
            <a:off x="4609636" y="715567"/>
            <a:ext cx="1841495" cy="1673985"/>
          </a:xfrm>
          <a:prstGeom prst="rect">
            <a:avLst/>
          </a:prstGeom>
          <a:noFill/>
          <a:ln>
            <a:noFill/>
          </a:ln>
        </p:spPr>
      </p:pic>
      <p:pic>
        <p:nvPicPr>
          <p:cNvPr id="137" name="Google Shape;137;p3" title="Diseño sin título-10.png"/>
          <p:cNvPicPr preferRelativeResize="0"/>
          <p:nvPr/>
        </p:nvPicPr>
        <p:blipFill rotWithShape="1">
          <a:blip r:embed="rId10">
            <a:alphaModFix/>
          </a:blip>
          <a:srcRect b="0" l="0" r="0" t="0"/>
          <a:stretch/>
        </p:blipFill>
        <p:spPr>
          <a:xfrm>
            <a:off x="2375800" y="625088"/>
            <a:ext cx="1934975" cy="1934975"/>
          </a:xfrm>
          <a:prstGeom prst="rect">
            <a:avLst/>
          </a:prstGeom>
          <a:noFill/>
          <a:ln>
            <a:noFill/>
          </a:ln>
        </p:spPr>
      </p:pic>
      <p:sp>
        <p:nvSpPr>
          <p:cNvPr id="138" name="Google Shape;138;p3"/>
          <p:cNvSpPr txBox="1"/>
          <p:nvPr/>
        </p:nvSpPr>
        <p:spPr>
          <a:xfrm>
            <a:off x="6097334" y="4276499"/>
            <a:ext cx="19764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s-ES" sz="1400" u="none" cap="none" strike="noStrike">
                <a:solidFill>
                  <a:srgbClr val="2D3239"/>
                </a:solidFill>
                <a:latin typeface="Catamaran"/>
                <a:ea typeface="Catamaran"/>
                <a:cs typeface="Catamaran"/>
                <a:sym typeface="Catamaran"/>
              </a:rPr>
              <a:t>Eduardo Villegas</a:t>
            </a:r>
            <a:endParaRPr b="1" i="0" sz="1400" u="none" cap="none" strike="noStrike">
              <a:solidFill>
                <a:srgbClr val="2D3239"/>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2D3239"/>
              </a:solidFill>
              <a:latin typeface="Catamaran"/>
              <a:ea typeface="Catamaran"/>
              <a:cs typeface="Catamaran"/>
              <a:sym typeface="Catamaran"/>
            </a:endParaRPr>
          </a:p>
        </p:txBody>
      </p:sp>
      <p:sp>
        <p:nvSpPr>
          <p:cNvPr id="139" name="Google Shape;139;p3"/>
          <p:cNvSpPr txBox="1"/>
          <p:nvPr/>
        </p:nvSpPr>
        <p:spPr>
          <a:xfrm>
            <a:off x="365413" y="2393700"/>
            <a:ext cx="19764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1" i="0" lang="es-ES" sz="1400" u="none" cap="none" strike="noStrike">
                <a:solidFill>
                  <a:schemeClr val="dk1"/>
                </a:solidFill>
                <a:latin typeface="Catamaran"/>
                <a:ea typeface="Catamaran"/>
                <a:cs typeface="Catamaran"/>
                <a:sym typeface="Catamaran"/>
              </a:rPr>
              <a:t>Claudio Valdivia</a:t>
            </a:r>
            <a:endParaRPr b="1" i="0" sz="1400" u="none" cap="none" strike="noStrike">
              <a:solidFill>
                <a:schemeClr val="dk1"/>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40" name="Google Shape;140;p3"/>
          <p:cNvSpPr txBox="1"/>
          <p:nvPr/>
        </p:nvSpPr>
        <p:spPr>
          <a:xfrm>
            <a:off x="1019331" y="4308868"/>
            <a:ext cx="19764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s-ES" sz="1400" u="none" cap="none" strike="noStrike">
                <a:solidFill>
                  <a:srgbClr val="191919"/>
                </a:solidFill>
                <a:latin typeface="Catamaran"/>
                <a:ea typeface="Catamaran"/>
                <a:cs typeface="Catamaran"/>
                <a:sym typeface="Catamaran"/>
              </a:rPr>
              <a:t>Percy Santibañez</a:t>
            </a:r>
            <a:endParaRPr b="1" i="0" sz="1400" u="none" cap="none" strike="noStrike">
              <a:solidFill>
                <a:srgbClr val="191919"/>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2D3239"/>
              </a:solidFill>
              <a:latin typeface="Catamaran"/>
              <a:ea typeface="Catamaran"/>
              <a:cs typeface="Catamaran"/>
              <a:sym typeface="Catamaran"/>
            </a:endParaRPr>
          </a:p>
        </p:txBody>
      </p:sp>
      <p:sp>
        <p:nvSpPr>
          <p:cNvPr id="141" name="Google Shape;141;p3"/>
          <p:cNvSpPr txBox="1"/>
          <p:nvPr/>
        </p:nvSpPr>
        <p:spPr>
          <a:xfrm>
            <a:off x="2312675" y="2390075"/>
            <a:ext cx="19764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s-ES" sz="1400" u="none" cap="none" strike="noStrike">
                <a:solidFill>
                  <a:srgbClr val="2D3239"/>
                </a:solidFill>
                <a:latin typeface="Catamaran"/>
                <a:ea typeface="Catamaran"/>
                <a:cs typeface="Catamaran"/>
                <a:sym typeface="Catamaran"/>
              </a:rPr>
              <a:t>Francisco Salvado</a:t>
            </a:r>
            <a:endParaRPr b="1" i="0" sz="1400" u="none" cap="none" strike="noStrike">
              <a:solidFill>
                <a:srgbClr val="2D3239"/>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91919"/>
              </a:solidFill>
              <a:latin typeface="Catamaran"/>
              <a:ea typeface="Catamaran"/>
              <a:cs typeface="Catamaran"/>
              <a:sym typeface="Catamaran"/>
            </a:endParaRPr>
          </a:p>
        </p:txBody>
      </p:sp>
      <p:sp>
        <p:nvSpPr>
          <p:cNvPr id="142" name="Google Shape;142;p3"/>
          <p:cNvSpPr txBox="1"/>
          <p:nvPr/>
        </p:nvSpPr>
        <p:spPr>
          <a:xfrm>
            <a:off x="6617875" y="2393700"/>
            <a:ext cx="1976400" cy="46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s-ES" sz="1400" u="none" cap="none" strike="noStrike">
                <a:solidFill>
                  <a:srgbClr val="191919"/>
                </a:solidFill>
                <a:latin typeface="Arial"/>
                <a:ea typeface="Arial"/>
                <a:cs typeface="Arial"/>
                <a:sym typeface="Arial"/>
              </a:rPr>
              <a:t>Kimberly  Villalobos</a:t>
            </a:r>
            <a:endParaRPr b="1" i="0" sz="1400" u="none" cap="none" strike="noStrike">
              <a:solidFill>
                <a:srgbClr val="19191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2D3239"/>
              </a:solidFill>
              <a:latin typeface="Catamaran"/>
              <a:ea typeface="Catamaran"/>
              <a:cs typeface="Catamaran"/>
              <a:sym typeface="Catamaran"/>
            </a:endParaRPr>
          </a:p>
        </p:txBody>
      </p:sp>
      <p:sp>
        <p:nvSpPr>
          <p:cNvPr id="143" name="Google Shape;143;p3"/>
          <p:cNvSpPr txBox="1"/>
          <p:nvPr/>
        </p:nvSpPr>
        <p:spPr>
          <a:xfrm>
            <a:off x="4542175" y="2390075"/>
            <a:ext cx="19764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s-ES" sz="1400" u="none" cap="none" strike="noStrike">
                <a:solidFill>
                  <a:srgbClr val="191919"/>
                </a:solidFill>
                <a:latin typeface="Catamaran"/>
                <a:ea typeface="Catamaran"/>
                <a:cs typeface="Catamaran"/>
                <a:sym typeface="Catamaran"/>
              </a:rPr>
              <a:t>Isis Maldonado</a:t>
            </a:r>
            <a:endParaRPr b="1" i="0" sz="1400" u="none" cap="none" strike="noStrike">
              <a:solidFill>
                <a:srgbClr val="191919"/>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2D3239"/>
              </a:solidFill>
              <a:latin typeface="Catamaran"/>
              <a:ea typeface="Catamaran"/>
              <a:cs typeface="Catamaran"/>
              <a:sym typeface="Catamaran"/>
            </a:endParaRPr>
          </a:p>
        </p:txBody>
      </p:sp>
      <p:sp>
        <p:nvSpPr>
          <p:cNvPr id="144" name="Google Shape;144;p3"/>
          <p:cNvSpPr txBox="1"/>
          <p:nvPr/>
        </p:nvSpPr>
        <p:spPr>
          <a:xfrm>
            <a:off x="365413" y="2586450"/>
            <a:ext cx="19764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1" i="0" lang="es-ES" sz="1400" u="none" cap="none" strike="noStrike">
                <a:solidFill>
                  <a:srgbClr val="666666"/>
                </a:solidFill>
                <a:latin typeface="Catamaran"/>
                <a:ea typeface="Catamaran"/>
                <a:cs typeface="Catamaran"/>
                <a:sym typeface="Catamaran"/>
              </a:rPr>
              <a:t>Product Owner</a:t>
            </a:r>
            <a:endParaRPr b="1" i="0" sz="1400" u="none" cap="none" strike="noStrike">
              <a:solidFill>
                <a:srgbClr val="666666"/>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666666"/>
              </a:solidFill>
              <a:latin typeface="Arial"/>
              <a:ea typeface="Arial"/>
              <a:cs typeface="Arial"/>
              <a:sym typeface="Arial"/>
            </a:endParaRPr>
          </a:p>
        </p:txBody>
      </p:sp>
      <p:sp>
        <p:nvSpPr>
          <p:cNvPr id="145" name="Google Shape;145;p3"/>
          <p:cNvSpPr txBox="1"/>
          <p:nvPr/>
        </p:nvSpPr>
        <p:spPr>
          <a:xfrm>
            <a:off x="4550982" y="2615147"/>
            <a:ext cx="19764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s-ES" sz="1400" u="none" cap="none" strike="noStrike">
                <a:solidFill>
                  <a:srgbClr val="666666"/>
                </a:solidFill>
                <a:latin typeface="Catamaran"/>
                <a:ea typeface="Catamaran"/>
                <a:cs typeface="Catamaran"/>
                <a:sym typeface="Catamaran"/>
              </a:rPr>
              <a:t>Product Owner</a:t>
            </a:r>
            <a:endParaRPr b="1" i="0" sz="1400" u="none" cap="none" strike="noStrike">
              <a:solidFill>
                <a:srgbClr val="666666"/>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666666"/>
              </a:solidFill>
              <a:latin typeface="Arial"/>
              <a:ea typeface="Arial"/>
              <a:cs typeface="Arial"/>
              <a:sym typeface="Arial"/>
            </a:endParaRPr>
          </a:p>
        </p:txBody>
      </p:sp>
      <p:sp>
        <p:nvSpPr>
          <p:cNvPr id="146" name="Google Shape;146;p3"/>
          <p:cNvSpPr txBox="1"/>
          <p:nvPr/>
        </p:nvSpPr>
        <p:spPr>
          <a:xfrm>
            <a:off x="2748243" y="2574824"/>
            <a:ext cx="1976400" cy="46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s-ES" sz="1400" u="none" cap="none" strike="noStrike">
                <a:solidFill>
                  <a:srgbClr val="666666"/>
                </a:solidFill>
                <a:latin typeface="Catamaran"/>
                <a:ea typeface="Catamaran"/>
                <a:cs typeface="Catamaran"/>
                <a:sym typeface="Catamaran"/>
              </a:rPr>
              <a:t>Stakeholder</a:t>
            </a:r>
            <a:endParaRPr b="1" i="0" sz="1200" u="none" cap="none" strike="noStrike">
              <a:solidFill>
                <a:srgbClr val="666666"/>
              </a:solidFill>
              <a:latin typeface="Arial"/>
              <a:ea typeface="Arial"/>
              <a:cs typeface="Arial"/>
              <a:sym typeface="Arial"/>
            </a:endParaRPr>
          </a:p>
        </p:txBody>
      </p:sp>
      <p:sp>
        <p:nvSpPr>
          <p:cNvPr id="147" name="Google Shape;147;p3"/>
          <p:cNvSpPr txBox="1"/>
          <p:nvPr/>
        </p:nvSpPr>
        <p:spPr>
          <a:xfrm>
            <a:off x="1364513" y="4507349"/>
            <a:ext cx="1976400" cy="46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s-ES" sz="1400" u="none" cap="none" strike="noStrike">
                <a:solidFill>
                  <a:srgbClr val="666666"/>
                </a:solidFill>
                <a:latin typeface="Catamaran"/>
                <a:ea typeface="Catamaran"/>
                <a:cs typeface="Catamaran"/>
                <a:sym typeface="Catamaran"/>
              </a:rPr>
              <a:t>Scrum teams</a:t>
            </a:r>
            <a:endParaRPr b="1" i="0" sz="1200" u="none" cap="none" strike="noStrike">
              <a:solidFill>
                <a:srgbClr val="666666"/>
              </a:solidFill>
              <a:latin typeface="Arial"/>
              <a:ea typeface="Arial"/>
              <a:cs typeface="Arial"/>
              <a:sym typeface="Arial"/>
            </a:endParaRPr>
          </a:p>
        </p:txBody>
      </p:sp>
      <p:sp>
        <p:nvSpPr>
          <p:cNvPr id="148" name="Google Shape;148;p3"/>
          <p:cNvSpPr txBox="1"/>
          <p:nvPr/>
        </p:nvSpPr>
        <p:spPr>
          <a:xfrm>
            <a:off x="6081611" y="4483278"/>
            <a:ext cx="19764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1" i="0" lang="es-ES" sz="1400" u="none" cap="none" strike="noStrike">
                <a:solidFill>
                  <a:srgbClr val="666666"/>
                </a:solidFill>
                <a:latin typeface="Catamaran"/>
                <a:ea typeface="Catamaran"/>
                <a:cs typeface="Catamaran"/>
                <a:sym typeface="Catamaran"/>
              </a:rPr>
              <a:t>Scrum Master</a:t>
            </a:r>
            <a:endParaRPr b="1" i="0" sz="1400" u="none" cap="none" strike="noStrike">
              <a:solidFill>
                <a:srgbClr val="666666"/>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666666"/>
              </a:solidFill>
              <a:latin typeface="Arial"/>
              <a:ea typeface="Arial"/>
              <a:cs typeface="Arial"/>
              <a:sym typeface="Arial"/>
            </a:endParaRPr>
          </a:p>
        </p:txBody>
      </p:sp>
      <p:sp>
        <p:nvSpPr>
          <p:cNvPr id="149" name="Google Shape;149;p3"/>
          <p:cNvSpPr txBox="1"/>
          <p:nvPr/>
        </p:nvSpPr>
        <p:spPr>
          <a:xfrm>
            <a:off x="6571163" y="2568799"/>
            <a:ext cx="19764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s-ES" sz="1400" u="none" cap="none" strike="noStrike">
                <a:solidFill>
                  <a:srgbClr val="666666"/>
                </a:solidFill>
                <a:latin typeface="Catamaran"/>
                <a:ea typeface="Catamaran"/>
                <a:cs typeface="Catamaran"/>
                <a:sym typeface="Catamaran"/>
              </a:rPr>
              <a:t>Product Owner</a:t>
            </a:r>
            <a:endParaRPr b="1" i="0" sz="1400" u="none" cap="none" strike="noStrike">
              <a:solidFill>
                <a:srgbClr val="666666"/>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666666"/>
              </a:solidFill>
              <a:latin typeface="Arial"/>
              <a:ea typeface="Arial"/>
              <a:cs typeface="Arial"/>
              <a:sym typeface="Arial"/>
            </a:endParaRPr>
          </a:p>
        </p:txBody>
      </p:sp>
      <p:pic>
        <p:nvPicPr>
          <p:cNvPr id="150" name="Google Shape;150;p3"/>
          <p:cNvPicPr preferRelativeResize="0"/>
          <p:nvPr/>
        </p:nvPicPr>
        <p:blipFill rotWithShape="1">
          <a:blip r:embed="rId11">
            <a:alphaModFix/>
          </a:blip>
          <a:srcRect b="14122" l="10745" r="15544" t="0"/>
          <a:stretch/>
        </p:blipFill>
        <p:spPr>
          <a:xfrm>
            <a:off x="3644445" y="2851521"/>
            <a:ext cx="1786270" cy="1734260"/>
          </a:xfrm>
          <a:prstGeom prst="ellipse">
            <a:avLst/>
          </a:prstGeom>
          <a:noFill/>
          <a:ln cap="flat" cmpd="sng" w="9525">
            <a:solidFill>
              <a:srgbClr val="66FFFF"/>
            </a:solidFill>
            <a:prstDash val="solid"/>
            <a:round/>
            <a:headEnd len="sm" w="sm" type="none"/>
            <a:tailEnd len="sm" w="sm" type="none"/>
          </a:ln>
        </p:spPr>
      </p:pic>
      <p:sp>
        <p:nvSpPr>
          <p:cNvPr id="151" name="Google Shape;151;p3"/>
          <p:cNvSpPr txBox="1"/>
          <p:nvPr/>
        </p:nvSpPr>
        <p:spPr>
          <a:xfrm>
            <a:off x="3723976" y="4368361"/>
            <a:ext cx="1590851" cy="829163"/>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s-ES" sz="1400" u="none" cap="none" strike="noStrike">
                <a:solidFill>
                  <a:srgbClr val="2D3239"/>
                </a:solidFill>
                <a:latin typeface="Catamaran"/>
                <a:ea typeface="Catamaran"/>
                <a:cs typeface="Catamaran"/>
                <a:sym typeface="Catamaran"/>
              </a:rPr>
              <a:t>Mauricio Figueroa</a:t>
            </a:r>
            <a:br>
              <a:rPr b="1" i="0" lang="es-ES" sz="1400" u="none" cap="none" strike="noStrike">
                <a:solidFill>
                  <a:srgbClr val="2D3239"/>
                </a:solidFill>
                <a:latin typeface="Catamaran"/>
                <a:ea typeface="Catamaran"/>
                <a:cs typeface="Catamaran"/>
                <a:sym typeface="Catamaran"/>
              </a:rPr>
            </a:br>
            <a:r>
              <a:rPr b="1" i="0" lang="es-ES" sz="1400" u="none" cap="none" strike="noStrike">
                <a:solidFill>
                  <a:srgbClr val="2D3239"/>
                </a:solidFill>
                <a:latin typeface="Catamaran"/>
                <a:ea typeface="Catamaran"/>
                <a:cs typeface="Catamaran"/>
                <a:sym typeface="Catamaran"/>
              </a:rPr>
              <a:t>Docente</a:t>
            </a:r>
            <a:endParaRPr b="1" i="0" sz="1400" u="none" cap="none" strike="noStrike">
              <a:solidFill>
                <a:srgbClr val="2D3239"/>
              </a:solidFill>
              <a:latin typeface="Catamaran"/>
              <a:ea typeface="Catamaran"/>
              <a:cs typeface="Catamaran"/>
              <a:sym typeface="Catamar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
          <p:cNvSpPr/>
          <p:nvPr/>
        </p:nvSpPr>
        <p:spPr>
          <a:xfrm>
            <a:off x="775" y="0"/>
            <a:ext cx="4717650" cy="5143499"/>
          </a:xfrm>
          <a:custGeom>
            <a:rect b="b" l="l" r="r" t="t"/>
            <a:pathLst>
              <a:path extrusionOk="0" h="5143499" w="4717650">
                <a:moveTo>
                  <a:pt x="4717650" y="0"/>
                </a:moveTo>
                <a:lnTo>
                  <a:pt x="0" y="0"/>
                </a:lnTo>
                <a:lnTo>
                  <a:pt x="0" y="5143499"/>
                </a:lnTo>
                <a:lnTo>
                  <a:pt x="4717650" y="5143499"/>
                </a:lnTo>
                <a:lnTo>
                  <a:pt x="471765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 name="Google Shape;157;p4"/>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 name="Google Shape;158;p4"/>
          <p:cNvSpPr/>
          <p:nvPr/>
        </p:nvSpPr>
        <p:spPr>
          <a:xfrm>
            <a:off x="108778" y="85475"/>
            <a:ext cx="2035651" cy="713125"/>
          </a:xfrm>
          <a:custGeom>
            <a:rect b="b" l="l" r="r" t="t"/>
            <a:pathLst>
              <a:path extrusionOk="0" h="713125" w="2035651">
                <a:moveTo>
                  <a:pt x="0" y="0"/>
                </a:moveTo>
                <a:lnTo>
                  <a:pt x="2035651" y="0"/>
                </a:lnTo>
                <a:lnTo>
                  <a:pt x="2035651" y="713125"/>
                </a:lnTo>
                <a:lnTo>
                  <a:pt x="0" y="7131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p4"/>
          <p:cNvSpPr/>
          <p:nvPr/>
        </p:nvSpPr>
        <p:spPr>
          <a:xfrm>
            <a:off x="1790225" y="3093624"/>
            <a:ext cx="1138049" cy="1201551"/>
          </a:xfrm>
          <a:custGeom>
            <a:rect b="b" l="l" r="r" t="t"/>
            <a:pathLst>
              <a:path extrusionOk="0" h="1201551" w="1138049">
                <a:moveTo>
                  <a:pt x="0" y="0"/>
                </a:moveTo>
                <a:lnTo>
                  <a:pt x="1138049" y="0"/>
                </a:lnTo>
                <a:lnTo>
                  <a:pt x="1138049" y="1201551"/>
                </a:lnTo>
                <a:lnTo>
                  <a:pt x="0" y="120155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 name="Google Shape;160;p4"/>
          <p:cNvSpPr/>
          <p:nvPr/>
        </p:nvSpPr>
        <p:spPr>
          <a:xfrm>
            <a:off x="1697825" y="3417611"/>
            <a:ext cx="1138049" cy="1277749"/>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 name="Google Shape;161;p4"/>
          <p:cNvSpPr/>
          <p:nvPr/>
        </p:nvSpPr>
        <p:spPr>
          <a:xfrm>
            <a:off x="226700" y="968200"/>
            <a:ext cx="4265100" cy="1860300"/>
          </a:xfrm>
          <a:custGeom>
            <a:rect b="b" l="l" r="r" t="t"/>
            <a:pathLst>
              <a:path extrusionOk="0" h="1860300" w="4265100">
                <a:moveTo>
                  <a:pt x="0" y="0"/>
                </a:moveTo>
                <a:lnTo>
                  <a:pt x="4265100" y="0"/>
                </a:lnTo>
                <a:lnTo>
                  <a:pt x="4265100" y="1860300"/>
                </a:lnTo>
                <a:lnTo>
                  <a:pt x="0" y="18603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p4"/>
          <p:cNvSpPr/>
          <p:nvPr/>
        </p:nvSpPr>
        <p:spPr>
          <a:xfrm>
            <a:off x="1443688" y="4411172"/>
            <a:ext cx="1846200" cy="260700"/>
          </a:xfrm>
          <a:custGeom>
            <a:rect b="b" l="l" r="r" t="t"/>
            <a:pathLst>
              <a:path extrusionOk="0" h="260700" w="1846200">
                <a:moveTo>
                  <a:pt x="0" y="0"/>
                </a:moveTo>
                <a:lnTo>
                  <a:pt x="1846200" y="0"/>
                </a:lnTo>
                <a:lnTo>
                  <a:pt x="1846200" y="260700"/>
                </a:lnTo>
                <a:lnTo>
                  <a:pt x="0" y="2607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4"/>
          <p:cNvSpPr/>
          <p:nvPr/>
        </p:nvSpPr>
        <p:spPr>
          <a:xfrm>
            <a:off x="4718425" y="0"/>
            <a:ext cx="4425574" cy="5143499"/>
          </a:xfrm>
          <a:custGeom>
            <a:rect b="b" l="l" r="r" t="t"/>
            <a:pathLst>
              <a:path extrusionOk="0" h="5143499" w="4425574">
                <a:moveTo>
                  <a:pt x="4425574" y="0"/>
                </a:moveTo>
                <a:lnTo>
                  <a:pt x="4425574" y="5143499"/>
                </a:lnTo>
                <a:lnTo>
                  <a:pt x="0" y="5143499"/>
                </a:lnTo>
                <a:lnTo>
                  <a:pt x="0" y="0"/>
                </a:lnTo>
                <a:lnTo>
                  <a:pt x="442557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4" name="Google Shape;164;p4"/>
          <p:cNvSpPr/>
          <p:nvPr/>
        </p:nvSpPr>
        <p:spPr>
          <a:xfrm>
            <a:off x="4718425" y="0"/>
            <a:ext cx="4425574" cy="51435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p4"/>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 name="Google Shape;166;p4"/>
          <p:cNvSpPr/>
          <p:nvPr/>
        </p:nvSpPr>
        <p:spPr>
          <a:xfrm>
            <a:off x="193067" y="4643876"/>
            <a:ext cx="372243" cy="417965"/>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 name="Google Shape;167;p4"/>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p4"/>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4"/>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 name="Google Shape;170;p4"/>
          <p:cNvSpPr txBox="1"/>
          <p:nvPr/>
        </p:nvSpPr>
        <p:spPr>
          <a:xfrm>
            <a:off x="8765581" y="4733180"/>
            <a:ext cx="89372" cy="149860"/>
          </a:xfrm>
          <a:prstGeom prst="rect">
            <a:avLst/>
          </a:prstGeom>
          <a:noFill/>
          <a:ln>
            <a:noFill/>
          </a:ln>
        </p:spPr>
        <p:txBody>
          <a:bodyPr anchorCtr="0" anchor="t" bIns="0" lIns="0" spcFirstLastPara="1" rIns="0" wrap="square" tIns="6650">
            <a:noAutofit/>
          </a:bodyPr>
          <a:lstStyle/>
          <a:p>
            <a:pPr indent="0" lvl="0" marL="12700" marR="0" rtl="0" algn="l">
              <a:lnSpc>
                <a:spcPct val="104999"/>
              </a:lnSpc>
              <a:spcBef>
                <a:spcPts val="0"/>
              </a:spcBef>
              <a:spcAft>
                <a:spcPts val="0"/>
              </a:spcAft>
              <a:buClr>
                <a:srgbClr val="000000"/>
              </a:buClr>
              <a:buSzPts val="1000"/>
              <a:buFont typeface="Arial"/>
              <a:buNone/>
            </a:pPr>
            <a:r>
              <a:rPr b="1" i="0" lang="es-ES" sz="1000" u="none" cap="none" strike="noStrike">
                <a:solidFill>
                  <a:srgbClr val="FFFFFF"/>
                </a:solidFill>
                <a:latin typeface="Times New Roman"/>
                <a:ea typeface="Times New Roman"/>
                <a:cs typeface="Times New Roman"/>
                <a:sym typeface="Times New Roman"/>
              </a:rPr>
              <a:t>1</a:t>
            </a:r>
            <a:endParaRPr b="0" i="0" sz="1000" u="none" cap="none" strike="noStrike">
              <a:solidFill>
                <a:schemeClr val="dk1"/>
              </a:solidFill>
              <a:latin typeface="Times New Roman"/>
              <a:ea typeface="Times New Roman"/>
              <a:cs typeface="Times New Roman"/>
              <a:sym typeface="Times New Roman"/>
            </a:endParaRPr>
          </a:p>
        </p:txBody>
      </p:sp>
      <p:sp>
        <p:nvSpPr>
          <p:cNvPr id="171" name="Google Shape;171;p4"/>
          <p:cNvSpPr txBox="1"/>
          <p:nvPr/>
        </p:nvSpPr>
        <p:spPr>
          <a:xfrm>
            <a:off x="193067" y="73871"/>
            <a:ext cx="51835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CONTEXTO</a:t>
            </a:r>
            <a:endParaRPr b="1" i="0" sz="2400" u="none" cap="none" strike="noStrike">
              <a:solidFill>
                <a:schemeClr val="accent5"/>
              </a:solidFill>
              <a:latin typeface="Calibri"/>
              <a:ea typeface="Calibri"/>
              <a:cs typeface="Calibri"/>
              <a:sym typeface="Calibri"/>
            </a:endParaRPr>
          </a:p>
        </p:txBody>
      </p:sp>
      <p:sp>
        <p:nvSpPr>
          <p:cNvPr id="172" name="Google Shape;172;p4"/>
          <p:cNvSpPr txBox="1"/>
          <p:nvPr/>
        </p:nvSpPr>
        <p:spPr>
          <a:xfrm>
            <a:off x="137780" y="663004"/>
            <a:ext cx="4732061"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chemeClr val="dk1"/>
                </a:solidFill>
                <a:latin typeface="Calibri"/>
                <a:ea typeface="Calibri"/>
                <a:cs typeface="Calibri"/>
                <a:sym typeface="Calibri"/>
              </a:rPr>
              <a:t>La comuna de Valparaíso se ha consolidado como uno de los destinos turísticos más emblemáticos de Chile y del mundo, destacando por su patrimonio cultural, arquitectónico y artístico, declarado además Patrimonio de la Humanidad por la UNESCO</a:t>
            </a:r>
            <a:r>
              <a:rPr b="0" i="0" lang="es-ES" sz="1800" u="none" cap="none" strike="noStrike">
                <a:solidFill>
                  <a:schemeClr val="dk1"/>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73" name="Google Shape;173;p4"/>
          <p:cNvSpPr txBox="1"/>
          <p:nvPr/>
        </p:nvSpPr>
        <p:spPr>
          <a:xfrm>
            <a:off x="130194" y="1537683"/>
            <a:ext cx="451800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chemeClr val="dk1"/>
                </a:solidFill>
                <a:latin typeface="Calibri"/>
                <a:ea typeface="Calibri"/>
                <a:cs typeface="Calibri"/>
                <a:sym typeface="Calibri"/>
              </a:rPr>
              <a:t>Cada año, el Puerto de Valparaíso recibe entre 40 y 50 cruceros internacionales, lo que representa la llegada de cerca de 100.000 a 150.000 visitantes provenientes de distintas partes del mundo durante la temporada alta.</a:t>
            </a:r>
            <a:endParaRPr b="0" i="0" sz="1800" u="none" cap="none" strike="noStrike">
              <a:solidFill>
                <a:schemeClr val="dk1"/>
              </a:solidFill>
              <a:latin typeface="Calibri"/>
              <a:ea typeface="Calibri"/>
              <a:cs typeface="Calibri"/>
              <a:sym typeface="Calibri"/>
            </a:endParaRPr>
          </a:p>
        </p:txBody>
      </p:sp>
      <p:sp>
        <p:nvSpPr>
          <p:cNvPr id="174" name="Google Shape;174;p4"/>
          <p:cNvSpPr txBox="1"/>
          <p:nvPr/>
        </p:nvSpPr>
        <p:spPr>
          <a:xfrm>
            <a:off x="129217" y="2348259"/>
            <a:ext cx="458843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chemeClr val="dk1"/>
                </a:solidFill>
                <a:latin typeface="Calibri"/>
                <a:ea typeface="Calibri"/>
                <a:cs typeface="Calibri"/>
                <a:sym typeface="Calibri"/>
              </a:rPr>
              <a:t>En enero de 2025, el gasto individual promedio de los turistas alcanzó los USD 544 generando una inyección superior a los 100 millones de dólares en la economía regional solo en ese mes. A nivel global, se estima que más de 4 millones de turistas visitan la ciudad anualmente.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5"/>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p5"/>
          <p:cNvSpPr/>
          <p:nvPr/>
        </p:nvSpPr>
        <p:spPr>
          <a:xfrm>
            <a:off x="775" y="-19787"/>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1" name="Google Shape;181;p5"/>
          <p:cNvSpPr/>
          <p:nvPr/>
        </p:nvSpPr>
        <p:spPr>
          <a:xfrm>
            <a:off x="226700" y="933488"/>
            <a:ext cx="4265100" cy="1391400"/>
          </a:xfrm>
          <a:custGeom>
            <a:rect b="b" l="l" r="r" t="t"/>
            <a:pathLst>
              <a:path extrusionOk="0" h="1391400" w="4265100">
                <a:moveTo>
                  <a:pt x="0" y="0"/>
                </a:moveTo>
                <a:lnTo>
                  <a:pt x="4265100" y="0"/>
                </a:lnTo>
                <a:lnTo>
                  <a:pt x="4265100" y="1391400"/>
                </a:lnTo>
                <a:lnTo>
                  <a:pt x="0" y="1391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2" name="Google Shape;182;p5"/>
          <p:cNvSpPr/>
          <p:nvPr/>
        </p:nvSpPr>
        <p:spPr>
          <a:xfrm>
            <a:off x="108778" y="85475"/>
            <a:ext cx="2525124" cy="713125"/>
          </a:xfrm>
          <a:custGeom>
            <a:rect b="b" l="l" r="r" t="t"/>
            <a:pathLst>
              <a:path extrusionOk="0" h="713125" w="2525124">
                <a:moveTo>
                  <a:pt x="0" y="0"/>
                </a:moveTo>
                <a:lnTo>
                  <a:pt x="2525124" y="0"/>
                </a:lnTo>
                <a:lnTo>
                  <a:pt x="2525124" y="713125"/>
                </a:lnTo>
                <a:lnTo>
                  <a:pt x="0" y="7131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3" name="Google Shape;183;p5"/>
          <p:cNvSpPr/>
          <p:nvPr/>
        </p:nvSpPr>
        <p:spPr>
          <a:xfrm>
            <a:off x="226625" y="2357563"/>
            <a:ext cx="4264800" cy="388800"/>
          </a:xfrm>
          <a:custGeom>
            <a:rect b="b" l="l" r="r" t="t"/>
            <a:pathLst>
              <a:path extrusionOk="0" h="388800" w="4264800">
                <a:moveTo>
                  <a:pt x="0" y="64801"/>
                </a:moveTo>
                <a:lnTo>
                  <a:pt x="1612" y="50371"/>
                </a:lnTo>
                <a:lnTo>
                  <a:pt x="6212" y="37078"/>
                </a:lnTo>
                <a:lnTo>
                  <a:pt x="34390" y="7564"/>
                </a:lnTo>
                <a:lnTo>
                  <a:pt x="64801" y="0"/>
                </a:lnTo>
                <a:lnTo>
                  <a:pt x="4199998" y="0"/>
                </a:lnTo>
                <a:lnTo>
                  <a:pt x="4236716" y="11405"/>
                </a:lnTo>
                <a:lnTo>
                  <a:pt x="4263718" y="53008"/>
                </a:lnTo>
                <a:lnTo>
                  <a:pt x="4264800" y="64801"/>
                </a:lnTo>
                <a:lnTo>
                  <a:pt x="4264800" y="323998"/>
                </a:lnTo>
                <a:lnTo>
                  <a:pt x="4251354" y="363524"/>
                </a:lnTo>
                <a:lnTo>
                  <a:pt x="4217407" y="386434"/>
                </a:lnTo>
                <a:lnTo>
                  <a:pt x="4199998" y="388800"/>
                </a:lnTo>
                <a:lnTo>
                  <a:pt x="64801" y="388800"/>
                </a:lnTo>
                <a:lnTo>
                  <a:pt x="25275" y="375353"/>
                </a:lnTo>
                <a:lnTo>
                  <a:pt x="2365" y="341407"/>
                </a:lnTo>
                <a:lnTo>
                  <a:pt x="0" y="323998"/>
                </a:lnTo>
                <a:lnTo>
                  <a:pt x="0" y="64801"/>
                </a:lnTo>
                <a:close/>
              </a:path>
            </a:pathLst>
          </a:custGeom>
          <a:solidFill>
            <a:srgbClr val="F9CB9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4" name="Google Shape;184;p5"/>
          <p:cNvSpPr/>
          <p:nvPr/>
        </p:nvSpPr>
        <p:spPr>
          <a:xfrm>
            <a:off x="226625" y="2844388"/>
            <a:ext cx="1343700" cy="1259400"/>
          </a:xfrm>
          <a:custGeom>
            <a:rect b="b" l="l" r="r" t="t"/>
            <a:pathLst>
              <a:path extrusionOk="0" h="1259400" w="1343700">
                <a:moveTo>
                  <a:pt x="0" y="94417"/>
                </a:moveTo>
                <a:lnTo>
                  <a:pt x="1119" y="79834"/>
                </a:lnTo>
                <a:lnTo>
                  <a:pt x="4365" y="65954"/>
                </a:lnTo>
                <a:lnTo>
                  <a:pt x="25196" y="30205"/>
                </a:lnTo>
                <a:lnTo>
                  <a:pt x="59149" y="6807"/>
                </a:lnTo>
                <a:lnTo>
                  <a:pt x="94417" y="0"/>
                </a:lnTo>
                <a:lnTo>
                  <a:pt x="1249282" y="0"/>
                </a:lnTo>
                <a:lnTo>
                  <a:pt x="1287260" y="7974"/>
                </a:lnTo>
                <a:lnTo>
                  <a:pt x="1324650" y="37545"/>
                </a:lnTo>
                <a:lnTo>
                  <a:pt x="1341124" y="72514"/>
                </a:lnTo>
                <a:lnTo>
                  <a:pt x="1343700" y="94417"/>
                </a:lnTo>
                <a:lnTo>
                  <a:pt x="1343700" y="1164982"/>
                </a:lnTo>
                <a:lnTo>
                  <a:pt x="1334127" y="1206455"/>
                </a:lnTo>
                <a:lnTo>
                  <a:pt x="1308421" y="1238589"/>
                </a:lnTo>
                <a:lnTo>
                  <a:pt x="1271096" y="1256867"/>
                </a:lnTo>
                <a:lnTo>
                  <a:pt x="1249282" y="1259400"/>
                </a:lnTo>
                <a:lnTo>
                  <a:pt x="94417" y="1259400"/>
                </a:lnTo>
                <a:lnTo>
                  <a:pt x="52944" y="1249827"/>
                </a:lnTo>
                <a:lnTo>
                  <a:pt x="20810" y="1224121"/>
                </a:lnTo>
                <a:lnTo>
                  <a:pt x="2532" y="1186796"/>
                </a:lnTo>
                <a:lnTo>
                  <a:pt x="0" y="1164982"/>
                </a:lnTo>
                <a:lnTo>
                  <a:pt x="0" y="94417"/>
                </a:lnTo>
                <a:close/>
              </a:path>
            </a:pathLst>
          </a:custGeom>
          <a:solidFill>
            <a:srgbClr val="FCE4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5"/>
          <p:cNvSpPr/>
          <p:nvPr/>
        </p:nvSpPr>
        <p:spPr>
          <a:xfrm>
            <a:off x="1711634" y="2844388"/>
            <a:ext cx="1343700" cy="1259400"/>
          </a:xfrm>
          <a:custGeom>
            <a:rect b="b" l="l" r="r" t="t"/>
            <a:pathLst>
              <a:path extrusionOk="0" h="1259400" w="1343700">
                <a:moveTo>
                  <a:pt x="0" y="94417"/>
                </a:moveTo>
                <a:lnTo>
                  <a:pt x="1119" y="79834"/>
                </a:lnTo>
                <a:lnTo>
                  <a:pt x="4365" y="65954"/>
                </a:lnTo>
                <a:lnTo>
                  <a:pt x="25196" y="30205"/>
                </a:lnTo>
                <a:lnTo>
                  <a:pt x="59149" y="6807"/>
                </a:lnTo>
                <a:lnTo>
                  <a:pt x="94417" y="0"/>
                </a:lnTo>
                <a:lnTo>
                  <a:pt x="1249282" y="0"/>
                </a:lnTo>
                <a:lnTo>
                  <a:pt x="1287260" y="7974"/>
                </a:lnTo>
                <a:lnTo>
                  <a:pt x="1324650" y="37545"/>
                </a:lnTo>
                <a:lnTo>
                  <a:pt x="1341124" y="72514"/>
                </a:lnTo>
                <a:lnTo>
                  <a:pt x="1343700" y="94417"/>
                </a:lnTo>
                <a:lnTo>
                  <a:pt x="1343700" y="1164982"/>
                </a:lnTo>
                <a:lnTo>
                  <a:pt x="1334127" y="1206455"/>
                </a:lnTo>
                <a:lnTo>
                  <a:pt x="1308421" y="1238589"/>
                </a:lnTo>
                <a:lnTo>
                  <a:pt x="1271096" y="1256867"/>
                </a:lnTo>
                <a:lnTo>
                  <a:pt x="1249282" y="1259400"/>
                </a:lnTo>
                <a:lnTo>
                  <a:pt x="94417" y="1259400"/>
                </a:lnTo>
                <a:lnTo>
                  <a:pt x="52944" y="1249827"/>
                </a:lnTo>
                <a:lnTo>
                  <a:pt x="20810" y="1224121"/>
                </a:lnTo>
                <a:lnTo>
                  <a:pt x="2532" y="1186796"/>
                </a:lnTo>
                <a:lnTo>
                  <a:pt x="0" y="1164982"/>
                </a:lnTo>
                <a:lnTo>
                  <a:pt x="0" y="94417"/>
                </a:lnTo>
                <a:close/>
              </a:path>
            </a:pathLst>
          </a:custGeom>
          <a:solidFill>
            <a:srgbClr val="FCE4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6" name="Google Shape;186;p5"/>
          <p:cNvSpPr/>
          <p:nvPr/>
        </p:nvSpPr>
        <p:spPr>
          <a:xfrm>
            <a:off x="3148169" y="2843563"/>
            <a:ext cx="1343700" cy="1259400"/>
          </a:xfrm>
          <a:custGeom>
            <a:rect b="b" l="l" r="r" t="t"/>
            <a:pathLst>
              <a:path extrusionOk="0" h="1259400" w="1343700">
                <a:moveTo>
                  <a:pt x="0" y="94417"/>
                </a:moveTo>
                <a:lnTo>
                  <a:pt x="1119" y="79834"/>
                </a:lnTo>
                <a:lnTo>
                  <a:pt x="4365" y="65954"/>
                </a:lnTo>
                <a:lnTo>
                  <a:pt x="25196" y="30205"/>
                </a:lnTo>
                <a:lnTo>
                  <a:pt x="59149" y="6807"/>
                </a:lnTo>
                <a:lnTo>
                  <a:pt x="94417" y="0"/>
                </a:lnTo>
                <a:lnTo>
                  <a:pt x="1249283" y="0"/>
                </a:lnTo>
                <a:lnTo>
                  <a:pt x="1287260" y="7974"/>
                </a:lnTo>
                <a:lnTo>
                  <a:pt x="1324650" y="37545"/>
                </a:lnTo>
                <a:lnTo>
                  <a:pt x="1341124" y="72514"/>
                </a:lnTo>
                <a:lnTo>
                  <a:pt x="1343700" y="94417"/>
                </a:lnTo>
                <a:lnTo>
                  <a:pt x="1343700" y="1164982"/>
                </a:lnTo>
                <a:lnTo>
                  <a:pt x="1334127" y="1206455"/>
                </a:lnTo>
                <a:lnTo>
                  <a:pt x="1308421" y="1238589"/>
                </a:lnTo>
                <a:lnTo>
                  <a:pt x="1271097" y="1256867"/>
                </a:lnTo>
                <a:lnTo>
                  <a:pt x="1249283" y="1259400"/>
                </a:lnTo>
                <a:lnTo>
                  <a:pt x="94417" y="1259400"/>
                </a:lnTo>
                <a:lnTo>
                  <a:pt x="52944" y="1249827"/>
                </a:lnTo>
                <a:lnTo>
                  <a:pt x="20810" y="1224121"/>
                </a:lnTo>
                <a:lnTo>
                  <a:pt x="2532" y="1186796"/>
                </a:lnTo>
                <a:lnTo>
                  <a:pt x="0" y="1164982"/>
                </a:lnTo>
                <a:lnTo>
                  <a:pt x="0" y="94417"/>
                </a:lnTo>
                <a:close/>
              </a:path>
            </a:pathLst>
          </a:custGeom>
          <a:solidFill>
            <a:srgbClr val="FCE4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7" name="Google Shape;187;p5"/>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5"/>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5"/>
          <p:cNvSpPr/>
          <p:nvPr/>
        </p:nvSpPr>
        <p:spPr>
          <a:xfrm>
            <a:off x="8683025" y="4792100"/>
            <a:ext cx="235800" cy="178800"/>
          </a:xfrm>
          <a:custGeom>
            <a:rect b="b" l="l" r="r" t="t"/>
            <a:pathLst>
              <a:path extrusionOk="0" h="178800" w="235800">
                <a:moveTo>
                  <a:pt x="0" y="0"/>
                </a:moveTo>
                <a:lnTo>
                  <a:pt x="235800" y="0"/>
                </a:lnTo>
                <a:lnTo>
                  <a:pt x="235800" y="178800"/>
                </a:lnTo>
                <a:lnTo>
                  <a:pt x="0" y="178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p5"/>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p5"/>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2" name="Google Shape;192;p5"/>
          <p:cNvSpPr/>
          <p:nvPr/>
        </p:nvSpPr>
        <p:spPr>
          <a:xfrm>
            <a:off x="4711316" y="914263"/>
            <a:ext cx="4200300" cy="3858600"/>
          </a:xfrm>
          <a:custGeom>
            <a:rect b="b" l="l" r="r" t="t"/>
            <a:pathLst>
              <a:path extrusionOk="0" h="3858600" w="4200300">
                <a:moveTo>
                  <a:pt x="0" y="0"/>
                </a:moveTo>
                <a:lnTo>
                  <a:pt x="4200300" y="0"/>
                </a:lnTo>
                <a:lnTo>
                  <a:pt x="4200300" y="3858600"/>
                </a:lnTo>
                <a:lnTo>
                  <a:pt x="0" y="38586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3" name="Google Shape;193;p5"/>
          <p:cNvSpPr/>
          <p:nvPr/>
        </p:nvSpPr>
        <p:spPr>
          <a:xfrm>
            <a:off x="226700" y="4083475"/>
            <a:ext cx="2153400" cy="388800"/>
          </a:xfrm>
          <a:custGeom>
            <a:rect b="b" l="l" r="r" t="t"/>
            <a:pathLst>
              <a:path extrusionOk="0" h="388800" w="2153400">
                <a:moveTo>
                  <a:pt x="0" y="0"/>
                </a:moveTo>
                <a:lnTo>
                  <a:pt x="2153400" y="0"/>
                </a:lnTo>
                <a:lnTo>
                  <a:pt x="2153400" y="388800"/>
                </a:lnTo>
                <a:lnTo>
                  <a:pt x="0" y="388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4" name="Google Shape;194;p5"/>
          <p:cNvSpPr/>
          <p:nvPr/>
        </p:nvSpPr>
        <p:spPr>
          <a:xfrm>
            <a:off x="4900350" y="2357575"/>
            <a:ext cx="978648" cy="978648"/>
          </a:xfrm>
          <a:custGeom>
            <a:rect b="b" l="l" r="r" t="t"/>
            <a:pathLst>
              <a:path extrusionOk="0" h="978648" w="978648">
                <a:moveTo>
                  <a:pt x="0" y="0"/>
                </a:moveTo>
                <a:lnTo>
                  <a:pt x="978648" y="0"/>
                </a:lnTo>
                <a:lnTo>
                  <a:pt x="978648" y="978648"/>
                </a:lnTo>
                <a:lnTo>
                  <a:pt x="0" y="97864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5" name="Google Shape;195;p5"/>
          <p:cNvSpPr/>
          <p:nvPr/>
        </p:nvSpPr>
        <p:spPr>
          <a:xfrm>
            <a:off x="4876671" y="3109955"/>
            <a:ext cx="978648" cy="97864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 name="Google Shape;196;p5"/>
          <p:cNvSpPr/>
          <p:nvPr/>
        </p:nvSpPr>
        <p:spPr>
          <a:xfrm>
            <a:off x="4929625" y="3664200"/>
            <a:ext cx="978648" cy="849807"/>
          </a:xfrm>
          <a:custGeom>
            <a:rect b="b" l="l" r="r" t="t"/>
            <a:pathLst>
              <a:path extrusionOk="0" h="849807" w="978648">
                <a:moveTo>
                  <a:pt x="0" y="0"/>
                </a:moveTo>
                <a:lnTo>
                  <a:pt x="978648" y="0"/>
                </a:lnTo>
                <a:lnTo>
                  <a:pt x="978648" y="849807"/>
                </a:lnTo>
                <a:lnTo>
                  <a:pt x="0" y="849807"/>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7" name="Google Shape;197;p5"/>
          <p:cNvSpPr txBox="1"/>
          <p:nvPr/>
        </p:nvSpPr>
        <p:spPr>
          <a:xfrm>
            <a:off x="631642" y="2448611"/>
            <a:ext cx="3447907" cy="181884"/>
          </a:xfrm>
          <a:prstGeom prst="rect">
            <a:avLst/>
          </a:prstGeom>
          <a:noFill/>
          <a:ln>
            <a:noFill/>
          </a:ln>
        </p:spPr>
        <p:txBody>
          <a:bodyPr anchorCtr="0" anchor="t" bIns="0" lIns="0" spcFirstLastPara="1" rIns="0" wrap="square" tIns="8525">
            <a:noAutofit/>
          </a:bodyPr>
          <a:lstStyle/>
          <a:p>
            <a:pPr indent="0" lvl="0" marL="12700" marR="0" rtl="0" algn="l">
              <a:lnSpc>
                <a:spcPct val="96071"/>
              </a:lnSpc>
              <a:spcBef>
                <a:spcPts val="0"/>
              </a:spcBef>
              <a:spcAft>
                <a:spcPts val="0"/>
              </a:spcAft>
              <a:buClr>
                <a:srgbClr val="000000"/>
              </a:buClr>
              <a:buSzPts val="1400"/>
              <a:buFont typeface="Arial"/>
              <a:buNone/>
            </a:pPr>
            <a:r>
              <a:rPr b="1" i="0" lang="es-ES" sz="1400" u="none" cap="none" strike="noStrike">
                <a:solidFill>
                  <a:schemeClr val="dk1"/>
                </a:solidFill>
                <a:latin typeface="Calibri"/>
                <a:ea typeface="Calibri"/>
                <a:cs typeface="Calibri"/>
                <a:sym typeface="Calibri"/>
              </a:rPr>
              <a:t>Factores que facilitan el sobre turismo</a:t>
            </a:r>
            <a:endParaRPr b="0" i="0" sz="1400" u="none" cap="none" strike="noStrike">
              <a:solidFill>
                <a:schemeClr val="dk1"/>
              </a:solidFill>
              <a:latin typeface="Calibri"/>
              <a:ea typeface="Calibri"/>
              <a:cs typeface="Calibri"/>
              <a:sym typeface="Calibri"/>
            </a:endParaRPr>
          </a:p>
        </p:txBody>
      </p:sp>
      <p:sp>
        <p:nvSpPr>
          <p:cNvPr id="198" name="Google Shape;198;p5"/>
          <p:cNvSpPr txBox="1"/>
          <p:nvPr/>
        </p:nvSpPr>
        <p:spPr>
          <a:xfrm>
            <a:off x="54133" y="3156504"/>
            <a:ext cx="1688700" cy="1103700"/>
          </a:xfrm>
          <a:prstGeom prst="rect">
            <a:avLst/>
          </a:prstGeom>
          <a:noFill/>
          <a:ln>
            <a:noFill/>
          </a:ln>
        </p:spPr>
        <p:txBody>
          <a:bodyPr anchorCtr="0" anchor="t" bIns="0" lIns="0" spcFirstLastPara="1" rIns="0" wrap="square" tIns="6650">
            <a:noAutofit/>
          </a:bodyPr>
          <a:lstStyle/>
          <a:p>
            <a:pPr indent="0" lvl="0" marL="195460" marR="195591" rtl="0" algn="ctr">
              <a:lnSpc>
                <a:spcPct val="43750"/>
              </a:lnSpc>
              <a:spcBef>
                <a:spcPts val="0"/>
              </a:spcBef>
              <a:spcAft>
                <a:spcPts val="0"/>
              </a:spcAft>
              <a:buClr>
                <a:srgbClr val="000000"/>
              </a:buClr>
              <a:buSzPts val="2400"/>
              <a:buFont typeface="Arial"/>
              <a:buNone/>
            </a:pPr>
            <a:r>
              <a:rPr b="1" i="0" lang="es-ES" sz="2400" u="none" cap="none" strike="noStrike">
                <a:solidFill>
                  <a:schemeClr val="dk1"/>
                </a:solidFill>
                <a:latin typeface="Calibri"/>
                <a:ea typeface="Calibri"/>
                <a:cs typeface="Calibri"/>
                <a:sym typeface="Calibri"/>
              </a:rPr>
              <a:t>55 %</a:t>
            </a:r>
            <a:r>
              <a:rPr b="1" i="0" lang="es-ES" sz="1000" u="none" cap="none" strike="noStrike">
                <a:solidFill>
                  <a:schemeClr val="dk1"/>
                </a:solidFill>
                <a:latin typeface="Calibri"/>
                <a:ea typeface="Calibri"/>
                <a:cs typeface="Calibri"/>
                <a:sym typeface="Calibri"/>
              </a:rPr>
              <a:t> </a:t>
            </a:r>
            <a:endParaRPr b="1" i="0" sz="1000" u="none" cap="none" strike="noStrike">
              <a:solidFill>
                <a:schemeClr val="dk1"/>
              </a:solidFill>
              <a:latin typeface="Calibri"/>
              <a:ea typeface="Calibri"/>
              <a:cs typeface="Calibri"/>
              <a:sym typeface="Calibri"/>
            </a:endParaRPr>
          </a:p>
          <a:p>
            <a:pPr indent="0" lvl="0" marL="195460" marR="195591" rtl="0" algn="ctr">
              <a:lnSpc>
                <a:spcPct val="43750"/>
              </a:lnSpc>
              <a:spcBef>
                <a:spcPts val="0"/>
              </a:spcBef>
              <a:spcAft>
                <a:spcPts val="0"/>
              </a:spcAft>
              <a:buClr>
                <a:srgbClr val="000000"/>
              </a:buClr>
              <a:buSzPts val="1000"/>
              <a:buFont typeface="Arial"/>
              <a:buNone/>
            </a:pPr>
            <a:br>
              <a:rPr b="1" i="0" lang="es-ES" sz="1000" u="none" cap="none" strike="noStrike">
                <a:solidFill>
                  <a:schemeClr val="dk1"/>
                </a:solidFill>
                <a:latin typeface="Calibri"/>
                <a:ea typeface="Calibri"/>
                <a:cs typeface="Calibri"/>
                <a:sym typeface="Calibri"/>
              </a:rPr>
            </a:br>
            <a:r>
              <a:rPr b="1" i="0" lang="es-ES" sz="1000" u="none" cap="none" strike="noStrike">
                <a:solidFill>
                  <a:schemeClr val="dk1"/>
                </a:solidFill>
                <a:latin typeface="Calibri"/>
                <a:ea typeface="Calibri"/>
                <a:cs typeface="Calibri"/>
                <a:sym typeface="Calibri"/>
              </a:rPr>
              <a:t>de  turistas no conoce</a:t>
            </a:r>
            <a:endParaRPr b="1" i="0" sz="1000" u="none" cap="none" strike="noStrike">
              <a:solidFill>
                <a:schemeClr val="dk1"/>
              </a:solidFill>
              <a:latin typeface="Calibri"/>
              <a:ea typeface="Calibri"/>
              <a:cs typeface="Calibri"/>
              <a:sym typeface="Calibri"/>
            </a:endParaRPr>
          </a:p>
          <a:p>
            <a:pPr indent="0" lvl="0" marL="195460" marR="195591" rtl="0" algn="ctr">
              <a:lnSpc>
                <a:spcPct val="43750"/>
              </a:lnSpc>
              <a:spcBef>
                <a:spcPts val="0"/>
              </a:spcBef>
              <a:spcAft>
                <a:spcPts val="0"/>
              </a:spcAft>
              <a:buClr>
                <a:srgbClr val="000000"/>
              </a:buClr>
              <a:buSzPts val="1000"/>
              <a:buFont typeface="Arial"/>
              <a:buNone/>
            </a:pPr>
            <a:r>
              <a:t/>
            </a:r>
            <a:endParaRPr b="1" i="0" sz="1000" u="none" cap="none" strike="noStrike">
              <a:solidFill>
                <a:schemeClr val="dk1"/>
              </a:solidFill>
              <a:latin typeface="Calibri"/>
              <a:ea typeface="Calibri"/>
              <a:cs typeface="Calibri"/>
              <a:sym typeface="Calibri"/>
            </a:endParaRPr>
          </a:p>
          <a:p>
            <a:pPr indent="0" lvl="0" marL="195460" marR="195591" rtl="0" algn="ctr">
              <a:lnSpc>
                <a:spcPct val="43750"/>
              </a:lnSpc>
              <a:spcBef>
                <a:spcPts val="0"/>
              </a:spcBef>
              <a:spcAft>
                <a:spcPts val="0"/>
              </a:spcAft>
              <a:buClr>
                <a:srgbClr val="000000"/>
              </a:buClr>
              <a:buSzPts val="1000"/>
              <a:buFont typeface="Arial"/>
              <a:buNone/>
            </a:pPr>
            <a:r>
              <a:rPr b="1" i="0" lang="es-ES" sz="1000" u="none" cap="none" strike="noStrike">
                <a:solidFill>
                  <a:schemeClr val="dk1"/>
                </a:solidFill>
                <a:latin typeface="Calibri"/>
                <a:ea typeface="Calibri"/>
                <a:cs typeface="Calibri"/>
                <a:sym typeface="Calibri"/>
              </a:rPr>
              <a:t> los riesgos de seguridad</a:t>
            </a:r>
            <a:endParaRPr b="1" i="0" sz="1000" u="none" cap="none" strike="noStrike">
              <a:solidFill>
                <a:schemeClr val="dk1"/>
              </a:solidFill>
              <a:latin typeface="Calibri"/>
              <a:ea typeface="Calibri"/>
              <a:cs typeface="Calibri"/>
              <a:sym typeface="Calibri"/>
            </a:endParaRPr>
          </a:p>
          <a:p>
            <a:pPr indent="0" lvl="0" marL="195460" marR="195591" rtl="0" algn="ctr">
              <a:lnSpc>
                <a:spcPct val="43750"/>
              </a:lnSpc>
              <a:spcBef>
                <a:spcPts val="0"/>
              </a:spcBef>
              <a:spcAft>
                <a:spcPts val="0"/>
              </a:spcAft>
              <a:buClr>
                <a:srgbClr val="000000"/>
              </a:buClr>
              <a:buSzPts val="1000"/>
              <a:buFont typeface="Arial"/>
              <a:buNone/>
            </a:pPr>
            <a:r>
              <a:t/>
            </a:r>
            <a:endParaRPr b="1" i="0" sz="1000" u="none" cap="none" strike="noStrike">
              <a:solidFill>
                <a:schemeClr val="dk1"/>
              </a:solidFill>
              <a:latin typeface="Calibri"/>
              <a:ea typeface="Calibri"/>
              <a:cs typeface="Calibri"/>
              <a:sym typeface="Calibri"/>
            </a:endParaRPr>
          </a:p>
          <a:p>
            <a:pPr indent="0" lvl="0" marL="195461" marR="195592" rtl="0" algn="ctr">
              <a:lnSpc>
                <a:spcPct val="43750"/>
              </a:lnSpc>
              <a:spcBef>
                <a:spcPts val="0"/>
              </a:spcBef>
              <a:spcAft>
                <a:spcPts val="0"/>
              </a:spcAft>
              <a:buClr>
                <a:srgbClr val="000000"/>
              </a:buClr>
              <a:buSzPts val="1000"/>
              <a:buFont typeface="Arial"/>
              <a:buNone/>
            </a:pPr>
            <a:r>
              <a:rPr b="1" i="0" lang="es-ES" sz="1000" u="none" cap="none" strike="noStrike">
                <a:solidFill>
                  <a:schemeClr val="dk1"/>
                </a:solidFill>
                <a:latin typeface="Calibri"/>
                <a:ea typeface="Calibri"/>
                <a:cs typeface="Calibri"/>
                <a:sym typeface="Calibri"/>
              </a:rPr>
              <a:t> en zonas turísticas.</a:t>
            </a:r>
            <a:endParaRPr b="0" i="0" sz="1000" u="none" cap="none" strike="noStrike">
              <a:solidFill>
                <a:schemeClr val="dk1"/>
              </a:solidFill>
              <a:latin typeface="Calibri"/>
              <a:ea typeface="Calibri"/>
              <a:cs typeface="Calibri"/>
              <a:sym typeface="Calibri"/>
            </a:endParaRPr>
          </a:p>
        </p:txBody>
      </p:sp>
      <p:sp>
        <p:nvSpPr>
          <p:cNvPr id="199" name="Google Shape;199;p5"/>
          <p:cNvSpPr txBox="1"/>
          <p:nvPr/>
        </p:nvSpPr>
        <p:spPr>
          <a:xfrm>
            <a:off x="3126384" y="3137250"/>
            <a:ext cx="1343625" cy="747268"/>
          </a:xfrm>
          <a:prstGeom prst="rect">
            <a:avLst/>
          </a:prstGeom>
          <a:noFill/>
          <a:ln>
            <a:noFill/>
          </a:ln>
        </p:spPr>
        <p:txBody>
          <a:bodyPr anchorCtr="0" anchor="t" bIns="0" lIns="0" spcFirstLastPara="1" rIns="0" wrap="square" tIns="6650">
            <a:noAutofit/>
          </a:bodyPr>
          <a:lstStyle/>
          <a:p>
            <a:pPr indent="0" lvl="0" marL="0" marR="0" rtl="0" algn="ctr">
              <a:lnSpc>
                <a:spcPct val="43750"/>
              </a:lnSpc>
              <a:spcBef>
                <a:spcPts val="0"/>
              </a:spcBef>
              <a:spcAft>
                <a:spcPts val="0"/>
              </a:spcAft>
              <a:buClr>
                <a:srgbClr val="000000"/>
              </a:buClr>
              <a:buSzPts val="2400"/>
              <a:buFont typeface="Arial"/>
              <a:buNone/>
            </a:pPr>
            <a:r>
              <a:rPr b="1" i="0" lang="es-ES" sz="2400" u="none" cap="none" strike="noStrike">
                <a:solidFill>
                  <a:schemeClr val="dk1"/>
                </a:solidFill>
                <a:latin typeface="Calibri"/>
                <a:ea typeface="Calibri"/>
                <a:cs typeface="Calibri"/>
                <a:sym typeface="Calibri"/>
              </a:rPr>
              <a:t>82 %</a:t>
            </a:r>
            <a:r>
              <a:rPr b="1" i="0" lang="es-ES" sz="1000" u="none" cap="none" strike="noStrike">
                <a:solidFill>
                  <a:schemeClr val="dk1"/>
                </a:solidFill>
                <a:latin typeface="Calibri"/>
                <a:ea typeface="Calibri"/>
                <a:cs typeface="Calibri"/>
                <a:sym typeface="Calibri"/>
              </a:rPr>
              <a:t> </a:t>
            </a:r>
            <a:endParaRPr b="1" i="0" sz="1000" u="none" cap="none" strike="noStrike">
              <a:solidFill>
                <a:schemeClr val="dk1"/>
              </a:solidFill>
              <a:latin typeface="Calibri"/>
              <a:ea typeface="Calibri"/>
              <a:cs typeface="Calibri"/>
              <a:sym typeface="Calibri"/>
            </a:endParaRPr>
          </a:p>
          <a:p>
            <a:pPr indent="0" lvl="0" marL="0" marR="0" rtl="0" algn="ctr">
              <a:lnSpc>
                <a:spcPct val="104999"/>
              </a:lnSpc>
              <a:spcBef>
                <a:spcPts val="0"/>
              </a:spcBef>
              <a:spcAft>
                <a:spcPts val="0"/>
              </a:spcAft>
              <a:buClr>
                <a:srgbClr val="000000"/>
              </a:buClr>
              <a:buSzPts val="1000"/>
              <a:buFont typeface="Arial"/>
              <a:buNone/>
            </a:pPr>
            <a:r>
              <a:rPr b="1" i="0" lang="es-ES" sz="1000" u="none" cap="none" strike="noStrike">
                <a:solidFill>
                  <a:schemeClr val="dk1"/>
                </a:solidFill>
                <a:latin typeface="Calibri"/>
                <a:ea typeface="Calibri"/>
                <a:cs typeface="Calibri"/>
                <a:sym typeface="Calibri"/>
              </a:rPr>
              <a:t>de los turistas ignoran los horarios recomendados de visita.</a:t>
            </a:r>
            <a:endParaRPr b="0" i="0" sz="1000" u="none" cap="none" strike="noStrike">
              <a:solidFill>
                <a:schemeClr val="dk1"/>
              </a:solidFill>
              <a:latin typeface="Calibri"/>
              <a:ea typeface="Calibri"/>
              <a:cs typeface="Calibri"/>
              <a:sym typeface="Calibri"/>
            </a:endParaRPr>
          </a:p>
        </p:txBody>
      </p:sp>
      <p:sp>
        <p:nvSpPr>
          <p:cNvPr id="200" name="Google Shape;200;p5"/>
          <p:cNvSpPr txBox="1"/>
          <p:nvPr/>
        </p:nvSpPr>
        <p:spPr>
          <a:xfrm>
            <a:off x="1625514" y="3149333"/>
            <a:ext cx="1541700" cy="1058400"/>
          </a:xfrm>
          <a:prstGeom prst="rect">
            <a:avLst/>
          </a:prstGeom>
          <a:noFill/>
          <a:ln>
            <a:noFill/>
          </a:ln>
        </p:spPr>
        <p:txBody>
          <a:bodyPr anchorCtr="0" anchor="t" bIns="0" lIns="0" spcFirstLastPara="1" rIns="0" wrap="square" tIns="6650">
            <a:noAutofit/>
          </a:bodyPr>
          <a:lstStyle/>
          <a:p>
            <a:pPr indent="0" lvl="0" marL="0" marR="0" rtl="0" algn="ctr">
              <a:lnSpc>
                <a:spcPct val="43750"/>
              </a:lnSpc>
              <a:spcBef>
                <a:spcPts val="0"/>
              </a:spcBef>
              <a:spcAft>
                <a:spcPts val="0"/>
              </a:spcAft>
              <a:buClr>
                <a:srgbClr val="000000"/>
              </a:buClr>
              <a:buSzPts val="2400"/>
              <a:buFont typeface="Arial"/>
              <a:buNone/>
            </a:pPr>
            <a:r>
              <a:rPr b="1" i="0" lang="es-ES" sz="2400" u="none" cap="none" strike="noStrike">
                <a:solidFill>
                  <a:schemeClr val="dk1"/>
                </a:solidFill>
                <a:latin typeface="Calibri"/>
                <a:ea typeface="Calibri"/>
                <a:cs typeface="Calibri"/>
                <a:sym typeface="Calibri"/>
              </a:rPr>
              <a:t>68 %</a:t>
            </a:r>
            <a:r>
              <a:rPr b="1" i="0" lang="es-ES" sz="1000" u="none" cap="none" strike="noStrike">
                <a:solidFill>
                  <a:schemeClr val="dk1"/>
                </a:solidFill>
                <a:latin typeface="Calibri"/>
                <a:ea typeface="Calibri"/>
                <a:cs typeface="Calibri"/>
                <a:sym typeface="Calibri"/>
              </a:rPr>
              <a:t> </a:t>
            </a:r>
            <a:endParaRPr b="1" i="0" sz="1000" u="none" cap="none" strike="noStrike">
              <a:solidFill>
                <a:schemeClr val="dk1"/>
              </a:solidFill>
              <a:latin typeface="Calibri"/>
              <a:ea typeface="Calibri"/>
              <a:cs typeface="Calibri"/>
              <a:sym typeface="Calibri"/>
            </a:endParaRPr>
          </a:p>
          <a:p>
            <a:pPr indent="0" lvl="0" marL="0" marR="0" rtl="0" algn="ctr">
              <a:lnSpc>
                <a:spcPct val="43750"/>
              </a:lnSpc>
              <a:spcBef>
                <a:spcPts val="0"/>
              </a:spcBef>
              <a:spcAft>
                <a:spcPts val="0"/>
              </a:spcAft>
              <a:buClr>
                <a:srgbClr val="000000"/>
              </a:buClr>
              <a:buSzPts val="1000"/>
              <a:buFont typeface="Arial"/>
              <a:buNone/>
            </a:pPr>
            <a:r>
              <a:t/>
            </a:r>
            <a:endParaRPr b="1" i="0" sz="1000" u="none" cap="none" strike="noStrike">
              <a:solidFill>
                <a:schemeClr val="dk1"/>
              </a:solidFill>
              <a:latin typeface="Calibri"/>
              <a:ea typeface="Calibri"/>
              <a:cs typeface="Calibri"/>
              <a:sym typeface="Calibri"/>
            </a:endParaRPr>
          </a:p>
          <a:p>
            <a:pPr indent="0" lvl="0" marL="0" marR="0" rtl="0" algn="ctr">
              <a:lnSpc>
                <a:spcPct val="104999"/>
              </a:lnSpc>
              <a:spcBef>
                <a:spcPts val="0"/>
              </a:spcBef>
              <a:spcAft>
                <a:spcPts val="0"/>
              </a:spcAft>
              <a:buClr>
                <a:srgbClr val="000000"/>
              </a:buClr>
              <a:buSzPts val="1000"/>
              <a:buFont typeface="Arial"/>
              <a:buNone/>
            </a:pPr>
            <a:r>
              <a:rPr b="1" i="0" lang="es-ES" sz="1000" u="none" cap="none" strike="noStrike">
                <a:solidFill>
                  <a:schemeClr val="dk1"/>
                </a:solidFill>
                <a:latin typeface="Calibri"/>
                <a:ea typeface="Calibri"/>
                <a:cs typeface="Calibri"/>
                <a:sym typeface="Calibri"/>
              </a:rPr>
              <a:t>de los turistas no conoce sobre rutas alternativas.</a:t>
            </a:r>
            <a:endParaRPr b="0" i="0" sz="1000" u="none" cap="none" strike="noStrike">
              <a:solidFill>
                <a:schemeClr val="dk1"/>
              </a:solidFill>
              <a:latin typeface="Calibri"/>
              <a:ea typeface="Calibri"/>
              <a:cs typeface="Calibri"/>
              <a:sym typeface="Calibri"/>
            </a:endParaRPr>
          </a:p>
        </p:txBody>
      </p:sp>
      <p:sp>
        <p:nvSpPr>
          <p:cNvPr id="201" name="Google Shape;201;p5"/>
          <p:cNvSpPr txBox="1"/>
          <p:nvPr/>
        </p:nvSpPr>
        <p:spPr>
          <a:xfrm>
            <a:off x="193067" y="73871"/>
            <a:ext cx="51835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PROBLEMA</a:t>
            </a:r>
            <a:endParaRPr b="1" i="0" sz="2400" u="none" cap="none" strike="noStrike">
              <a:solidFill>
                <a:schemeClr val="accent5"/>
              </a:solidFill>
              <a:latin typeface="Calibri"/>
              <a:ea typeface="Calibri"/>
              <a:cs typeface="Calibri"/>
              <a:sym typeface="Calibri"/>
            </a:endParaRPr>
          </a:p>
        </p:txBody>
      </p:sp>
      <p:sp>
        <p:nvSpPr>
          <p:cNvPr id="202" name="Google Shape;202;p5"/>
          <p:cNvSpPr txBox="1"/>
          <p:nvPr/>
        </p:nvSpPr>
        <p:spPr>
          <a:xfrm>
            <a:off x="220033" y="564071"/>
            <a:ext cx="4264800" cy="16003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El overturismo se produce cuando la comuna de Valparaíso recibe un volumen de visitantes superior a su capacidad de gestión, provocando la saturación de la infraestructura urbana y generando impactos negativos en el medio ambiente, la economía local, el patrimonio cultural y la calidad de vida de los residentes.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Inédito estudio muestra cómo la bahía de Valparaíso acumula microplásticos  hace casi un siglo - La Tercera" id="203" name="Google Shape;203;p5"/>
          <p:cNvPicPr preferRelativeResize="0"/>
          <p:nvPr/>
        </p:nvPicPr>
        <p:blipFill rotWithShape="1">
          <a:blip r:embed="rId6">
            <a:alphaModFix/>
          </a:blip>
          <a:srcRect b="0" l="0" r="0" t="0"/>
          <a:stretch/>
        </p:blipFill>
        <p:spPr>
          <a:xfrm>
            <a:off x="4704159" y="672334"/>
            <a:ext cx="2173061" cy="1616898"/>
          </a:xfrm>
          <a:prstGeom prst="roundRect">
            <a:avLst>
              <a:gd fmla="val 4167" name="adj"/>
            </a:avLst>
          </a:prstGeom>
          <a:solidFill>
            <a:srgbClr val="FFFFFF"/>
          </a:solidFill>
          <a:ln cap="sq" cmpd="sng" w="76200">
            <a:solidFill>
              <a:srgbClr val="292929"/>
            </a:solidFill>
            <a:prstDash val="solid"/>
            <a:miter lim="800000"/>
            <a:headEnd len="sm" w="sm" type="none"/>
            <a:tailEnd len="sm" w="sm" type="none"/>
          </a:ln>
          <a:effectLst>
            <a:reflection blurRad="0" dir="5400000" dist="5000" endA="0" endPos="28000" kx="0" rotWithShape="0" algn="bl" stA="28000" stPos="0" sy="-100000" ky="0"/>
          </a:effectLst>
        </p:spPr>
      </p:pic>
      <p:sp>
        <p:nvSpPr>
          <p:cNvPr id="204" name="Google Shape;204;p5"/>
          <p:cNvSpPr txBox="1"/>
          <p:nvPr/>
        </p:nvSpPr>
        <p:spPr>
          <a:xfrm>
            <a:off x="6064714" y="3174420"/>
            <a:ext cx="2683372" cy="1463318"/>
          </a:xfrm>
          <a:prstGeom prst="rect">
            <a:avLst/>
          </a:prstGeom>
          <a:noFill/>
          <a:ln>
            <a:noFill/>
          </a:ln>
        </p:spPr>
        <p:txBody>
          <a:bodyPr anchorCtr="0" anchor="t" bIns="0" lIns="0" spcFirstLastPara="1" rIns="0" wrap="square" tIns="6650">
            <a:noAutofit/>
          </a:bodyPr>
          <a:lstStyle/>
          <a:p>
            <a:pPr indent="0" lvl="0" marL="0" marR="0" rtl="0" algn="ctr">
              <a:lnSpc>
                <a:spcPct val="43750"/>
              </a:lnSpc>
              <a:spcBef>
                <a:spcPts val="0"/>
              </a:spcBef>
              <a:spcAft>
                <a:spcPts val="0"/>
              </a:spcAft>
              <a:buClr>
                <a:srgbClr val="000000"/>
              </a:buClr>
              <a:buSzPts val="2400"/>
              <a:buFont typeface="Arial"/>
              <a:buNone/>
            </a:pPr>
            <a:r>
              <a:rPr b="1" i="0" lang="es-ES" sz="2400" u="none" cap="none" strike="noStrike">
                <a:solidFill>
                  <a:schemeClr val="dk1"/>
                </a:solidFill>
                <a:latin typeface="Calibri"/>
                <a:ea typeface="Calibri"/>
                <a:cs typeface="Calibri"/>
                <a:sym typeface="Calibri"/>
              </a:rPr>
              <a:t>34%</a:t>
            </a:r>
            <a:endParaRPr b="1" i="0" sz="1000" u="none" cap="none" strike="noStrike">
              <a:solidFill>
                <a:schemeClr val="dk1"/>
              </a:solidFill>
              <a:latin typeface="Calibri"/>
              <a:ea typeface="Calibri"/>
              <a:cs typeface="Calibri"/>
              <a:sym typeface="Calibri"/>
            </a:endParaRPr>
          </a:p>
          <a:p>
            <a:pPr indent="0" lvl="0" marL="0" marR="0" rtl="0" algn="ctr">
              <a:lnSpc>
                <a:spcPct val="104999"/>
              </a:lnSpc>
              <a:spcBef>
                <a:spcPts val="0"/>
              </a:spcBef>
              <a:spcAft>
                <a:spcPts val="0"/>
              </a:spcAft>
              <a:buClr>
                <a:srgbClr val="000000"/>
              </a:buClr>
              <a:buSzPts val="1000"/>
              <a:buFont typeface="Arial"/>
              <a:buNone/>
            </a:pPr>
            <a:r>
              <a:rPr b="1" i="0" lang="es-ES" sz="1000" u="none" cap="none" strike="noStrike">
                <a:solidFill>
                  <a:schemeClr val="dk1"/>
                </a:solidFill>
                <a:latin typeface="Calibri"/>
                <a:ea typeface="Calibri"/>
                <a:cs typeface="Calibri"/>
                <a:sym typeface="Calibri"/>
              </a:rPr>
              <a:t>de basura corresponde a residuos plásticos en playas locales.</a:t>
            </a:r>
            <a:endParaRPr b="0" i="0" sz="1000" u="none" cap="none" strike="noStrike">
              <a:solidFill>
                <a:schemeClr val="dk1"/>
              </a:solidFill>
              <a:latin typeface="Calibri"/>
              <a:ea typeface="Calibri"/>
              <a:cs typeface="Calibri"/>
              <a:sym typeface="Calibri"/>
            </a:endParaRPr>
          </a:p>
        </p:txBody>
      </p:sp>
      <p:sp>
        <p:nvSpPr>
          <p:cNvPr id="205" name="Google Shape;205;p5"/>
          <p:cNvSpPr/>
          <p:nvPr/>
        </p:nvSpPr>
        <p:spPr>
          <a:xfrm>
            <a:off x="5970914" y="2961566"/>
            <a:ext cx="2870972" cy="897854"/>
          </a:xfrm>
          <a:prstGeom prst="ellipse">
            <a:avLst/>
          </a:prstGeom>
          <a:solidFill>
            <a:srgbClr val="B7DEE8">
              <a:alpha val="9411"/>
            </a:srgbClr>
          </a:solidFill>
          <a:ln cap="flat" cmpd="sng" w="25400">
            <a:solidFill>
              <a:srgbClr val="B6DD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7"/>
          <p:cNvSpPr/>
          <p:nvPr/>
        </p:nvSpPr>
        <p:spPr>
          <a:xfrm>
            <a:off x="775" y="0"/>
            <a:ext cx="4717650" cy="5143499"/>
          </a:xfrm>
          <a:custGeom>
            <a:rect b="b" l="l" r="r" t="t"/>
            <a:pathLst>
              <a:path extrusionOk="0" h="5143499" w="4717650">
                <a:moveTo>
                  <a:pt x="4717650" y="0"/>
                </a:moveTo>
                <a:lnTo>
                  <a:pt x="0" y="0"/>
                </a:lnTo>
                <a:lnTo>
                  <a:pt x="0" y="5143499"/>
                </a:lnTo>
                <a:lnTo>
                  <a:pt x="4717650" y="5143499"/>
                </a:lnTo>
                <a:lnTo>
                  <a:pt x="471765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7"/>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7"/>
          <p:cNvSpPr/>
          <p:nvPr/>
        </p:nvSpPr>
        <p:spPr>
          <a:xfrm>
            <a:off x="4718425" y="0"/>
            <a:ext cx="4425574" cy="5143499"/>
          </a:xfrm>
          <a:custGeom>
            <a:rect b="b" l="l" r="r" t="t"/>
            <a:pathLst>
              <a:path extrusionOk="0" h="5143499" w="4425574">
                <a:moveTo>
                  <a:pt x="4425574" y="0"/>
                </a:moveTo>
                <a:lnTo>
                  <a:pt x="0" y="0"/>
                </a:lnTo>
                <a:lnTo>
                  <a:pt x="0" y="5143499"/>
                </a:lnTo>
                <a:lnTo>
                  <a:pt x="4425574" y="5143499"/>
                </a:lnTo>
                <a:lnTo>
                  <a:pt x="442557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7"/>
          <p:cNvSpPr/>
          <p:nvPr/>
        </p:nvSpPr>
        <p:spPr>
          <a:xfrm>
            <a:off x="4718425" y="0"/>
            <a:ext cx="4425574" cy="51435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7"/>
          <p:cNvSpPr/>
          <p:nvPr/>
        </p:nvSpPr>
        <p:spPr>
          <a:xfrm>
            <a:off x="226700" y="859325"/>
            <a:ext cx="4395000" cy="387300"/>
          </a:xfrm>
          <a:custGeom>
            <a:rect b="b" l="l" r="r" t="t"/>
            <a:pathLst>
              <a:path extrusionOk="0" h="387300" w="4395000">
                <a:moveTo>
                  <a:pt x="0" y="0"/>
                </a:moveTo>
                <a:lnTo>
                  <a:pt x="4395000" y="0"/>
                </a:lnTo>
                <a:lnTo>
                  <a:pt x="4395000" y="387300"/>
                </a:lnTo>
                <a:lnTo>
                  <a:pt x="0" y="3873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5" name="Google Shape;215;p7"/>
          <p:cNvSpPr/>
          <p:nvPr/>
        </p:nvSpPr>
        <p:spPr>
          <a:xfrm>
            <a:off x="226700" y="1231150"/>
            <a:ext cx="4265100" cy="3050700"/>
          </a:xfrm>
          <a:custGeom>
            <a:rect b="b" l="l" r="r" t="t"/>
            <a:pathLst>
              <a:path extrusionOk="0" h="3050700" w="4265100">
                <a:moveTo>
                  <a:pt x="0" y="0"/>
                </a:moveTo>
                <a:lnTo>
                  <a:pt x="4265100" y="0"/>
                </a:lnTo>
                <a:lnTo>
                  <a:pt x="4265100" y="3050700"/>
                </a:lnTo>
                <a:lnTo>
                  <a:pt x="0" y="30507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6" name="Google Shape;216;p7"/>
          <p:cNvSpPr/>
          <p:nvPr/>
        </p:nvSpPr>
        <p:spPr>
          <a:xfrm>
            <a:off x="108778" y="85475"/>
            <a:ext cx="2509600" cy="713125"/>
          </a:xfrm>
          <a:custGeom>
            <a:rect b="b" l="l" r="r" t="t"/>
            <a:pathLst>
              <a:path extrusionOk="0" h="713125" w="2509600">
                <a:moveTo>
                  <a:pt x="0" y="0"/>
                </a:moveTo>
                <a:lnTo>
                  <a:pt x="2509600" y="0"/>
                </a:lnTo>
                <a:lnTo>
                  <a:pt x="2509600" y="713125"/>
                </a:lnTo>
                <a:lnTo>
                  <a:pt x="0" y="7131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7" name="Google Shape;217;p7"/>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8" name="Google Shape;218;p7"/>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9" name="Google Shape;219;p7"/>
          <p:cNvSpPr/>
          <p:nvPr/>
        </p:nvSpPr>
        <p:spPr>
          <a:xfrm>
            <a:off x="193067" y="4643876"/>
            <a:ext cx="372243" cy="41796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7"/>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p7"/>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p7"/>
          <p:cNvSpPr/>
          <p:nvPr/>
        </p:nvSpPr>
        <p:spPr>
          <a:xfrm>
            <a:off x="5022623" y="1106925"/>
            <a:ext cx="1641273" cy="1617350"/>
          </a:xfrm>
          <a:custGeom>
            <a:rect b="b" l="l" r="r" t="t"/>
            <a:pathLst>
              <a:path extrusionOk="0" h="1617350" w="1641273">
                <a:moveTo>
                  <a:pt x="0" y="0"/>
                </a:moveTo>
                <a:lnTo>
                  <a:pt x="1641273" y="0"/>
                </a:lnTo>
                <a:lnTo>
                  <a:pt x="1641273" y="1617350"/>
                </a:lnTo>
                <a:lnTo>
                  <a:pt x="0" y="161735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7"/>
          <p:cNvSpPr/>
          <p:nvPr/>
        </p:nvSpPr>
        <p:spPr>
          <a:xfrm>
            <a:off x="1395578" y="3217774"/>
            <a:ext cx="1641274" cy="161735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7"/>
          <p:cNvSpPr txBox="1"/>
          <p:nvPr/>
        </p:nvSpPr>
        <p:spPr>
          <a:xfrm>
            <a:off x="8756050" y="4733180"/>
            <a:ext cx="124968" cy="149860"/>
          </a:xfrm>
          <a:prstGeom prst="rect">
            <a:avLst/>
          </a:prstGeom>
          <a:noFill/>
          <a:ln>
            <a:noFill/>
          </a:ln>
        </p:spPr>
        <p:txBody>
          <a:bodyPr anchorCtr="0" anchor="t" bIns="0" lIns="0" spcFirstLastPara="1" rIns="0" wrap="square" tIns="6650">
            <a:noAutofit/>
          </a:bodyPr>
          <a:lstStyle/>
          <a:p>
            <a:pPr indent="0" lvl="0" marL="12700" marR="0" rtl="0" algn="l">
              <a:lnSpc>
                <a:spcPct val="104999"/>
              </a:lnSpc>
              <a:spcBef>
                <a:spcPts val="0"/>
              </a:spcBef>
              <a:spcAft>
                <a:spcPts val="0"/>
              </a:spcAft>
              <a:buClr>
                <a:srgbClr val="000000"/>
              </a:buClr>
              <a:buSzPts val="1000"/>
              <a:buFont typeface="Arial"/>
              <a:buNone/>
            </a:pPr>
            <a:r>
              <a:rPr b="1" i="0" lang="es-ES" sz="1000" u="none" cap="none" strike="noStrike">
                <a:solidFill>
                  <a:srgbClr val="FFFFFF"/>
                </a:solidFill>
                <a:latin typeface="Times New Roman"/>
                <a:ea typeface="Times New Roman"/>
                <a:cs typeface="Times New Roman"/>
                <a:sym typeface="Times New Roman"/>
              </a:rPr>
              <a:t>4</a:t>
            </a:r>
            <a:endParaRPr b="0" i="0" sz="1000" u="none" cap="none" strike="noStrike">
              <a:solidFill>
                <a:schemeClr val="dk1"/>
              </a:solidFill>
              <a:latin typeface="Times New Roman"/>
              <a:ea typeface="Times New Roman"/>
              <a:cs typeface="Times New Roman"/>
              <a:sym typeface="Times New Roman"/>
            </a:endParaRPr>
          </a:p>
        </p:txBody>
      </p:sp>
      <p:sp>
        <p:nvSpPr>
          <p:cNvPr id="225" name="Google Shape;225;p7"/>
          <p:cNvSpPr txBox="1"/>
          <p:nvPr/>
        </p:nvSpPr>
        <p:spPr>
          <a:xfrm>
            <a:off x="193066" y="73871"/>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NECESIDAD</a:t>
            </a:r>
            <a:endParaRPr b="1" i="0" sz="2400" u="none" cap="none" strike="noStrike">
              <a:solidFill>
                <a:schemeClr val="accent5"/>
              </a:solidFill>
              <a:latin typeface="Calibri"/>
              <a:ea typeface="Calibri"/>
              <a:cs typeface="Calibri"/>
              <a:sym typeface="Calibri"/>
            </a:endParaRPr>
          </a:p>
        </p:txBody>
      </p:sp>
      <p:sp>
        <p:nvSpPr>
          <p:cNvPr id="226" name="Google Shape;226;p7"/>
          <p:cNvSpPr txBox="1"/>
          <p:nvPr/>
        </p:nvSpPr>
        <p:spPr>
          <a:xfrm>
            <a:off x="173775" y="695152"/>
            <a:ext cx="4428634"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Valparaíso al recibir 4.000.000 de visitantes al año, requiere una gestión más eficiente y sostenible del turismo, que permita controlar la afluencia de visitantes, reducir el impacto ambiental, preservar la identidad cultural y económica de la ciudad.</a:t>
            </a:r>
            <a:endParaRPr b="0" i="0" sz="1400" u="none" cap="none" strike="noStrike">
              <a:solidFill>
                <a:schemeClr val="dk1"/>
              </a:solidFill>
              <a:latin typeface="Calibri"/>
              <a:ea typeface="Calibri"/>
              <a:cs typeface="Calibri"/>
              <a:sym typeface="Calibri"/>
            </a:endParaRPr>
          </a:p>
        </p:txBody>
      </p:sp>
      <p:sp>
        <p:nvSpPr>
          <p:cNvPr id="227" name="Google Shape;227;p7"/>
          <p:cNvSpPr txBox="1"/>
          <p:nvPr/>
        </p:nvSpPr>
        <p:spPr>
          <a:xfrm>
            <a:off x="144141" y="1864703"/>
            <a:ext cx="4428634"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La ciudad necesita una herramienta capaz de mantener la calidad de vida de los residentes y la experiencia auténtica de los visitantes.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Es urgente Monitorear a los turistas para evitar el overturismo en la comuna de Valparaíso.</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8"/>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3" name="Google Shape;233;p8"/>
          <p:cNvSpPr/>
          <p:nvPr/>
        </p:nvSpPr>
        <p:spPr>
          <a:xfrm>
            <a:off x="388"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p8"/>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8"/>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p8"/>
          <p:cNvSpPr/>
          <p:nvPr/>
        </p:nvSpPr>
        <p:spPr>
          <a:xfrm>
            <a:off x="4788313" y="276118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7" name="Google Shape;237;p8"/>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8"/>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9" name="Google Shape;239;p8"/>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8"/>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1" name="Google Shape;241;p8"/>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2" name="Google Shape;242;p8"/>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8"/>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p8"/>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5" name="Google Shape;245;p8"/>
          <p:cNvSpPr/>
          <p:nvPr/>
        </p:nvSpPr>
        <p:spPr>
          <a:xfrm>
            <a:off x="5463814" y="805462"/>
            <a:ext cx="766300" cy="79961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6" name="Google Shape;246;p8"/>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7" name="Google Shape;247;p8"/>
          <p:cNvSpPr/>
          <p:nvPr/>
        </p:nvSpPr>
        <p:spPr>
          <a:xfrm>
            <a:off x="3463844" y="3260257"/>
            <a:ext cx="688135" cy="596335"/>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p8"/>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9" name="Google Shape;249;p8"/>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0" name="Google Shape;250;p8"/>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1" name="Google Shape;251;p8"/>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p8"/>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3" name="Google Shape;253;p8"/>
          <p:cNvSpPr/>
          <p:nvPr/>
        </p:nvSpPr>
        <p:spPr>
          <a:xfrm>
            <a:off x="5962867" y="2520544"/>
            <a:ext cx="688200" cy="6882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p8"/>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8"/>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8"/>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p8"/>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8" name="Google Shape;258;p8"/>
          <p:cNvSpPr/>
          <p:nvPr/>
        </p:nvSpPr>
        <p:spPr>
          <a:xfrm>
            <a:off x="5480688" y="3346662"/>
            <a:ext cx="688123" cy="688099"/>
          </a:xfrm>
          <a:custGeom>
            <a:rect b="b" l="l" r="r" t="t"/>
            <a:pathLst>
              <a:path extrusionOk="0" h="688099" w="688123">
                <a:moveTo>
                  <a:pt x="0" y="0"/>
                </a:moveTo>
                <a:lnTo>
                  <a:pt x="688123" y="0"/>
                </a:lnTo>
                <a:lnTo>
                  <a:pt x="688123" y="688099"/>
                </a:lnTo>
                <a:lnTo>
                  <a:pt x="0" y="688099"/>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p8"/>
          <p:cNvSpPr/>
          <p:nvPr/>
        </p:nvSpPr>
        <p:spPr>
          <a:xfrm>
            <a:off x="1105105" y="3222503"/>
            <a:ext cx="688200" cy="688200"/>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p8"/>
          <p:cNvSpPr/>
          <p:nvPr/>
        </p:nvSpPr>
        <p:spPr>
          <a:xfrm>
            <a:off x="5284510" y="2870834"/>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p8"/>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2" name="Google Shape;262;p8"/>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3" name="Google Shape;263;p8"/>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p8"/>
          <p:cNvSpPr/>
          <p:nvPr/>
        </p:nvSpPr>
        <p:spPr>
          <a:xfrm>
            <a:off x="6745330" y="4224206"/>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p8"/>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6" name="Google Shape;266;p8"/>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7" name="Google Shape;267;p8"/>
          <p:cNvSpPr txBox="1"/>
          <p:nvPr/>
        </p:nvSpPr>
        <p:spPr>
          <a:xfrm>
            <a:off x="5024585" y="1687991"/>
            <a:ext cx="1656842" cy="246808"/>
          </a:xfrm>
          <a:prstGeom prst="rect">
            <a:avLst/>
          </a:prstGeom>
          <a:noFill/>
          <a:ln>
            <a:noFill/>
          </a:ln>
        </p:spPr>
        <p:txBody>
          <a:bodyPr anchorCtr="0" anchor="t" bIns="0" lIns="0" spcFirstLastPara="1" rIns="0" wrap="square" tIns="6850">
            <a:noAutofit/>
          </a:bodyPr>
          <a:lstStyle/>
          <a:p>
            <a:pPr indent="0" lvl="0" marL="12700" marR="0" rtl="0" algn="l">
              <a:lnSpc>
                <a:spcPct val="108000"/>
              </a:lnSpc>
              <a:spcBef>
                <a:spcPts val="0"/>
              </a:spcBef>
              <a:spcAft>
                <a:spcPts val="0"/>
              </a:spcAft>
              <a:buClr>
                <a:srgbClr val="000000"/>
              </a:buClr>
              <a:buSzPts val="1000"/>
              <a:buFont typeface="Arial"/>
              <a:buNone/>
            </a:pPr>
            <a:r>
              <a:rPr b="1" i="0" lang="es-ES" sz="1000" u="none" cap="none" strike="noStrike">
                <a:solidFill>
                  <a:srgbClr val="434343"/>
                </a:solidFill>
                <a:latin typeface="Calibri"/>
                <a:ea typeface="Calibri"/>
                <a:cs typeface="Calibri"/>
                <a:sym typeface="Calibri"/>
              </a:rPr>
              <a:t>Mapa de densidad en vivo</a:t>
            </a:r>
            <a:endParaRPr b="0" i="0" sz="1000" u="none" cap="none" strike="noStrike">
              <a:solidFill>
                <a:schemeClr val="dk1"/>
              </a:solidFill>
              <a:latin typeface="Calibri"/>
              <a:ea typeface="Calibri"/>
              <a:cs typeface="Calibri"/>
              <a:sym typeface="Calibri"/>
            </a:endParaRPr>
          </a:p>
        </p:txBody>
      </p:sp>
      <p:sp>
        <p:nvSpPr>
          <p:cNvPr id="268" name="Google Shape;268;p8"/>
          <p:cNvSpPr txBox="1"/>
          <p:nvPr/>
        </p:nvSpPr>
        <p:spPr>
          <a:xfrm>
            <a:off x="5006847" y="1842859"/>
            <a:ext cx="2031752" cy="233922"/>
          </a:xfrm>
          <a:prstGeom prst="rect">
            <a:avLst/>
          </a:prstGeom>
          <a:noFill/>
          <a:ln>
            <a:noFill/>
          </a:ln>
        </p:spPr>
        <p:txBody>
          <a:bodyPr anchorCtr="0" anchor="t" bIns="0" lIns="0" spcFirstLastPara="1" rIns="0" wrap="square" tIns="4975">
            <a:noAutofit/>
          </a:bodyPr>
          <a:lstStyle/>
          <a:p>
            <a:pPr indent="0" lvl="0" marL="12700" marR="0" rtl="0" algn="l">
              <a:lnSpc>
                <a:spcPct val="98125"/>
              </a:lnSpc>
              <a:spcBef>
                <a:spcPts val="0"/>
              </a:spcBef>
              <a:spcAft>
                <a:spcPts val="0"/>
              </a:spcAft>
              <a:buClr>
                <a:srgbClr val="000000"/>
              </a:buClr>
              <a:buSzPts val="800"/>
              <a:buFont typeface="Arial"/>
              <a:buNone/>
            </a:pPr>
            <a:r>
              <a:rPr b="0" i="0" lang="es-ES" sz="800" u="none" cap="none" strike="noStrike">
                <a:solidFill>
                  <a:srgbClr val="434343"/>
                </a:solidFill>
                <a:latin typeface="Calibri"/>
                <a:ea typeface="Calibri"/>
                <a:cs typeface="Calibri"/>
                <a:sym typeface="Calibri"/>
              </a:rPr>
              <a:t>Monitoreamos el ﬂujo de gente de forma</a:t>
            </a:r>
            <a:endParaRPr b="0" i="0" sz="800" u="none" cap="none" strike="noStrike">
              <a:solidFill>
                <a:schemeClr val="dk1"/>
              </a:solidFill>
              <a:latin typeface="Calibri"/>
              <a:ea typeface="Calibri"/>
              <a:cs typeface="Calibri"/>
              <a:sym typeface="Calibri"/>
            </a:endParaRPr>
          </a:p>
        </p:txBody>
      </p:sp>
      <p:sp>
        <p:nvSpPr>
          <p:cNvPr id="269" name="Google Shape;269;p8"/>
          <p:cNvSpPr txBox="1"/>
          <p:nvPr/>
        </p:nvSpPr>
        <p:spPr>
          <a:xfrm>
            <a:off x="4931990" y="1984946"/>
            <a:ext cx="1931630" cy="257074"/>
          </a:xfrm>
          <a:prstGeom prst="rect">
            <a:avLst/>
          </a:prstGeom>
          <a:noFill/>
          <a:ln>
            <a:noFill/>
          </a:ln>
        </p:spPr>
        <p:txBody>
          <a:bodyPr anchorCtr="0" anchor="t" bIns="0" lIns="0" spcFirstLastPara="1" rIns="0" wrap="square" tIns="4975">
            <a:noAutofit/>
          </a:bodyPr>
          <a:lstStyle/>
          <a:p>
            <a:pPr indent="0" lvl="0" marL="0" marR="0" rtl="0" algn="ctr">
              <a:lnSpc>
                <a:spcPct val="98125"/>
              </a:lnSpc>
              <a:spcBef>
                <a:spcPts val="0"/>
              </a:spcBef>
              <a:spcAft>
                <a:spcPts val="0"/>
              </a:spcAft>
              <a:buClr>
                <a:srgbClr val="000000"/>
              </a:buClr>
              <a:buSzPts val="800"/>
              <a:buFont typeface="Arial"/>
              <a:buNone/>
            </a:pPr>
            <a:r>
              <a:rPr b="0" i="0" lang="es-ES" sz="800" u="none" cap="none" strike="noStrike">
                <a:solidFill>
                  <a:srgbClr val="434343"/>
                </a:solidFill>
                <a:latin typeface="Calibri"/>
                <a:ea typeface="Calibri"/>
                <a:cs typeface="Calibri"/>
                <a:sym typeface="Calibri"/>
              </a:rPr>
              <a:t>histórica y en vivo para entregar</a:t>
            </a:r>
            <a:endParaRPr b="0" i="0" sz="800" u="none" cap="none" strike="noStrike">
              <a:solidFill>
                <a:schemeClr val="dk1"/>
              </a:solidFill>
              <a:latin typeface="Calibri"/>
              <a:ea typeface="Calibri"/>
              <a:cs typeface="Calibri"/>
              <a:sym typeface="Calibri"/>
            </a:endParaRPr>
          </a:p>
          <a:p>
            <a:pPr indent="0" lvl="0" marL="101773" marR="108652" rtl="0" algn="ctr">
              <a:lnSpc>
                <a:spcPct val="95825"/>
              </a:lnSpc>
              <a:spcBef>
                <a:spcPts val="0"/>
              </a:spcBef>
              <a:spcAft>
                <a:spcPts val="0"/>
              </a:spcAft>
              <a:buClr>
                <a:srgbClr val="000000"/>
              </a:buClr>
              <a:buSzPts val="800"/>
              <a:buFont typeface="Arial"/>
              <a:buNone/>
            </a:pPr>
            <a:r>
              <a:rPr b="0" i="0" lang="es-ES" sz="800" u="none" cap="none" strike="noStrike">
                <a:solidFill>
                  <a:srgbClr val="434343"/>
                </a:solidFill>
                <a:latin typeface="Calibri"/>
                <a:ea typeface="Calibri"/>
                <a:cs typeface="Calibri"/>
                <a:sym typeface="Calibri"/>
              </a:rPr>
              <a:t>información en tiempo real</a:t>
            </a:r>
            <a:endParaRPr b="0" i="0" sz="800" u="none" cap="none" strike="noStrike">
              <a:solidFill>
                <a:schemeClr val="dk1"/>
              </a:solidFill>
              <a:latin typeface="Calibri"/>
              <a:ea typeface="Calibri"/>
              <a:cs typeface="Calibri"/>
              <a:sym typeface="Calibri"/>
            </a:endParaRPr>
          </a:p>
        </p:txBody>
      </p:sp>
      <p:sp>
        <p:nvSpPr>
          <p:cNvPr id="270" name="Google Shape;270;p8"/>
          <p:cNvSpPr txBox="1"/>
          <p:nvPr/>
        </p:nvSpPr>
        <p:spPr>
          <a:xfrm>
            <a:off x="5436220" y="3306852"/>
            <a:ext cx="1778100" cy="152400"/>
          </a:xfrm>
          <a:prstGeom prst="rect">
            <a:avLst/>
          </a:prstGeom>
          <a:noFill/>
          <a:ln>
            <a:noFill/>
          </a:ln>
        </p:spPr>
        <p:txBody>
          <a:bodyPr anchorCtr="0" anchor="t" bIns="0" lIns="0" spcFirstLastPara="1" rIns="0" wrap="square" tIns="6850">
            <a:noAutofit/>
          </a:bodyPr>
          <a:lstStyle/>
          <a:p>
            <a:pPr indent="0" lvl="0" marL="12700" marR="0" rtl="0" algn="l">
              <a:lnSpc>
                <a:spcPct val="108000"/>
              </a:lnSpc>
              <a:spcBef>
                <a:spcPts val="0"/>
              </a:spcBef>
              <a:spcAft>
                <a:spcPts val="0"/>
              </a:spcAft>
              <a:buClr>
                <a:srgbClr val="000000"/>
              </a:buClr>
              <a:buSzPts val="1000"/>
              <a:buFont typeface="Arial"/>
              <a:buNone/>
            </a:pPr>
            <a:r>
              <a:rPr b="1" i="0" lang="es-ES" sz="1000" u="none" cap="none" strike="noStrike">
                <a:solidFill>
                  <a:srgbClr val="434343"/>
                </a:solidFill>
                <a:latin typeface="Calibri"/>
                <a:ea typeface="Calibri"/>
                <a:cs typeface="Calibri"/>
                <a:sym typeface="Calibri"/>
              </a:rPr>
              <a:t>Reduce el tiempo de espera</a:t>
            </a:r>
            <a:endParaRPr b="0" i="0" sz="1000" u="none" cap="none" strike="noStrike">
              <a:solidFill>
                <a:schemeClr val="dk1"/>
              </a:solidFill>
              <a:latin typeface="Calibri"/>
              <a:ea typeface="Calibri"/>
              <a:cs typeface="Calibri"/>
              <a:sym typeface="Calibri"/>
            </a:endParaRPr>
          </a:p>
        </p:txBody>
      </p:sp>
      <p:sp>
        <p:nvSpPr>
          <p:cNvPr id="271" name="Google Shape;271;p8"/>
          <p:cNvSpPr txBox="1"/>
          <p:nvPr/>
        </p:nvSpPr>
        <p:spPr>
          <a:xfrm>
            <a:off x="5420505" y="3489287"/>
            <a:ext cx="1999200" cy="392700"/>
          </a:xfrm>
          <a:prstGeom prst="rect">
            <a:avLst/>
          </a:prstGeom>
          <a:noFill/>
          <a:ln>
            <a:noFill/>
          </a:ln>
        </p:spPr>
        <p:txBody>
          <a:bodyPr anchorCtr="0" anchor="t" bIns="0" lIns="0" spcFirstLastPara="1" rIns="0" wrap="square" tIns="4975">
            <a:noAutofit/>
          </a:bodyPr>
          <a:lstStyle/>
          <a:p>
            <a:pPr indent="0" lvl="0" marL="12700" marR="0" rtl="0" algn="l">
              <a:lnSpc>
                <a:spcPct val="98125"/>
              </a:lnSpc>
              <a:spcBef>
                <a:spcPts val="0"/>
              </a:spcBef>
              <a:spcAft>
                <a:spcPts val="0"/>
              </a:spcAft>
              <a:buClr>
                <a:srgbClr val="000000"/>
              </a:buClr>
              <a:buSzPts val="800"/>
              <a:buFont typeface="Arial"/>
              <a:buNone/>
            </a:pPr>
            <a:r>
              <a:rPr b="0" i="0" lang="es-ES" sz="800" u="none" cap="none" strike="noStrike">
                <a:solidFill>
                  <a:srgbClr val="434343"/>
                </a:solidFill>
                <a:latin typeface="Calibri"/>
                <a:ea typeface="Calibri"/>
                <a:cs typeface="Calibri"/>
                <a:sym typeface="Calibri"/>
              </a:rPr>
              <a:t>Migratio  ayuda la planiﬁcación para visitar</a:t>
            </a:r>
            <a:endParaRPr b="0" i="0" sz="800" u="none" cap="none" strike="noStrike">
              <a:solidFill>
                <a:schemeClr val="dk1"/>
              </a:solidFill>
              <a:latin typeface="Calibri"/>
              <a:ea typeface="Calibri"/>
              <a:cs typeface="Calibri"/>
              <a:sym typeface="Calibri"/>
            </a:endParaRPr>
          </a:p>
        </p:txBody>
      </p:sp>
      <p:sp>
        <p:nvSpPr>
          <p:cNvPr id="272" name="Google Shape;272;p8"/>
          <p:cNvSpPr txBox="1"/>
          <p:nvPr/>
        </p:nvSpPr>
        <p:spPr>
          <a:xfrm>
            <a:off x="5373751" y="3641720"/>
            <a:ext cx="1668300" cy="198300"/>
          </a:xfrm>
          <a:prstGeom prst="rect">
            <a:avLst/>
          </a:prstGeom>
          <a:noFill/>
          <a:ln>
            <a:noFill/>
          </a:ln>
        </p:spPr>
        <p:txBody>
          <a:bodyPr anchorCtr="0" anchor="t" bIns="0" lIns="0" spcFirstLastPara="1" rIns="0" wrap="square" tIns="4975">
            <a:noAutofit/>
          </a:bodyPr>
          <a:lstStyle/>
          <a:p>
            <a:pPr indent="0" lvl="0" marL="0" marR="0" rtl="0" algn="ctr">
              <a:lnSpc>
                <a:spcPct val="98125"/>
              </a:lnSpc>
              <a:spcBef>
                <a:spcPts val="0"/>
              </a:spcBef>
              <a:spcAft>
                <a:spcPts val="0"/>
              </a:spcAft>
              <a:buClr>
                <a:srgbClr val="000000"/>
              </a:buClr>
              <a:buSzPts val="800"/>
              <a:buFont typeface="Arial"/>
              <a:buNone/>
            </a:pPr>
            <a:r>
              <a:rPr b="0" i="0" lang="es-ES" sz="800" u="none" cap="none" strike="noStrike">
                <a:solidFill>
                  <a:srgbClr val="434343"/>
                </a:solidFill>
                <a:latin typeface="Calibri"/>
                <a:ea typeface="Calibri"/>
                <a:cs typeface="Calibri"/>
                <a:sym typeface="Calibri"/>
              </a:rPr>
              <a:t>lugares, así mismo como organizar y</a:t>
            </a:r>
            <a:endParaRPr b="0" i="0" sz="800" u="none" cap="none" strike="noStrike">
              <a:solidFill>
                <a:schemeClr val="dk1"/>
              </a:solidFill>
              <a:latin typeface="Calibri"/>
              <a:ea typeface="Calibri"/>
              <a:cs typeface="Calibri"/>
              <a:sym typeface="Calibri"/>
            </a:endParaRPr>
          </a:p>
          <a:p>
            <a:pPr indent="0" lvl="0" marL="375255" marR="382350" rtl="0" algn="ctr">
              <a:lnSpc>
                <a:spcPct val="95825"/>
              </a:lnSpc>
              <a:spcBef>
                <a:spcPts val="0"/>
              </a:spcBef>
              <a:spcAft>
                <a:spcPts val="0"/>
              </a:spcAft>
              <a:buClr>
                <a:srgbClr val="000000"/>
              </a:buClr>
              <a:buSzPts val="800"/>
              <a:buFont typeface="Arial"/>
              <a:buNone/>
            </a:pPr>
            <a:r>
              <a:rPr b="0" i="0" lang="es-ES" sz="800" u="none" cap="none" strike="noStrike">
                <a:solidFill>
                  <a:srgbClr val="434343"/>
                </a:solidFill>
                <a:latin typeface="Calibri"/>
                <a:ea typeface="Calibri"/>
                <a:cs typeface="Calibri"/>
                <a:sym typeface="Calibri"/>
              </a:rPr>
              <a:t>optimizar su viaje</a:t>
            </a:r>
            <a:endParaRPr b="0" i="0" sz="800" u="none" cap="none" strike="noStrike">
              <a:solidFill>
                <a:schemeClr val="dk1"/>
              </a:solidFill>
              <a:latin typeface="Calibri"/>
              <a:ea typeface="Calibri"/>
              <a:cs typeface="Calibri"/>
              <a:sym typeface="Calibri"/>
            </a:endParaRPr>
          </a:p>
        </p:txBody>
      </p:sp>
      <p:sp>
        <p:nvSpPr>
          <p:cNvPr id="273" name="Google Shape;273;p8"/>
          <p:cNvSpPr txBox="1"/>
          <p:nvPr/>
        </p:nvSpPr>
        <p:spPr>
          <a:xfrm>
            <a:off x="617306" y="3924169"/>
            <a:ext cx="1803781" cy="152400"/>
          </a:xfrm>
          <a:prstGeom prst="rect">
            <a:avLst/>
          </a:prstGeom>
          <a:noFill/>
          <a:ln>
            <a:noFill/>
          </a:ln>
        </p:spPr>
        <p:txBody>
          <a:bodyPr anchorCtr="0" anchor="t" bIns="0" lIns="0" spcFirstLastPara="1" rIns="0" wrap="square" tIns="6850">
            <a:noAutofit/>
          </a:bodyPr>
          <a:lstStyle/>
          <a:p>
            <a:pPr indent="0" lvl="0" marL="12700" marR="0" rtl="0" algn="l">
              <a:lnSpc>
                <a:spcPct val="108000"/>
              </a:lnSpc>
              <a:spcBef>
                <a:spcPts val="0"/>
              </a:spcBef>
              <a:spcAft>
                <a:spcPts val="0"/>
              </a:spcAft>
              <a:buClr>
                <a:srgbClr val="000000"/>
              </a:buClr>
              <a:buSzPts val="1000"/>
              <a:buFont typeface="Arial"/>
              <a:buNone/>
            </a:pPr>
            <a:r>
              <a:rPr b="1" i="0" lang="es-ES" sz="1000" u="none" cap="none" strike="noStrike">
                <a:solidFill>
                  <a:srgbClr val="434343"/>
                </a:solidFill>
                <a:latin typeface="Calibri"/>
                <a:ea typeface="Calibri"/>
                <a:cs typeface="Calibri"/>
                <a:sym typeface="Calibri"/>
              </a:rPr>
              <a:t>Reducir la huella del turismo</a:t>
            </a:r>
            <a:endParaRPr b="0" i="0" sz="1000" u="none" cap="none" strike="noStrike">
              <a:solidFill>
                <a:schemeClr val="dk1"/>
              </a:solidFill>
              <a:latin typeface="Calibri"/>
              <a:ea typeface="Calibri"/>
              <a:cs typeface="Calibri"/>
              <a:sym typeface="Calibri"/>
            </a:endParaRPr>
          </a:p>
        </p:txBody>
      </p:sp>
      <p:sp>
        <p:nvSpPr>
          <p:cNvPr id="274" name="Google Shape;274;p8"/>
          <p:cNvSpPr txBox="1"/>
          <p:nvPr/>
        </p:nvSpPr>
        <p:spPr>
          <a:xfrm>
            <a:off x="3070440" y="3917583"/>
            <a:ext cx="1643634" cy="152400"/>
          </a:xfrm>
          <a:prstGeom prst="rect">
            <a:avLst/>
          </a:prstGeom>
          <a:noFill/>
          <a:ln>
            <a:noFill/>
          </a:ln>
        </p:spPr>
        <p:txBody>
          <a:bodyPr anchorCtr="0" anchor="t" bIns="0" lIns="0" spcFirstLastPara="1" rIns="0" wrap="square" tIns="6850">
            <a:noAutofit/>
          </a:bodyPr>
          <a:lstStyle/>
          <a:p>
            <a:pPr indent="0" lvl="0" marL="12700" marR="0" rtl="0" algn="l">
              <a:lnSpc>
                <a:spcPct val="108000"/>
              </a:lnSpc>
              <a:spcBef>
                <a:spcPts val="0"/>
              </a:spcBef>
              <a:spcAft>
                <a:spcPts val="0"/>
              </a:spcAft>
              <a:buClr>
                <a:srgbClr val="000000"/>
              </a:buClr>
              <a:buSzPts val="1000"/>
              <a:buFont typeface="Arial"/>
              <a:buNone/>
            </a:pPr>
            <a:r>
              <a:rPr b="1" i="0" lang="es-ES" sz="1000" u="none" cap="none" strike="noStrike">
                <a:solidFill>
                  <a:srgbClr val="434343"/>
                </a:solidFill>
                <a:latin typeface="Calibri"/>
                <a:ea typeface="Calibri"/>
                <a:cs typeface="Calibri"/>
                <a:sym typeface="Calibri"/>
              </a:rPr>
              <a:t>Activa comunidad en vivo</a:t>
            </a:r>
            <a:endParaRPr b="0" i="0" sz="1000" u="none" cap="none" strike="noStrike">
              <a:solidFill>
                <a:schemeClr val="dk1"/>
              </a:solidFill>
              <a:latin typeface="Calibri"/>
              <a:ea typeface="Calibri"/>
              <a:cs typeface="Calibri"/>
              <a:sym typeface="Calibri"/>
            </a:endParaRPr>
          </a:p>
        </p:txBody>
      </p:sp>
      <p:sp>
        <p:nvSpPr>
          <p:cNvPr id="275" name="Google Shape;275;p8"/>
          <p:cNvSpPr txBox="1"/>
          <p:nvPr/>
        </p:nvSpPr>
        <p:spPr>
          <a:xfrm>
            <a:off x="527233" y="4109615"/>
            <a:ext cx="1982700" cy="239700"/>
          </a:xfrm>
          <a:prstGeom prst="rect">
            <a:avLst/>
          </a:prstGeom>
          <a:noFill/>
          <a:ln>
            <a:noFill/>
          </a:ln>
        </p:spPr>
        <p:txBody>
          <a:bodyPr anchorCtr="0" anchor="t" bIns="0" lIns="0" spcFirstLastPara="1" rIns="0" wrap="square" tIns="4975">
            <a:noAutofit/>
          </a:bodyPr>
          <a:lstStyle/>
          <a:p>
            <a:pPr indent="0" lvl="0" marL="12700" marR="0" rtl="0" algn="l">
              <a:lnSpc>
                <a:spcPct val="98125"/>
              </a:lnSpc>
              <a:spcBef>
                <a:spcPts val="0"/>
              </a:spcBef>
              <a:spcAft>
                <a:spcPts val="0"/>
              </a:spcAft>
              <a:buClr>
                <a:srgbClr val="000000"/>
              </a:buClr>
              <a:buSzPts val="800"/>
              <a:buFont typeface="Arial"/>
              <a:buNone/>
            </a:pPr>
            <a:r>
              <a:rPr b="0" i="0" lang="es-ES" sz="800" u="none" cap="none" strike="noStrike">
                <a:solidFill>
                  <a:srgbClr val="434343"/>
                </a:solidFill>
                <a:latin typeface="Calibri"/>
                <a:ea typeface="Calibri"/>
                <a:cs typeface="Calibri"/>
                <a:sym typeface="Calibri"/>
              </a:rPr>
              <a:t>Dinámicamente distribuyendo los turistas</a:t>
            </a:r>
            <a:endParaRPr b="0" i="0" sz="800" u="none" cap="none" strike="noStrike">
              <a:solidFill>
                <a:schemeClr val="dk1"/>
              </a:solidFill>
              <a:latin typeface="Calibri"/>
              <a:ea typeface="Calibri"/>
              <a:cs typeface="Calibri"/>
              <a:sym typeface="Calibri"/>
            </a:endParaRPr>
          </a:p>
          <a:p>
            <a:pPr indent="0" lvl="0" marL="13144" marR="444" rtl="0" algn="l">
              <a:lnSpc>
                <a:spcPct val="95825"/>
              </a:lnSpc>
              <a:spcBef>
                <a:spcPts val="0"/>
              </a:spcBef>
              <a:spcAft>
                <a:spcPts val="0"/>
              </a:spcAft>
              <a:buClr>
                <a:srgbClr val="000000"/>
              </a:buClr>
              <a:buSzPts val="800"/>
              <a:buFont typeface="Arial"/>
              <a:buNone/>
            </a:pPr>
            <a:r>
              <a:rPr b="0" i="0" lang="es-ES" sz="800" u="none" cap="none" strike="noStrike">
                <a:solidFill>
                  <a:srgbClr val="434343"/>
                </a:solidFill>
                <a:latin typeface="Calibri"/>
                <a:ea typeface="Calibri"/>
                <a:cs typeface="Calibri"/>
                <a:sym typeface="Calibri"/>
              </a:rPr>
              <a:t>en sitios clave.  Migratio  ayuda a reducir el</a:t>
            </a:r>
            <a:endParaRPr b="0" i="0" sz="800" u="none" cap="none" strike="noStrike">
              <a:solidFill>
                <a:schemeClr val="dk1"/>
              </a:solidFill>
              <a:latin typeface="Calibri"/>
              <a:ea typeface="Calibri"/>
              <a:cs typeface="Calibri"/>
              <a:sym typeface="Calibri"/>
            </a:endParaRPr>
          </a:p>
        </p:txBody>
      </p:sp>
      <p:sp>
        <p:nvSpPr>
          <p:cNvPr id="276" name="Google Shape;276;p8"/>
          <p:cNvSpPr txBox="1"/>
          <p:nvPr/>
        </p:nvSpPr>
        <p:spPr>
          <a:xfrm>
            <a:off x="2791016" y="4106552"/>
            <a:ext cx="2016256" cy="326827"/>
          </a:xfrm>
          <a:prstGeom prst="rect">
            <a:avLst/>
          </a:prstGeom>
          <a:noFill/>
          <a:ln>
            <a:noFill/>
          </a:ln>
        </p:spPr>
        <p:txBody>
          <a:bodyPr anchorCtr="0" anchor="t" bIns="0" lIns="0" spcFirstLastPara="1" rIns="0" wrap="square" tIns="4975">
            <a:noAutofit/>
          </a:bodyPr>
          <a:lstStyle/>
          <a:p>
            <a:pPr indent="0" lvl="0" marL="0" marR="0" rtl="0" algn="ctr">
              <a:lnSpc>
                <a:spcPct val="98125"/>
              </a:lnSpc>
              <a:spcBef>
                <a:spcPts val="0"/>
              </a:spcBef>
              <a:spcAft>
                <a:spcPts val="0"/>
              </a:spcAft>
              <a:buClr>
                <a:srgbClr val="000000"/>
              </a:buClr>
              <a:buSzPts val="800"/>
              <a:buFont typeface="Arial"/>
              <a:buNone/>
            </a:pPr>
            <a:r>
              <a:rPr b="0" i="0" lang="es-ES" sz="800" u="none" cap="none" strike="noStrike">
                <a:solidFill>
                  <a:srgbClr val="434343"/>
                </a:solidFill>
                <a:latin typeface="Calibri"/>
                <a:ea typeface="Calibri"/>
                <a:cs typeface="Calibri"/>
                <a:sym typeface="Calibri"/>
              </a:rPr>
              <a:t>Buscamos crear una  comunidad en donde</a:t>
            </a:r>
            <a:endParaRPr b="0" i="0" sz="800" u="none" cap="none" strike="noStrike">
              <a:solidFill>
                <a:schemeClr val="dk1"/>
              </a:solidFill>
              <a:latin typeface="Calibri"/>
              <a:ea typeface="Calibri"/>
              <a:cs typeface="Calibri"/>
              <a:sym typeface="Calibri"/>
            </a:endParaRPr>
          </a:p>
          <a:p>
            <a:pPr indent="0" lvl="0" marL="28312" marR="34826" rtl="0" algn="ctr">
              <a:lnSpc>
                <a:spcPct val="100041"/>
              </a:lnSpc>
              <a:spcBef>
                <a:spcPts val="0"/>
              </a:spcBef>
              <a:spcAft>
                <a:spcPts val="0"/>
              </a:spcAft>
              <a:buClr>
                <a:srgbClr val="000000"/>
              </a:buClr>
              <a:buSzPts val="800"/>
              <a:buFont typeface="Arial"/>
              <a:buNone/>
            </a:pPr>
            <a:r>
              <a:rPr b="0" i="0" lang="es-ES" sz="800" u="none" cap="none" strike="noStrike">
                <a:solidFill>
                  <a:srgbClr val="434343"/>
                </a:solidFill>
                <a:latin typeface="Calibri"/>
                <a:ea typeface="Calibri"/>
                <a:cs typeface="Calibri"/>
                <a:sym typeface="Calibri"/>
              </a:rPr>
              <a:t>cada usuario tiene un impacto positivo al momento de viajar.</a:t>
            </a:r>
            <a:endParaRPr b="0" i="0" sz="800" u="none" cap="none" strike="noStrike">
              <a:solidFill>
                <a:schemeClr val="dk1"/>
              </a:solidFill>
              <a:latin typeface="Calibri"/>
              <a:ea typeface="Calibri"/>
              <a:cs typeface="Calibri"/>
              <a:sym typeface="Calibri"/>
            </a:endParaRPr>
          </a:p>
        </p:txBody>
      </p:sp>
      <p:sp>
        <p:nvSpPr>
          <p:cNvPr id="277" name="Google Shape;277;p8"/>
          <p:cNvSpPr txBox="1"/>
          <p:nvPr/>
        </p:nvSpPr>
        <p:spPr>
          <a:xfrm>
            <a:off x="962469" y="4355359"/>
            <a:ext cx="973472" cy="103717"/>
          </a:xfrm>
          <a:prstGeom prst="rect">
            <a:avLst/>
          </a:prstGeom>
          <a:noFill/>
          <a:ln>
            <a:noFill/>
          </a:ln>
        </p:spPr>
        <p:txBody>
          <a:bodyPr anchorCtr="0" anchor="t" bIns="0" lIns="0" spcFirstLastPara="1" rIns="0" wrap="square" tIns="4975">
            <a:noAutofit/>
          </a:bodyPr>
          <a:lstStyle/>
          <a:p>
            <a:pPr indent="0" lvl="0" marL="12700" marR="0" rtl="0" algn="l">
              <a:lnSpc>
                <a:spcPct val="98125"/>
              </a:lnSpc>
              <a:spcBef>
                <a:spcPts val="0"/>
              </a:spcBef>
              <a:spcAft>
                <a:spcPts val="0"/>
              </a:spcAft>
              <a:buClr>
                <a:srgbClr val="000000"/>
              </a:buClr>
              <a:buSzPts val="800"/>
              <a:buFont typeface="Arial"/>
              <a:buNone/>
            </a:pPr>
            <a:r>
              <a:rPr b="0" i="0" lang="es-ES" sz="800" u="none" cap="none" strike="noStrike">
                <a:solidFill>
                  <a:srgbClr val="434343"/>
                </a:solidFill>
                <a:latin typeface="Calibri"/>
                <a:ea typeface="Calibri"/>
                <a:cs typeface="Calibri"/>
                <a:sym typeface="Calibri"/>
              </a:rPr>
              <a:t>impacto turístico</a:t>
            </a:r>
            <a:r>
              <a:rPr b="0" i="0" lang="es-ES" sz="700" u="none" cap="none" strike="noStrike">
                <a:solidFill>
                  <a:srgbClr val="434343"/>
                </a:solidFill>
                <a:latin typeface="Calibri"/>
                <a:ea typeface="Calibri"/>
                <a:cs typeface="Calibri"/>
                <a:sym typeface="Calibri"/>
              </a:rPr>
              <a:t>.</a:t>
            </a:r>
            <a:endParaRPr b="0" i="0" sz="700" u="none" cap="none" strike="noStrike">
              <a:solidFill>
                <a:schemeClr val="dk1"/>
              </a:solidFill>
              <a:latin typeface="Calibri"/>
              <a:ea typeface="Calibri"/>
              <a:cs typeface="Calibri"/>
              <a:sym typeface="Calibri"/>
            </a:endParaRPr>
          </a:p>
        </p:txBody>
      </p:sp>
      <p:sp>
        <p:nvSpPr>
          <p:cNvPr id="278" name="Google Shape;278;p8"/>
          <p:cNvSpPr txBox="1"/>
          <p:nvPr/>
        </p:nvSpPr>
        <p:spPr>
          <a:xfrm>
            <a:off x="250814" y="16666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SOLUCIÓN</a:t>
            </a:r>
            <a:endParaRPr b="1" i="0" sz="2400" u="none" cap="none" strike="noStrike">
              <a:solidFill>
                <a:schemeClr val="accent5"/>
              </a:solidFill>
              <a:latin typeface="Calibri"/>
              <a:ea typeface="Calibri"/>
              <a:cs typeface="Calibri"/>
              <a:sym typeface="Calibri"/>
            </a:endParaRPr>
          </a:p>
        </p:txBody>
      </p:sp>
      <p:sp>
        <p:nvSpPr>
          <p:cNvPr id="279" name="Google Shape;279;p8"/>
          <p:cNvSpPr txBox="1"/>
          <p:nvPr/>
        </p:nvSpPr>
        <p:spPr>
          <a:xfrm>
            <a:off x="198679" y="686859"/>
            <a:ext cx="4762021"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Migratio es una innovadora aplicación móvil que combina tecnología avanzada e inteligencia artificial en cámaras de seguridad para enfrentar el overturismo de manera eficiente. Nuestra plataforma no solo monitorea los flujos de visitantes en tiempo real, sino que también ofrece soluciones inteligentes para distribuir la afluencia turística, proteger el patrimonio cultural y natural, y garantizar una experiencia de viaje más sostenible y segura para todos. Con Migratio, transformamos la gestión del turismo en un modelo innovador, responsable y escalable, que beneficia tanto a las comunidades locales como a los turistas.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9"/>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9"/>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6" name="Google Shape;286;p9"/>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9"/>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p9"/>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p9"/>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0" name="Google Shape;290;p9"/>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1" name="Google Shape;291;p9"/>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2" name="Google Shape;292;p9"/>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3" name="Google Shape;293;p9"/>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4" name="Google Shape;294;p9"/>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5" name="Google Shape;295;p9"/>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6" name="Google Shape;296;p9"/>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7" name="Google Shape;297;p9"/>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8" name="Google Shape;298;p9"/>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9"/>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p9"/>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1" name="Google Shape;301;p9"/>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2" name="Google Shape;302;p9"/>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3" name="Google Shape;303;p9"/>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4" name="Google Shape;304;p9"/>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9"/>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6" name="Google Shape;306;p9"/>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7" name="Google Shape;307;p9"/>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8" name="Google Shape;308;p9"/>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p9"/>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p9"/>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p9"/>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2" name="Google Shape;312;p9"/>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3" name="Google Shape;313;p9"/>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4" name="Google Shape;314;p9"/>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5" name="Google Shape;315;p9"/>
          <p:cNvSpPr txBox="1"/>
          <p:nvPr/>
        </p:nvSpPr>
        <p:spPr>
          <a:xfrm>
            <a:off x="775" y="15878"/>
            <a:ext cx="914322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ARQUITECTURA</a:t>
            </a:r>
            <a:endParaRPr b="1" i="0" sz="2400" u="none" cap="none" strike="noStrike">
              <a:solidFill>
                <a:schemeClr val="accent5"/>
              </a:solidFill>
              <a:latin typeface="Calibri"/>
              <a:ea typeface="Calibri"/>
              <a:cs typeface="Calibri"/>
              <a:sym typeface="Calibri"/>
            </a:endParaRPr>
          </a:p>
        </p:txBody>
      </p:sp>
      <p:pic>
        <p:nvPicPr>
          <p:cNvPr id="316" name="Google Shape;316;p9"/>
          <p:cNvPicPr preferRelativeResize="0"/>
          <p:nvPr/>
        </p:nvPicPr>
        <p:blipFill rotWithShape="1">
          <a:blip r:embed="rId5">
            <a:alphaModFix/>
          </a:blip>
          <a:srcRect b="0" l="0" r="0" t="0"/>
          <a:stretch/>
        </p:blipFill>
        <p:spPr>
          <a:xfrm>
            <a:off x="1120494" y="864749"/>
            <a:ext cx="6891951" cy="3255998"/>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0"/>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2" name="Google Shape;322;p10"/>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10"/>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4" name="Google Shape;324;p10"/>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5" name="Google Shape;325;p10"/>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6" name="Google Shape;326;p10"/>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0"/>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8" name="Google Shape;328;p10"/>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9" name="Google Shape;329;p10"/>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0" name="Google Shape;330;p10"/>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p10"/>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2" name="Google Shape;332;p10"/>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p10"/>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4" name="Google Shape;334;p10"/>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p10"/>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6" name="Google Shape;336;p10"/>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7" name="Google Shape;337;p10"/>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8" name="Google Shape;338;p10"/>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10"/>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0" name="Google Shape;340;p10"/>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10"/>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2" name="Google Shape;342;p10"/>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3" name="Google Shape;343;p10"/>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4" name="Google Shape;344;p10"/>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5" name="Google Shape;345;p10"/>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6" name="Google Shape;346;p10"/>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7" name="Google Shape;347;p10"/>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8" name="Google Shape;348;p10"/>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p10"/>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0" name="Google Shape;350;p10"/>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1" name="Google Shape;351;p10"/>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2" name="Google Shape;352;p10"/>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MODELO DE DATO Modelo Entidad Relación</a:t>
            </a:r>
            <a:endParaRPr b="1" i="0" sz="2400" u="none" cap="none" strike="noStrike">
              <a:solidFill>
                <a:schemeClr val="accent5"/>
              </a:solidFill>
              <a:latin typeface="Calibri"/>
              <a:ea typeface="Calibri"/>
              <a:cs typeface="Calibri"/>
              <a:sym typeface="Calibri"/>
            </a:endParaRPr>
          </a:p>
        </p:txBody>
      </p:sp>
      <p:pic>
        <p:nvPicPr>
          <p:cNvPr id="353" name="Google Shape;353;p10"/>
          <p:cNvPicPr preferRelativeResize="0"/>
          <p:nvPr/>
        </p:nvPicPr>
        <p:blipFill rotWithShape="1">
          <a:blip r:embed="rId5">
            <a:alphaModFix/>
          </a:blip>
          <a:srcRect b="0" l="0" r="0" t="0"/>
          <a:stretch/>
        </p:blipFill>
        <p:spPr>
          <a:xfrm>
            <a:off x="247239" y="908878"/>
            <a:ext cx="8779069" cy="3515589"/>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1"/>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9" name="Google Shape;359;p11"/>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0" name="Google Shape;360;p11"/>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11"/>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2" name="Google Shape;362;p11"/>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3" name="Google Shape;363;p11"/>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4" name="Google Shape;364;p11"/>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5" name="Google Shape;365;p11"/>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6" name="Google Shape;366;p11"/>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11"/>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8" name="Google Shape;368;p11"/>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9" name="Google Shape;369;p11"/>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0" name="Google Shape;370;p11"/>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1" name="Google Shape;371;p11"/>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2" name="Google Shape;372;p11"/>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3" name="Google Shape;373;p11"/>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4" name="Google Shape;374;p11"/>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5" name="Google Shape;375;p11"/>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6" name="Google Shape;376;p11"/>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7" name="Google Shape;377;p11"/>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8" name="Google Shape;378;p11"/>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11"/>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0" name="Google Shape;380;p11"/>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1" name="Google Shape;381;p11"/>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2" name="Google Shape;382;p11"/>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11"/>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4" name="Google Shape;384;p11"/>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5" name="Google Shape;385;p11"/>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11"/>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7" name="Google Shape;387;p11"/>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8" name="Google Shape;388;p11"/>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11"/>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METODOLOGÍA</a:t>
            </a:r>
            <a:endParaRPr b="1" i="0" sz="2400" u="none" cap="none" strike="noStrike">
              <a:solidFill>
                <a:schemeClr val="accent5"/>
              </a:solidFill>
              <a:latin typeface="Calibri"/>
              <a:ea typeface="Calibri"/>
              <a:cs typeface="Calibri"/>
              <a:sym typeface="Calibri"/>
            </a:endParaRPr>
          </a:p>
        </p:txBody>
      </p:sp>
      <p:pic>
        <p:nvPicPr>
          <p:cNvPr descr="Ventajas y desventajas de la metodología Scrum" id="390" name="Google Shape;390;p11"/>
          <p:cNvPicPr preferRelativeResize="0"/>
          <p:nvPr/>
        </p:nvPicPr>
        <p:blipFill rotWithShape="1">
          <a:blip r:embed="rId5">
            <a:alphaModFix/>
          </a:blip>
          <a:srcRect b="0" l="0" r="0" t="0"/>
          <a:stretch/>
        </p:blipFill>
        <p:spPr>
          <a:xfrm>
            <a:off x="1501558" y="721890"/>
            <a:ext cx="6269348" cy="417956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2"/>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6" name="Google Shape;396;p12"/>
          <p:cNvSpPr/>
          <p:nvPr/>
        </p:nvSpPr>
        <p:spPr>
          <a:xfrm>
            <a:off x="32200"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7" name="Google Shape;397;p12"/>
          <p:cNvSpPr/>
          <p:nvPr/>
        </p:nvSpPr>
        <p:spPr>
          <a:xfrm>
            <a:off x="4642313" y="1292201"/>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8" name="Google Shape;398;p12"/>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p12"/>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0" name="Google Shape;400;p12"/>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1" name="Google Shape;401;p12"/>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2" name="Google Shape;402;p12"/>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3" name="Google Shape;403;p12"/>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4" name="Google Shape;404;p12"/>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5" name="Google Shape;405;p12"/>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6" name="Google Shape;406;p12"/>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12"/>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8" name="Google Shape;408;p12"/>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9" name="Google Shape;409;p12"/>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0" name="Google Shape;410;p12"/>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1" name="Google Shape;411;p12"/>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2" name="Google Shape;412;p12"/>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3" name="Google Shape;413;p12"/>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4" name="Google Shape;414;p12"/>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5" name="Google Shape;415;p12"/>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6" name="Google Shape;416;p12"/>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7" name="Google Shape;417;p12"/>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8" name="Google Shape;418;p12"/>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9" name="Google Shape;419;p12"/>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0" name="Google Shape;420;p12"/>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p12"/>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2" name="Google Shape;422;p12"/>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3" name="Google Shape;423;p12"/>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4" name="Google Shape;424;p12"/>
          <p:cNvSpPr/>
          <p:nvPr/>
        </p:nvSpPr>
        <p:spPr>
          <a:xfrm>
            <a:off x="193077" y="837014"/>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5" name="Google Shape;425;p12"/>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6" name="Google Shape;426;p12"/>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EVIDENCIAS</a:t>
            </a:r>
            <a:endParaRPr b="1" i="0" sz="2400" u="none" cap="none" strike="noStrike">
              <a:solidFill>
                <a:schemeClr val="accent5"/>
              </a:solidFill>
              <a:latin typeface="Calibri"/>
              <a:ea typeface="Calibri"/>
              <a:cs typeface="Calibri"/>
              <a:sym typeface="Calibri"/>
            </a:endParaRPr>
          </a:p>
        </p:txBody>
      </p:sp>
      <p:sp>
        <p:nvSpPr>
          <p:cNvPr id="427" name="Google Shape;427;p12"/>
          <p:cNvSpPr/>
          <p:nvPr/>
        </p:nvSpPr>
        <p:spPr>
          <a:xfrm>
            <a:off x="772056" y="1683724"/>
            <a:ext cx="1820400" cy="6705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Modelo Mer</a:t>
            </a:r>
            <a:endParaRPr b="1" i="0" sz="1400" u="none" cap="none" strike="noStrike">
              <a:solidFill>
                <a:srgbClr val="000000"/>
              </a:solidFill>
              <a:latin typeface="Arial"/>
              <a:ea typeface="Arial"/>
              <a:cs typeface="Arial"/>
              <a:sym typeface="Arial"/>
            </a:endParaRPr>
          </a:p>
        </p:txBody>
      </p:sp>
      <p:sp>
        <p:nvSpPr>
          <p:cNvPr id="428" name="Google Shape;428;p12"/>
          <p:cNvSpPr/>
          <p:nvPr/>
        </p:nvSpPr>
        <p:spPr>
          <a:xfrm>
            <a:off x="3601056" y="800724"/>
            <a:ext cx="1820400" cy="67050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Arquitectura</a:t>
            </a:r>
            <a:endParaRPr b="1" i="0" sz="1400" u="none" cap="none" strike="noStrike">
              <a:solidFill>
                <a:srgbClr val="000000"/>
              </a:solidFill>
              <a:latin typeface="Arial"/>
              <a:ea typeface="Arial"/>
              <a:cs typeface="Arial"/>
              <a:sym typeface="Arial"/>
            </a:endParaRPr>
          </a:p>
        </p:txBody>
      </p:sp>
      <p:sp>
        <p:nvSpPr>
          <p:cNvPr id="429" name="Google Shape;429;p12"/>
          <p:cNvSpPr/>
          <p:nvPr/>
        </p:nvSpPr>
        <p:spPr>
          <a:xfrm>
            <a:off x="6167931" y="1624827"/>
            <a:ext cx="1820400" cy="6705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Product Backlog</a:t>
            </a:r>
            <a:endParaRPr b="1" i="0" sz="1400" u="none" cap="none" strike="noStrike">
              <a:solidFill>
                <a:srgbClr val="000000"/>
              </a:solidFill>
              <a:latin typeface="Arial"/>
              <a:ea typeface="Arial"/>
              <a:cs typeface="Arial"/>
              <a:sym typeface="Arial"/>
            </a:endParaRPr>
          </a:p>
        </p:txBody>
      </p:sp>
      <p:sp>
        <p:nvSpPr>
          <p:cNvPr id="430" name="Google Shape;430;p12"/>
          <p:cNvSpPr/>
          <p:nvPr/>
        </p:nvSpPr>
        <p:spPr>
          <a:xfrm>
            <a:off x="3581006" y="2499274"/>
            <a:ext cx="1860600" cy="71010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Épicas e historias de usuario</a:t>
            </a:r>
            <a:endParaRPr b="1" i="0" sz="1400" u="none" cap="none" strike="noStrike">
              <a:solidFill>
                <a:srgbClr val="000000"/>
              </a:solidFill>
              <a:latin typeface="Arial"/>
              <a:ea typeface="Arial"/>
              <a:cs typeface="Arial"/>
              <a:sym typeface="Arial"/>
            </a:endParaRPr>
          </a:p>
        </p:txBody>
      </p:sp>
      <p:sp>
        <p:nvSpPr>
          <p:cNvPr id="431" name="Google Shape;431;p12"/>
          <p:cNvSpPr/>
          <p:nvPr/>
        </p:nvSpPr>
        <p:spPr>
          <a:xfrm>
            <a:off x="3601106" y="1624837"/>
            <a:ext cx="1820400" cy="67050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Riesgos</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13"/>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7" name="Google Shape;437;p13"/>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8" name="Google Shape;438;p13"/>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9" name="Google Shape;439;p13"/>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0" name="Google Shape;440;p13"/>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1" name="Google Shape;441;p13"/>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13"/>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3" name="Google Shape;443;p13"/>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4" name="Google Shape;444;p13"/>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5" name="Google Shape;445;p13"/>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6" name="Google Shape;446;p13"/>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7" name="Google Shape;447;p13"/>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8" name="Google Shape;448;p13"/>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9" name="Google Shape;449;p13"/>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0" name="Google Shape;450;p13"/>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1" name="Google Shape;451;p13"/>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2" name="Google Shape;452;p13"/>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3" name="Google Shape;453;p13"/>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4" name="Google Shape;454;p13"/>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5" name="Google Shape;455;p13"/>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6" name="Google Shape;456;p13"/>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p13"/>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13"/>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p13"/>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0" name="Google Shape;460;p13"/>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1" name="Google Shape;461;p13"/>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2" name="Google Shape;462;p13"/>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3" name="Google Shape;463;p13"/>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4" name="Google Shape;464;p13"/>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5" name="Google Shape;465;p13"/>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6" name="Google Shape;466;p13"/>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7" name="Google Shape;467;p13"/>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EVIDENCIAS POR SPRINT</a:t>
            </a:r>
            <a:endParaRPr b="1" i="0" sz="2400" u="none" cap="none" strike="noStrike">
              <a:solidFill>
                <a:schemeClr val="accent5"/>
              </a:solidFill>
              <a:latin typeface="Calibri"/>
              <a:ea typeface="Calibri"/>
              <a:cs typeface="Calibri"/>
              <a:sym typeface="Calibri"/>
            </a:endParaRPr>
          </a:p>
        </p:txBody>
      </p:sp>
      <p:sp>
        <p:nvSpPr>
          <p:cNvPr id="468" name="Google Shape;468;p1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469" name="Google Shape;469;p1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470" name="Google Shape;470;p13"/>
          <p:cNvSpPr/>
          <p:nvPr/>
        </p:nvSpPr>
        <p:spPr>
          <a:xfrm>
            <a:off x="456333" y="769236"/>
            <a:ext cx="1394426" cy="761497"/>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Sprint Backlog</a:t>
            </a:r>
            <a:endParaRPr b="1" i="0" sz="1400" u="none" cap="none" strike="noStrike">
              <a:solidFill>
                <a:srgbClr val="000000"/>
              </a:solidFill>
              <a:latin typeface="Arial"/>
              <a:ea typeface="Arial"/>
              <a:cs typeface="Arial"/>
              <a:sym typeface="Arial"/>
            </a:endParaRPr>
          </a:p>
        </p:txBody>
      </p:sp>
      <p:sp>
        <p:nvSpPr>
          <p:cNvPr id="471" name="Google Shape;471;p13"/>
          <p:cNvSpPr/>
          <p:nvPr/>
        </p:nvSpPr>
        <p:spPr>
          <a:xfrm>
            <a:off x="3747458" y="769224"/>
            <a:ext cx="1394426" cy="761497"/>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Scrum Board</a:t>
            </a:r>
            <a:endParaRPr b="1" i="0" sz="1400" u="none" cap="none" strike="noStrike">
              <a:solidFill>
                <a:srgbClr val="000000"/>
              </a:solidFill>
              <a:latin typeface="Arial"/>
              <a:ea typeface="Arial"/>
              <a:cs typeface="Arial"/>
              <a:sym typeface="Arial"/>
            </a:endParaRPr>
          </a:p>
        </p:txBody>
      </p:sp>
      <p:sp>
        <p:nvSpPr>
          <p:cNvPr id="472" name="Google Shape;472;p13"/>
          <p:cNvSpPr/>
          <p:nvPr/>
        </p:nvSpPr>
        <p:spPr>
          <a:xfrm>
            <a:off x="7038583" y="786751"/>
            <a:ext cx="1394426" cy="761497"/>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Daily meeting</a:t>
            </a:r>
            <a:endParaRPr b="1" i="0" sz="1400" u="none" cap="none" strike="noStrike">
              <a:solidFill>
                <a:srgbClr val="000000"/>
              </a:solidFill>
              <a:latin typeface="Arial"/>
              <a:ea typeface="Arial"/>
              <a:cs typeface="Arial"/>
              <a:sym typeface="Arial"/>
            </a:endParaRPr>
          </a:p>
        </p:txBody>
      </p:sp>
      <p:sp>
        <p:nvSpPr>
          <p:cNvPr id="473" name="Google Shape;473;p13"/>
          <p:cNvSpPr/>
          <p:nvPr/>
        </p:nvSpPr>
        <p:spPr>
          <a:xfrm>
            <a:off x="522496" y="2480111"/>
            <a:ext cx="1394426" cy="761497"/>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Impediment Log</a:t>
            </a:r>
            <a:endParaRPr b="1" i="0" sz="1400" u="none" cap="none" strike="noStrike">
              <a:solidFill>
                <a:srgbClr val="000000"/>
              </a:solidFill>
              <a:latin typeface="Arial"/>
              <a:ea typeface="Arial"/>
              <a:cs typeface="Arial"/>
              <a:sym typeface="Arial"/>
            </a:endParaRPr>
          </a:p>
        </p:txBody>
      </p:sp>
      <p:sp>
        <p:nvSpPr>
          <p:cNvPr id="474" name="Google Shape;474;p13"/>
          <p:cNvSpPr/>
          <p:nvPr/>
        </p:nvSpPr>
        <p:spPr>
          <a:xfrm>
            <a:off x="3747458" y="2480111"/>
            <a:ext cx="1461027" cy="761497"/>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Acta de Sprint Review</a:t>
            </a:r>
            <a:endParaRPr b="1" i="0" sz="1400" u="none" cap="none" strike="noStrike">
              <a:solidFill>
                <a:srgbClr val="000000"/>
              </a:solidFill>
              <a:latin typeface="Arial"/>
              <a:ea typeface="Arial"/>
              <a:cs typeface="Arial"/>
              <a:sym typeface="Arial"/>
            </a:endParaRPr>
          </a:p>
        </p:txBody>
      </p:sp>
      <p:sp>
        <p:nvSpPr>
          <p:cNvPr id="475" name="Google Shape;475;p13"/>
          <p:cNvSpPr/>
          <p:nvPr/>
        </p:nvSpPr>
        <p:spPr>
          <a:xfrm>
            <a:off x="7009933" y="2447261"/>
            <a:ext cx="1473710" cy="80646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Acta de Sprint Retrospective</a:t>
            </a:r>
            <a:endParaRPr b="1" i="0" sz="1400" u="none" cap="none" strike="noStrike">
              <a:solidFill>
                <a:srgbClr val="000000"/>
              </a:solidFill>
              <a:latin typeface="Arial"/>
              <a:ea typeface="Arial"/>
              <a:cs typeface="Arial"/>
              <a:sym typeface="Arial"/>
            </a:endParaRPr>
          </a:p>
        </p:txBody>
      </p:sp>
      <p:sp>
        <p:nvSpPr>
          <p:cNvPr id="476" name="Google Shape;476;p13"/>
          <p:cNvSpPr/>
          <p:nvPr/>
        </p:nvSpPr>
        <p:spPr>
          <a:xfrm>
            <a:off x="2033258" y="3986411"/>
            <a:ext cx="1461027" cy="761497"/>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Burndown Chart</a:t>
            </a:r>
            <a:endParaRPr b="1" i="0" sz="1400" u="none" cap="none" strike="noStrike">
              <a:solidFill>
                <a:srgbClr val="000000"/>
              </a:solidFill>
              <a:latin typeface="Arial"/>
              <a:ea typeface="Arial"/>
              <a:cs typeface="Arial"/>
              <a:sym typeface="Arial"/>
            </a:endParaRPr>
          </a:p>
        </p:txBody>
      </p:sp>
      <p:sp>
        <p:nvSpPr>
          <p:cNvPr id="477" name="Google Shape;477;p13"/>
          <p:cNvSpPr/>
          <p:nvPr/>
        </p:nvSpPr>
        <p:spPr>
          <a:xfrm>
            <a:off x="5352958" y="3953561"/>
            <a:ext cx="1425227" cy="80646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Incremento</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14"/>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3" name="Google Shape;483;p14"/>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4" name="Google Shape;484;p14"/>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5" name="Google Shape;485;p14"/>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6" name="Google Shape;486;p14"/>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7" name="Google Shape;487;p14"/>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8" name="Google Shape;488;p14"/>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9" name="Google Shape;489;p14"/>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0" name="Google Shape;490;p14"/>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1" name="Google Shape;491;p14"/>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2" name="Google Shape;492;p14"/>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3" name="Google Shape;493;p14"/>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4" name="Google Shape;494;p14"/>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5" name="Google Shape;495;p14"/>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6" name="Google Shape;496;p14"/>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7" name="Google Shape;497;p14"/>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8" name="Google Shape;498;p14"/>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9" name="Google Shape;499;p14"/>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0" name="Google Shape;500;p14"/>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1" name="Google Shape;501;p14"/>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2" name="Google Shape;502;p14"/>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3" name="Google Shape;503;p14"/>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4" name="Google Shape;504;p14"/>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5" name="Google Shape;505;p14"/>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6" name="Google Shape;506;p14"/>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7" name="Google Shape;507;p14"/>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8" name="Google Shape;508;p14"/>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9" name="Google Shape;509;p14"/>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0" name="Google Shape;510;p14"/>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1" name="Google Shape;511;p14"/>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2" name="Google Shape;512;p14"/>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3" name="Google Shape;513;p14"/>
          <p:cNvSpPr txBox="1"/>
          <p:nvPr/>
        </p:nvSpPr>
        <p:spPr>
          <a:xfrm>
            <a:off x="108000" y="39497"/>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ÉPICAS</a:t>
            </a:r>
            <a:endParaRPr b="1" i="0" sz="2400" u="none" cap="none" strike="noStrike">
              <a:solidFill>
                <a:schemeClr val="accent5"/>
              </a:solidFill>
              <a:latin typeface="Calibri"/>
              <a:ea typeface="Calibri"/>
              <a:cs typeface="Calibri"/>
              <a:sym typeface="Calibri"/>
            </a:endParaRPr>
          </a:p>
        </p:txBody>
      </p:sp>
      <p:sp>
        <p:nvSpPr>
          <p:cNvPr id="514" name="Google Shape;514;p1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515" name="Google Shape;515;p1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516" name="Google Shape;516;p14"/>
          <p:cNvSpPr/>
          <p:nvPr/>
        </p:nvSpPr>
        <p:spPr>
          <a:xfrm>
            <a:off x="249678" y="707219"/>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1</a:t>
            </a:r>
            <a:endParaRPr b="1" i="0" sz="1800" u="none" cap="none" strike="noStrike">
              <a:solidFill>
                <a:schemeClr val="lt1"/>
              </a:solidFill>
              <a:latin typeface="Calibri"/>
              <a:ea typeface="Calibri"/>
              <a:cs typeface="Calibri"/>
              <a:sym typeface="Calibri"/>
            </a:endParaRPr>
          </a:p>
        </p:txBody>
      </p:sp>
      <p:sp>
        <p:nvSpPr>
          <p:cNvPr id="517" name="Google Shape;517;p14"/>
          <p:cNvSpPr/>
          <p:nvPr/>
        </p:nvSpPr>
        <p:spPr>
          <a:xfrm>
            <a:off x="239543" y="1360628"/>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2</a:t>
            </a:r>
            <a:endParaRPr b="1" i="0" sz="1800" u="none" cap="none" strike="noStrike">
              <a:solidFill>
                <a:schemeClr val="lt1"/>
              </a:solidFill>
              <a:latin typeface="Calibri"/>
              <a:ea typeface="Calibri"/>
              <a:cs typeface="Calibri"/>
              <a:sym typeface="Calibri"/>
            </a:endParaRPr>
          </a:p>
        </p:txBody>
      </p:sp>
      <p:sp>
        <p:nvSpPr>
          <p:cNvPr id="518" name="Google Shape;518;p14"/>
          <p:cNvSpPr/>
          <p:nvPr/>
        </p:nvSpPr>
        <p:spPr>
          <a:xfrm>
            <a:off x="244957" y="1894039"/>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3</a:t>
            </a:r>
            <a:endParaRPr b="1" i="0" sz="1800" u="none" cap="none" strike="noStrike">
              <a:solidFill>
                <a:schemeClr val="lt1"/>
              </a:solidFill>
              <a:latin typeface="Calibri"/>
              <a:ea typeface="Calibri"/>
              <a:cs typeface="Calibri"/>
              <a:sym typeface="Calibri"/>
            </a:endParaRPr>
          </a:p>
        </p:txBody>
      </p:sp>
      <p:sp>
        <p:nvSpPr>
          <p:cNvPr id="519" name="Google Shape;519;p14"/>
          <p:cNvSpPr/>
          <p:nvPr/>
        </p:nvSpPr>
        <p:spPr>
          <a:xfrm>
            <a:off x="249678" y="2498095"/>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4</a:t>
            </a:r>
            <a:endParaRPr b="1" i="0" sz="1800" u="none" cap="none" strike="noStrike">
              <a:solidFill>
                <a:schemeClr val="lt1"/>
              </a:solidFill>
              <a:latin typeface="Calibri"/>
              <a:ea typeface="Calibri"/>
              <a:cs typeface="Calibri"/>
              <a:sym typeface="Calibri"/>
            </a:endParaRPr>
          </a:p>
        </p:txBody>
      </p:sp>
      <p:sp>
        <p:nvSpPr>
          <p:cNvPr id="520" name="Google Shape;520;p14"/>
          <p:cNvSpPr/>
          <p:nvPr/>
        </p:nvSpPr>
        <p:spPr>
          <a:xfrm>
            <a:off x="249678" y="3155249"/>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5</a:t>
            </a:r>
            <a:endParaRPr b="1" i="0" sz="1800" u="none" cap="none" strike="noStrike">
              <a:solidFill>
                <a:schemeClr val="lt1"/>
              </a:solidFill>
              <a:latin typeface="Calibri"/>
              <a:ea typeface="Calibri"/>
              <a:cs typeface="Calibri"/>
              <a:sym typeface="Calibri"/>
            </a:endParaRPr>
          </a:p>
        </p:txBody>
      </p:sp>
      <p:sp>
        <p:nvSpPr>
          <p:cNvPr id="521" name="Google Shape;521;p14"/>
          <p:cNvSpPr/>
          <p:nvPr/>
        </p:nvSpPr>
        <p:spPr>
          <a:xfrm>
            <a:off x="249678" y="3887631"/>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6</a:t>
            </a:r>
            <a:endParaRPr b="1" i="0" sz="1800" u="none" cap="none" strike="noStrike">
              <a:solidFill>
                <a:schemeClr val="lt1"/>
              </a:solidFill>
              <a:latin typeface="Calibri"/>
              <a:ea typeface="Calibri"/>
              <a:cs typeface="Calibri"/>
              <a:sym typeface="Calibri"/>
            </a:endParaRPr>
          </a:p>
        </p:txBody>
      </p:sp>
      <p:sp>
        <p:nvSpPr>
          <p:cNvPr id="522" name="Google Shape;522;p14"/>
          <p:cNvSpPr txBox="1"/>
          <p:nvPr/>
        </p:nvSpPr>
        <p:spPr>
          <a:xfrm>
            <a:off x="628993" y="645664"/>
            <a:ext cx="8669741"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ES" sz="1400" u="none" cap="none" strike="noStrike">
                <a:solidFill>
                  <a:schemeClr val="dk1"/>
                </a:solidFill>
                <a:latin typeface="Calibri"/>
                <a:ea typeface="Calibri"/>
                <a:cs typeface="Calibri"/>
                <a:sym typeface="Calibri"/>
              </a:rPr>
              <a:t>Monitoreo en tiempo real de flujos turísticos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chemeClr val="dk1"/>
                </a:solidFill>
                <a:latin typeface="Calibri"/>
                <a:ea typeface="Calibri"/>
                <a:cs typeface="Calibri"/>
                <a:sym typeface="Calibri"/>
              </a:rPr>
              <a:t>Quiero que la aplicación móvil detecte en tiempo real la densidad de personas en zonas turísticas de Valparaíso, para prevenir aglomeraciones y optimizar la experiencia de los visitantes.</a:t>
            </a:r>
            <a:endParaRPr b="0" i="0" sz="1200" u="none" cap="none" strike="noStrike">
              <a:solidFill>
                <a:schemeClr val="dk1"/>
              </a:solidFill>
              <a:latin typeface="Calibri"/>
              <a:ea typeface="Calibri"/>
              <a:cs typeface="Calibri"/>
              <a:sym typeface="Calibri"/>
            </a:endParaRPr>
          </a:p>
        </p:txBody>
      </p:sp>
      <p:sp>
        <p:nvSpPr>
          <p:cNvPr id="523" name="Google Shape;523;p14"/>
          <p:cNvSpPr txBox="1"/>
          <p:nvPr/>
        </p:nvSpPr>
        <p:spPr>
          <a:xfrm>
            <a:off x="628993" y="1295713"/>
            <a:ext cx="8669741"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ES" sz="1400" u="none" cap="none" strike="noStrike">
                <a:solidFill>
                  <a:schemeClr val="dk1"/>
                </a:solidFill>
                <a:latin typeface="Calibri"/>
                <a:ea typeface="Calibri"/>
                <a:cs typeface="Calibri"/>
                <a:sym typeface="Calibri"/>
              </a:rPr>
              <a:t>Visualización inteligente de datos turísticos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chemeClr val="dk1"/>
                </a:solidFill>
                <a:latin typeface="Calibri"/>
                <a:ea typeface="Calibri"/>
                <a:cs typeface="Calibri"/>
                <a:sym typeface="Calibri"/>
              </a:rPr>
              <a:t>Quiero ver mapas de calor y alertas sobre la concentración de personas para tomar decisiones rápidas sobre itinerarios o accesos.</a:t>
            </a:r>
            <a:endParaRPr b="0" i="0" sz="1200" u="none" cap="none" strike="noStrike">
              <a:solidFill>
                <a:schemeClr val="dk1"/>
              </a:solidFill>
              <a:latin typeface="Calibri"/>
              <a:ea typeface="Calibri"/>
              <a:cs typeface="Calibri"/>
              <a:sym typeface="Calibri"/>
            </a:endParaRPr>
          </a:p>
        </p:txBody>
      </p:sp>
      <p:sp>
        <p:nvSpPr>
          <p:cNvPr id="524" name="Google Shape;524;p14"/>
          <p:cNvSpPr txBox="1"/>
          <p:nvPr/>
        </p:nvSpPr>
        <p:spPr>
          <a:xfrm>
            <a:off x="628993" y="1831665"/>
            <a:ext cx="8669741"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ES" sz="1400" u="none" cap="none" strike="noStrike">
                <a:solidFill>
                  <a:schemeClr val="dk1"/>
                </a:solidFill>
                <a:latin typeface="Calibri"/>
                <a:ea typeface="Calibri"/>
                <a:cs typeface="Calibri"/>
                <a:sym typeface="Calibri"/>
              </a:rPr>
              <a:t>Optimización de itinerarios turísticos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chemeClr val="dk1"/>
                </a:solidFill>
                <a:latin typeface="Calibri"/>
                <a:ea typeface="Calibri"/>
                <a:cs typeface="Calibri"/>
                <a:sym typeface="Calibri"/>
              </a:rPr>
              <a:t>Quiero ver en la aplicación móvil las rutas dinámicas según la densidad de visitantes para disfrutar de una experiencia más cómoda y segura sin grandes multitudes.</a:t>
            </a:r>
            <a:endParaRPr b="0" i="0" sz="1200" u="none" cap="none" strike="noStrike">
              <a:solidFill>
                <a:schemeClr val="dk1"/>
              </a:solidFill>
              <a:latin typeface="Calibri"/>
              <a:ea typeface="Calibri"/>
              <a:cs typeface="Calibri"/>
              <a:sym typeface="Calibri"/>
            </a:endParaRPr>
          </a:p>
        </p:txBody>
      </p:sp>
      <p:sp>
        <p:nvSpPr>
          <p:cNvPr id="525" name="Google Shape;525;p14"/>
          <p:cNvSpPr txBox="1"/>
          <p:nvPr/>
        </p:nvSpPr>
        <p:spPr>
          <a:xfrm>
            <a:off x="623424" y="3868802"/>
            <a:ext cx="8669741"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ES" sz="1400" u="none" cap="none" strike="noStrike">
                <a:solidFill>
                  <a:schemeClr val="dk1"/>
                </a:solidFill>
                <a:latin typeface="Calibri"/>
                <a:ea typeface="Calibri"/>
                <a:cs typeface="Calibri"/>
                <a:sym typeface="Calibri"/>
              </a:rPr>
              <a:t>Generación de reportes e indicadores turísticos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chemeClr val="dk1"/>
                </a:solidFill>
                <a:latin typeface="Calibri"/>
                <a:ea typeface="Calibri"/>
                <a:cs typeface="Calibri"/>
                <a:sym typeface="Calibri"/>
              </a:rPr>
              <a:t>Quiero contar con métricas sobre la ocupación, flujos y patrones de visitantes para tomar decisiones estratégicas de planificación y sostenibilidad turística.</a:t>
            </a:r>
            <a:endParaRPr b="0" i="0" sz="1200" u="none" cap="none" strike="noStrike">
              <a:solidFill>
                <a:schemeClr val="dk1"/>
              </a:solidFill>
              <a:latin typeface="Calibri"/>
              <a:ea typeface="Calibri"/>
              <a:cs typeface="Calibri"/>
              <a:sym typeface="Calibri"/>
            </a:endParaRPr>
          </a:p>
        </p:txBody>
      </p:sp>
      <p:sp>
        <p:nvSpPr>
          <p:cNvPr id="526" name="Google Shape;526;p14"/>
          <p:cNvSpPr txBox="1"/>
          <p:nvPr/>
        </p:nvSpPr>
        <p:spPr>
          <a:xfrm>
            <a:off x="623424" y="2481798"/>
            <a:ext cx="8520575"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ES" sz="1400" u="none" cap="none" strike="noStrike">
                <a:solidFill>
                  <a:schemeClr val="dk1"/>
                </a:solidFill>
                <a:latin typeface="Calibri"/>
                <a:ea typeface="Calibri"/>
                <a:cs typeface="Calibri"/>
                <a:sym typeface="Calibri"/>
              </a:rPr>
              <a:t>Redistribución de flujos turísticos hacia zonas menos saturadas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chemeClr val="dk1"/>
                </a:solidFill>
                <a:latin typeface="Calibri"/>
                <a:ea typeface="Calibri"/>
                <a:cs typeface="Calibri"/>
                <a:sym typeface="Calibri"/>
              </a:rPr>
              <a:t>Quiero promover zonas alternativas cuando los puntos turísticos principales estén saturados para reducir la presión sobre áreas críticas y beneficiar a la comunidad local.</a:t>
            </a:r>
            <a:endParaRPr b="0" i="0" sz="1200" u="none" cap="none" strike="noStrike">
              <a:solidFill>
                <a:schemeClr val="dk1"/>
              </a:solidFill>
              <a:latin typeface="Calibri"/>
              <a:ea typeface="Calibri"/>
              <a:cs typeface="Calibri"/>
              <a:sym typeface="Calibri"/>
            </a:endParaRPr>
          </a:p>
        </p:txBody>
      </p:sp>
      <p:sp>
        <p:nvSpPr>
          <p:cNvPr id="527" name="Google Shape;527;p14"/>
          <p:cNvSpPr txBox="1"/>
          <p:nvPr/>
        </p:nvSpPr>
        <p:spPr>
          <a:xfrm>
            <a:off x="628994" y="3177500"/>
            <a:ext cx="8289832"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ES" sz="1400" u="none" cap="none" strike="noStrike">
                <a:solidFill>
                  <a:schemeClr val="dk1"/>
                </a:solidFill>
                <a:latin typeface="Calibri"/>
                <a:ea typeface="Calibri"/>
                <a:cs typeface="Calibri"/>
                <a:sym typeface="Calibri"/>
              </a:rPr>
              <a:t>Integración del MVP completo (dispositivo → backend → app)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chemeClr val="dk1"/>
                </a:solidFill>
                <a:latin typeface="Calibri"/>
                <a:ea typeface="Calibri"/>
                <a:cs typeface="Calibri"/>
                <a:sym typeface="Calibri"/>
              </a:rPr>
              <a:t>Quiero asegurar que el dispositivo de monitoreo, el backend y la app estén integrados y funcionando, para que la información fluya correctamente y la experiencia del usuario sea consistente.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15"/>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15"/>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4" name="Google Shape;534;p15"/>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5" name="Google Shape;535;p15"/>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6" name="Google Shape;536;p15"/>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7" name="Google Shape;537;p15"/>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8" name="Google Shape;538;p15"/>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9" name="Google Shape;539;p15"/>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0" name="Google Shape;540;p15"/>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1" name="Google Shape;541;p15"/>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2" name="Google Shape;542;p15"/>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3" name="Google Shape;543;p15"/>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p15"/>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5" name="Google Shape;545;p15"/>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6" name="Google Shape;546;p15"/>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15"/>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p15"/>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15"/>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0" name="Google Shape;550;p15"/>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1" name="Google Shape;551;p15"/>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2" name="Google Shape;552;p15"/>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3" name="Google Shape;553;p15"/>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4" name="Google Shape;554;p15"/>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5" name="Google Shape;555;p15"/>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6" name="Google Shape;556;p15"/>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7" name="Google Shape;557;p15"/>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8" name="Google Shape;558;p15"/>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9" name="Google Shape;559;p15"/>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0" name="Google Shape;560;p15"/>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1" name="Google Shape;561;p15"/>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2" name="Google Shape;562;p15"/>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3" name="Google Shape;563;p15"/>
          <p:cNvSpPr txBox="1"/>
          <p:nvPr/>
        </p:nvSpPr>
        <p:spPr>
          <a:xfrm>
            <a:off x="233452" y="15878"/>
            <a:ext cx="780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PRODUCT BACKLOG</a:t>
            </a:r>
            <a:endParaRPr b="1" i="0" sz="2400" u="none" cap="none" strike="noStrike">
              <a:solidFill>
                <a:schemeClr val="accent5"/>
              </a:solidFill>
              <a:latin typeface="Calibri"/>
              <a:ea typeface="Calibri"/>
              <a:cs typeface="Calibri"/>
              <a:sym typeface="Calibri"/>
            </a:endParaRPr>
          </a:p>
        </p:txBody>
      </p:sp>
      <p:sp>
        <p:nvSpPr>
          <p:cNvPr id="564" name="Google Shape;564;p15"/>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565" name="Google Shape;565;p15"/>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566" name="Google Shape;566;p15"/>
          <p:cNvGraphicFramePr/>
          <p:nvPr/>
        </p:nvGraphicFramePr>
        <p:xfrm>
          <a:off x="870954" y="851820"/>
          <a:ext cx="3000000" cy="3000000"/>
        </p:xfrm>
        <a:graphic>
          <a:graphicData uri="http://schemas.openxmlformats.org/drawingml/2006/table">
            <a:tbl>
              <a:tblPr>
                <a:noFill/>
                <a:tableStyleId>{09A4A8AA-24DE-483B-A2CB-9BDBEC9F8954}</a:tableStyleId>
              </a:tblPr>
              <a:tblGrid>
                <a:gridCol w="724425"/>
                <a:gridCol w="3332450"/>
                <a:gridCol w="569275"/>
                <a:gridCol w="863300"/>
                <a:gridCol w="716300"/>
                <a:gridCol w="606100"/>
                <a:gridCol w="637575"/>
              </a:tblGrid>
              <a:tr h="539050">
                <a:tc>
                  <a:txBody>
                    <a:bodyPr/>
                    <a:lstStyle/>
                    <a:p>
                      <a:pPr indent="0" lvl="0" marL="0" marR="0" rtl="0" algn="ctr">
                        <a:lnSpc>
                          <a:spcPct val="100000"/>
                        </a:lnSpc>
                        <a:spcBef>
                          <a:spcPts val="0"/>
                        </a:spcBef>
                        <a:spcAft>
                          <a:spcPts val="0"/>
                        </a:spcAft>
                        <a:buNone/>
                      </a:pPr>
                      <a:r>
                        <a:rPr b="1" lang="es-ES" sz="800" u="none" cap="none" strike="noStrike">
                          <a:solidFill>
                            <a:srgbClr val="FFFFFF"/>
                          </a:solidFill>
                        </a:rPr>
                        <a:t>Identificador (ID) de la Historia</a:t>
                      </a:r>
                      <a:endParaRPr/>
                    </a:p>
                  </a:txBody>
                  <a:tcPr marT="0" marB="0" marR="13450" marL="1345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800" u="none" cap="none" strike="noStrike">
                          <a:solidFill>
                            <a:srgbClr val="FFFFFF"/>
                          </a:solidFill>
                        </a:rPr>
                        <a:t>Enunciado de la Historia</a:t>
                      </a:r>
                      <a:endParaRPr/>
                    </a:p>
                  </a:txBody>
                  <a:tcPr marT="0" marB="0" marR="13450" marL="13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800" u="none" cap="none" strike="noStrike">
                          <a:solidFill>
                            <a:srgbClr val="FFFFFF"/>
                          </a:solidFill>
                        </a:rPr>
                        <a:t>Alias</a:t>
                      </a:r>
                      <a:endParaRPr/>
                    </a:p>
                  </a:txBody>
                  <a:tcPr marT="0" marB="0" marR="13450" marL="13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800" u="none" cap="none" strike="noStrike">
                          <a:solidFill>
                            <a:srgbClr val="FFFFFF"/>
                          </a:solidFill>
                        </a:rPr>
                        <a:t>Estado</a:t>
                      </a:r>
                      <a:endParaRPr/>
                    </a:p>
                  </a:txBody>
                  <a:tcPr marT="0" marB="0" marR="13450" marL="13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800" u="none" cap="none" strike="noStrike">
                          <a:solidFill>
                            <a:srgbClr val="FFFFFF"/>
                          </a:solidFill>
                        </a:rPr>
                        <a:t>Dimensión / Esfuerzo</a:t>
                      </a:r>
                      <a:endParaRPr/>
                    </a:p>
                  </a:txBody>
                  <a:tcPr marT="0" marB="0" marR="13450" marL="13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800" u="none" cap="none" strike="noStrike">
                          <a:solidFill>
                            <a:srgbClr val="FFFFFF"/>
                          </a:solidFill>
                        </a:rPr>
                        <a:t>Iteración (Sprint)</a:t>
                      </a:r>
                      <a:endParaRPr/>
                    </a:p>
                  </a:txBody>
                  <a:tcPr marT="0" marB="0" marR="13450" marL="134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800" u="none" cap="none" strike="noStrike">
                          <a:solidFill>
                            <a:srgbClr val="FFFFFF"/>
                          </a:solidFill>
                        </a:rPr>
                        <a:t>Prioridad</a:t>
                      </a:r>
                      <a:endParaRPr/>
                    </a:p>
                  </a:txBody>
                  <a:tcPr marT="0" marB="0" marR="13450" marL="1345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r>
              <a:tr h="404275">
                <a:tc>
                  <a:txBody>
                    <a:bodyPr/>
                    <a:lstStyle/>
                    <a:p>
                      <a:pPr indent="0" lvl="0" marL="0" marR="0" rtl="0" algn="ctr">
                        <a:lnSpc>
                          <a:spcPct val="100000"/>
                        </a:lnSpc>
                        <a:spcBef>
                          <a:spcPts val="0"/>
                        </a:spcBef>
                        <a:spcAft>
                          <a:spcPts val="0"/>
                        </a:spcAft>
                        <a:buNone/>
                      </a:pPr>
                      <a:r>
                        <a:rPr b="1" lang="es-ES" sz="700" u="none" cap="none" strike="noStrike"/>
                        <a:t>HU-01</a:t>
                      </a:r>
                      <a:endParaRPr/>
                    </a:p>
                  </a:txBody>
                  <a:tcPr marT="0" marB="0" marR="13450" marL="134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s-ES" sz="800" u="none" cap="none" strike="noStrike"/>
                        <a:t>Como turista, necesito visualizar en la aplicación móvil el nivel de saturación de los puntos turísticos en un mapa.</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s-ES" sz="800" u="none" cap="none" strike="noStrike"/>
                        <a:t>H1</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s-ES" sz="800" u="none" cap="none" strike="noStrike"/>
                        <a:t>FINALIZADA</a:t>
                      </a:r>
                      <a:endParaRPr/>
                    </a:p>
                  </a:txBody>
                  <a:tcPr marT="0" marB="0" marR="13450" marL="1345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s-ES" sz="800" u="none" cap="none" strike="noStrike"/>
                        <a:t>8</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s-ES" sz="800" u="none" cap="none" strike="noStrike"/>
                        <a:t>3</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s-ES" sz="800" u="none" cap="none" strike="noStrike"/>
                        <a:t>MEDIA</a:t>
                      </a:r>
                      <a:endParaRPr b="1" sz="800" u="none" cap="none" strike="noStrike"/>
                    </a:p>
                  </a:txBody>
                  <a:tcPr marT="0" marB="0" marR="13450" marL="1345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04275">
                <a:tc>
                  <a:txBody>
                    <a:bodyPr/>
                    <a:lstStyle/>
                    <a:p>
                      <a:pPr indent="0" lvl="0" marL="0" marR="0" rtl="0" algn="ctr">
                        <a:lnSpc>
                          <a:spcPct val="100000"/>
                        </a:lnSpc>
                        <a:spcBef>
                          <a:spcPts val="0"/>
                        </a:spcBef>
                        <a:spcAft>
                          <a:spcPts val="0"/>
                        </a:spcAft>
                        <a:buNone/>
                      </a:pPr>
                      <a:r>
                        <a:rPr b="1" lang="es-ES" sz="700" u="none" cap="none" strike="noStrike"/>
                        <a:t>HU-02</a:t>
                      </a:r>
                      <a:endParaRPr/>
                    </a:p>
                  </a:txBody>
                  <a:tcPr marT="0" marB="0" marR="13450" marL="134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s-ES" sz="800" u="none" cap="none" strike="noStrike"/>
                        <a:t>Como turista, necesito crear itinerarios según mis preferencias, con la finalidad de optimizar el tiempo y visitar más lugares sin congestión.</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s-ES" sz="800" u="none" cap="none" strike="noStrike"/>
                        <a:t>H2</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s-ES" sz="800" u="none" cap="none" strike="noStrike"/>
                        <a:t>FINALIZADA</a:t>
                      </a:r>
                      <a:endParaRPr/>
                    </a:p>
                  </a:txBody>
                  <a:tcPr marT="0" marB="0" marR="13450" marL="1345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s-ES" sz="800" u="none" cap="none" strike="noStrike"/>
                        <a:t>8</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s-ES" sz="800" u="none" cap="none" strike="noStrike"/>
                        <a:t>4</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s-ES" sz="800" u="none" cap="none" strike="noStrike"/>
                        <a:t>MEDIA</a:t>
                      </a:r>
                      <a:endParaRPr b="1" sz="800" u="none" cap="none" strike="noStrike"/>
                    </a:p>
                  </a:txBody>
                  <a:tcPr marT="0" marB="0" marR="13450" marL="1345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04275">
                <a:tc>
                  <a:txBody>
                    <a:bodyPr/>
                    <a:lstStyle/>
                    <a:p>
                      <a:pPr indent="0" lvl="0" marL="0" marR="0" rtl="0" algn="ctr">
                        <a:lnSpc>
                          <a:spcPct val="100000"/>
                        </a:lnSpc>
                        <a:spcBef>
                          <a:spcPts val="0"/>
                        </a:spcBef>
                        <a:spcAft>
                          <a:spcPts val="0"/>
                        </a:spcAft>
                        <a:buNone/>
                      </a:pPr>
                      <a:r>
                        <a:rPr b="1" lang="es-ES" sz="700" u="none" cap="none" strike="noStrike"/>
                        <a:t>HU-03</a:t>
                      </a:r>
                      <a:endParaRPr/>
                    </a:p>
                  </a:txBody>
                  <a:tcPr marT="0" marB="0" marR="13450" marL="134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s-ES" sz="800" u="none" cap="none" strike="noStrike"/>
                        <a:t>Como sistema, necesito capturar imágenes desde la cámara, con la finalidad de detectar personas y medir la densidad del lugar.</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s-ES" sz="800" u="none" cap="none" strike="noStrike"/>
                        <a:t>H3</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s-ES" sz="800" u="none" cap="none" strike="noStrike"/>
                        <a:t>FINALIZADA</a:t>
                      </a:r>
                      <a:endParaRPr/>
                    </a:p>
                  </a:txBody>
                  <a:tcPr marT="0" marB="0" marR="13450" marL="1345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s-ES" sz="800" u="none" cap="none" strike="noStrike"/>
                        <a:t>3</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s-ES" sz="800" u="none" cap="none" strike="noStrike"/>
                        <a:t>1</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s-ES" sz="800" u="none" cap="none" strike="noStrike"/>
                        <a:t>ALTA</a:t>
                      </a:r>
                      <a:endParaRPr b="1" sz="800" u="none" cap="none" strike="noStrike"/>
                    </a:p>
                  </a:txBody>
                  <a:tcPr marT="0" marB="0" marR="13450" marL="1345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539050">
                <a:tc>
                  <a:txBody>
                    <a:bodyPr/>
                    <a:lstStyle/>
                    <a:p>
                      <a:pPr indent="0" lvl="0" marL="0" marR="0" rtl="0" algn="ctr">
                        <a:lnSpc>
                          <a:spcPct val="100000"/>
                        </a:lnSpc>
                        <a:spcBef>
                          <a:spcPts val="0"/>
                        </a:spcBef>
                        <a:spcAft>
                          <a:spcPts val="0"/>
                        </a:spcAft>
                        <a:buNone/>
                      </a:pPr>
                      <a:r>
                        <a:rPr b="1" lang="es-ES" sz="700" u="none" cap="none" strike="noStrike"/>
                        <a:t>HU-04</a:t>
                      </a:r>
                      <a:endParaRPr/>
                    </a:p>
                  </a:txBody>
                  <a:tcPr marT="0" marB="0" marR="13450" marL="134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s-ES" sz="800" u="none" cap="none" strike="noStrike"/>
                        <a:t>Como sistema, necesito procesar las imágenes capturadas por la cámara con el modelo YOLO, con la finalidad de detectar y contar personas para generar métricas turísticas.</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s-ES" sz="800" u="none" cap="none" strike="noStrike"/>
                        <a:t>H4</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s-ES" sz="800" u="none" cap="none" strike="noStrike"/>
                        <a:t>FINALIZADA</a:t>
                      </a:r>
                      <a:endParaRPr/>
                    </a:p>
                  </a:txBody>
                  <a:tcPr marT="0" marB="0" marR="13450" marL="1345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s-ES" sz="800" u="none" cap="none" strike="noStrike"/>
                        <a:t>3</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s-ES" sz="800" u="none" cap="none" strike="noStrike"/>
                        <a:t>1</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s-ES" sz="800" u="none" cap="none" strike="noStrike"/>
                        <a:t>MEDIA</a:t>
                      </a:r>
                      <a:endParaRPr b="1" sz="800" u="none" cap="none" strike="noStrike"/>
                    </a:p>
                  </a:txBody>
                  <a:tcPr marT="0" marB="0" marR="13450" marL="1345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73800">
                <a:tc>
                  <a:txBody>
                    <a:bodyPr/>
                    <a:lstStyle/>
                    <a:p>
                      <a:pPr indent="0" lvl="0" marL="0" marR="0" rtl="0" algn="ctr">
                        <a:lnSpc>
                          <a:spcPct val="100000"/>
                        </a:lnSpc>
                        <a:spcBef>
                          <a:spcPts val="0"/>
                        </a:spcBef>
                        <a:spcAft>
                          <a:spcPts val="0"/>
                        </a:spcAft>
                        <a:buNone/>
                      </a:pPr>
                      <a:r>
                        <a:rPr b="1" lang="es-ES" sz="700" u="none" cap="none" strike="noStrike"/>
                        <a:t>HU-05</a:t>
                      </a:r>
                      <a:endParaRPr/>
                    </a:p>
                  </a:txBody>
                  <a:tcPr marT="0" marB="0" marR="13450" marL="134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s-ES" sz="800" u="none" cap="none" strike="noStrike"/>
                        <a:t>Como administrador, necesito guardar en la base de datos los registros de densidad de personas obtenidos, con la finalidad de disponer de información histórica y confiable para reportes y visualización en la app.</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s-ES" sz="800" u="none" cap="none" strike="noStrike"/>
                        <a:t>H5</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s-ES" sz="800" u="none" cap="none" strike="noStrike"/>
                        <a:t>FINALIZADA</a:t>
                      </a:r>
                      <a:endParaRPr/>
                    </a:p>
                  </a:txBody>
                  <a:tcPr marT="0" marB="0" marR="13450" marL="1345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s-ES" sz="800" u="none" cap="none" strike="noStrike"/>
                        <a:t>3</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s-ES" sz="800" u="none" cap="none" strike="noStrike"/>
                        <a:t>2</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s-ES" sz="800" u="none" cap="none" strike="noStrike"/>
                        <a:t>MEDIA</a:t>
                      </a:r>
                      <a:endParaRPr b="1" sz="800" u="none" cap="none" strike="noStrike"/>
                    </a:p>
                  </a:txBody>
                  <a:tcPr marT="0" marB="0" marR="13450" marL="1345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539050">
                <a:tc>
                  <a:txBody>
                    <a:bodyPr/>
                    <a:lstStyle/>
                    <a:p>
                      <a:pPr indent="0" lvl="0" marL="0" marR="0" rtl="0" algn="ctr">
                        <a:lnSpc>
                          <a:spcPct val="100000"/>
                        </a:lnSpc>
                        <a:spcBef>
                          <a:spcPts val="0"/>
                        </a:spcBef>
                        <a:spcAft>
                          <a:spcPts val="0"/>
                        </a:spcAft>
                        <a:buNone/>
                      </a:pPr>
                      <a:r>
                        <a:rPr b="1" lang="es-ES" sz="700" u="none" cap="none" strike="noStrike"/>
                        <a:t>HU-06</a:t>
                      </a:r>
                      <a:endParaRPr/>
                    </a:p>
                  </a:txBody>
                  <a:tcPr marT="0" marB="0" marR="13450" marL="134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s-ES" sz="800" u="none" cap="none" strike="noStrike"/>
                        <a:t>Como administrador, necesito visualizar reportes de densidad de visitantes por lugar y fecha, con la finalidad de planificar medidas de control y gestión turística.</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s-ES" sz="800" u="none" cap="none" strike="noStrike"/>
                        <a:t>H6</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s-ES" sz="800" u="none" cap="none" strike="noStrike"/>
                        <a:t>FINALIZADA</a:t>
                      </a:r>
                      <a:endParaRPr/>
                    </a:p>
                  </a:txBody>
                  <a:tcPr marT="0" marB="0" marR="13450" marL="1345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s-ES" sz="800" u="none" cap="none" strike="noStrike"/>
                        <a:t>8</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s-ES" sz="800" u="none" cap="none" strike="noStrike"/>
                        <a:t>2</a:t>
                      </a:r>
                      <a:endParaRPr/>
                    </a:p>
                  </a:txBody>
                  <a:tcPr marT="0" marB="0" marR="13450" marL="13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s-ES" sz="800" u="none" cap="none" strike="noStrike"/>
                        <a:t>MEDIA</a:t>
                      </a:r>
                      <a:endParaRPr b="1" sz="800" u="none" cap="none" strike="noStrike"/>
                    </a:p>
                  </a:txBody>
                  <a:tcPr marT="0" marB="0" marR="13450" marL="1345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16"/>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2" name="Google Shape;572;p16"/>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3" name="Google Shape;573;p16"/>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4" name="Google Shape;574;p16"/>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5" name="Google Shape;575;p16"/>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6" name="Google Shape;576;p16"/>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7" name="Google Shape;577;p16"/>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8" name="Google Shape;578;p16"/>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9" name="Google Shape;579;p16"/>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0" name="Google Shape;580;p16"/>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1" name="Google Shape;581;p16"/>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2" name="Google Shape;582;p16"/>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p16"/>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4" name="Google Shape;584;p16"/>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5" name="Google Shape;585;p16"/>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6" name="Google Shape;586;p16"/>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7" name="Google Shape;587;p16"/>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8" name="Google Shape;588;p16"/>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9" name="Google Shape;589;p16"/>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0" name="Google Shape;590;p16"/>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1" name="Google Shape;591;p16"/>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2" name="Google Shape;592;p16"/>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3" name="Google Shape;593;p16"/>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4" name="Google Shape;594;p16"/>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5" name="Google Shape;595;p16"/>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6" name="Google Shape;596;p16"/>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p16"/>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8" name="Google Shape;598;p16"/>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9" name="Google Shape;599;p16"/>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0" name="Google Shape;600;p16"/>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1" name="Google Shape;601;p16"/>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2" name="Google Shape;602;p16"/>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CRONOGRAMA (CARTA GANTT)</a:t>
            </a:r>
            <a:endParaRPr b="1" i="0" sz="2400" u="none" cap="none" strike="noStrike">
              <a:solidFill>
                <a:schemeClr val="accent5"/>
              </a:solidFill>
              <a:latin typeface="Calibri"/>
              <a:ea typeface="Calibri"/>
              <a:cs typeface="Calibri"/>
              <a:sym typeface="Calibri"/>
            </a:endParaRPr>
          </a:p>
        </p:txBody>
      </p:sp>
      <p:sp>
        <p:nvSpPr>
          <p:cNvPr id="603" name="Google Shape;603;p16"/>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604" name="Google Shape;604;p16"/>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605" name="Google Shape;605;p16"/>
          <p:cNvPicPr preferRelativeResize="0"/>
          <p:nvPr/>
        </p:nvPicPr>
        <p:blipFill rotWithShape="1">
          <a:blip r:embed="rId5">
            <a:alphaModFix/>
          </a:blip>
          <a:srcRect b="0" l="0" r="0" t="0"/>
          <a:stretch/>
        </p:blipFill>
        <p:spPr>
          <a:xfrm>
            <a:off x="1098674" y="558116"/>
            <a:ext cx="6946651" cy="402726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17"/>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p17"/>
          <p:cNvSpPr/>
          <p:nvPr/>
        </p:nvSpPr>
        <p:spPr>
          <a:xfrm>
            <a:off x="-1" y="1674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2" name="Google Shape;612;p17"/>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3" name="Google Shape;613;p17"/>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4" name="Google Shape;614;p17"/>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5" name="Google Shape;615;p17"/>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6" name="Google Shape;616;p17"/>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7" name="Google Shape;617;p17"/>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8" name="Google Shape;618;p17"/>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9" name="Google Shape;619;p17"/>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0" name="Google Shape;620;p17"/>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1" name="Google Shape;621;p17"/>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2" name="Google Shape;622;p17"/>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3" name="Google Shape;623;p17"/>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4" name="Google Shape;624;p17"/>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5" name="Google Shape;625;p17"/>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6" name="Google Shape;626;p17"/>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7" name="Google Shape;627;p17"/>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8" name="Google Shape;628;p17"/>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9" name="Google Shape;629;p17"/>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0" name="Google Shape;630;p17"/>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1" name="Google Shape;631;p17"/>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2" name="Google Shape;632;p17"/>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3" name="Google Shape;633;p17"/>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4" name="Google Shape;634;p17"/>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5" name="Google Shape;635;p17"/>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6" name="Google Shape;636;p17"/>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7" name="Google Shape;637;p17"/>
          <p:cNvSpPr/>
          <p:nvPr/>
        </p:nvSpPr>
        <p:spPr>
          <a:xfrm>
            <a:off x="4850457" y="4198654"/>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8" name="Google Shape;638;p17"/>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9" name="Google Shape;639;p17"/>
          <p:cNvSpPr/>
          <p:nvPr/>
        </p:nvSpPr>
        <p:spPr>
          <a:xfrm>
            <a:off x="233452" y="804750"/>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0" name="Google Shape;640;p17"/>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1" name="Google Shape;641;p17"/>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PRESUPUESTO</a:t>
            </a:r>
            <a:endParaRPr b="1" i="0" sz="2400" u="none" cap="none" strike="noStrike">
              <a:solidFill>
                <a:schemeClr val="accent5"/>
              </a:solidFill>
              <a:latin typeface="Calibri"/>
              <a:ea typeface="Calibri"/>
              <a:cs typeface="Calibri"/>
              <a:sym typeface="Calibri"/>
            </a:endParaRPr>
          </a:p>
        </p:txBody>
      </p:sp>
      <p:sp>
        <p:nvSpPr>
          <p:cNvPr id="642" name="Google Shape;642;p17"/>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643" name="Google Shape;643;p17"/>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644" name="Google Shape;644;p17"/>
          <p:cNvPicPr preferRelativeResize="0"/>
          <p:nvPr/>
        </p:nvPicPr>
        <p:blipFill rotWithShape="1">
          <a:blip r:embed="rId5">
            <a:alphaModFix/>
          </a:blip>
          <a:srcRect b="0" l="0" r="0" t="0"/>
          <a:stretch/>
        </p:blipFill>
        <p:spPr>
          <a:xfrm>
            <a:off x="7378054" y="634131"/>
            <a:ext cx="929721" cy="358171"/>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645" name="Google Shape;645;p17"/>
          <p:cNvPicPr preferRelativeResize="0"/>
          <p:nvPr/>
        </p:nvPicPr>
        <p:blipFill rotWithShape="1">
          <a:blip r:embed="rId6">
            <a:alphaModFix/>
          </a:blip>
          <a:srcRect b="0" l="0" r="0" t="0"/>
          <a:stretch/>
        </p:blipFill>
        <p:spPr>
          <a:xfrm>
            <a:off x="396980" y="641189"/>
            <a:ext cx="6029636" cy="3112537"/>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646" name="Google Shape;646;p17"/>
          <p:cNvPicPr preferRelativeResize="0"/>
          <p:nvPr/>
        </p:nvPicPr>
        <p:blipFill rotWithShape="1">
          <a:blip r:embed="rId7">
            <a:alphaModFix/>
          </a:blip>
          <a:srcRect b="0" l="0" r="0" t="0"/>
          <a:stretch/>
        </p:blipFill>
        <p:spPr>
          <a:xfrm>
            <a:off x="3321289" y="3978341"/>
            <a:ext cx="3149009" cy="546358"/>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647" name="Google Shape;647;p17"/>
          <p:cNvPicPr preferRelativeResize="0"/>
          <p:nvPr/>
        </p:nvPicPr>
        <p:blipFill rotWithShape="1">
          <a:blip r:embed="rId8">
            <a:alphaModFix/>
          </a:blip>
          <a:srcRect b="0" l="0" r="0" t="0"/>
          <a:stretch/>
        </p:blipFill>
        <p:spPr>
          <a:xfrm>
            <a:off x="6903961" y="3957089"/>
            <a:ext cx="2075261" cy="541021"/>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8"/>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3" name="Google Shape;653;p18"/>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4" name="Google Shape;654;p18"/>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5" name="Google Shape;655;p18"/>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6" name="Google Shape;656;p18"/>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7" name="Google Shape;657;p18"/>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8" name="Google Shape;658;p18"/>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9" name="Google Shape;659;p18"/>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0" name="Google Shape;660;p18"/>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1" name="Google Shape;661;p18"/>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2" name="Google Shape;662;p18"/>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3" name="Google Shape;663;p18"/>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4" name="Google Shape;664;p18"/>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5" name="Google Shape;665;p18"/>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6" name="Google Shape;666;p18"/>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7" name="Google Shape;667;p18"/>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8" name="Google Shape;668;p18"/>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9" name="Google Shape;669;p18"/>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0" name="Google Shape;670;p18"/>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1" name="Google Shape;671;p18"/>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2" name="Google Shape;672;p18"/>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3" name="Google Shape;673;p18"/>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4" name="Google Shape;674;p18"/>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5" name="Google Shape;675;p18"/>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6" name="Google Shape;676;p18"/>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7" name="Google Shape;677;p18"/>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p18"/>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9" name="Google Shape;679;p18"/>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0" name="Google Shape;680;p18"/>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1" name="Google Shape;681;p18"/>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2" name="Google Shape;682;p18"/>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3" name="Google Shape;683;p18"/>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KANBAN</a:t>
            </a:r>
            <a:endParaRPr b="1" i="0" sz="2400" u="none" cap="none" strike="noStrike">
              <a:solidFill>
                <a:schemeClr val="accent5"/>
              </a:solidFill>
              <a:latin typeface="Calibri"/>
              <a:ea typeface="Calibri"/>
              <a:cs typeface="Calibri"/>
              <a:sym typeface="Calibri"/>
            </a:endParaRPr>
          </a:p>
        </p:txBody>
      </p:sp>
      <p:sp>
        <p:nvSpPr>
          <p:cNvPr id="684" name="Google Shape;684;p18"/>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685" name="Google Shape;685;p18"/>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686" name="Google Shape;686;p18"/>
          <p:cNvPicPr preferRelativeResize="0"/>
          <p:nvPr/>
        </p:nvPicPr>
        <p:blipFill rotWithShape="1">
          <a:blip r:embed="rId5">
            <a:alphaModFix/>
          </a:blip>
          <a:srcRect b="0" l="0" r="0" t="0"/>
          <a:stretch/>
        </p:blipFill>
        <p:spPr>
          <a:xfrm>
            <a:off x="420649" y="821388"/>
            <a:ext cx="8225446" cy="3180917"/>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19"/>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2" name="Google Shape;692;p19"/>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3" name="Google Shape;693;p19"/>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4" name="Google Shape;694;p19"/>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5" name="Google Shape;695;p19"/>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6" name="Google Shape;696;p19"/>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7" name="Google Shape;697;p19"/>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8" name="Google Shape;698;p19"/>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9" name="Google Shape;699;p19"/>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0" name="Google Shape;700;p19"/>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1" name="Google Shape;701;p19"/>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2" name="Google Shape;702;p19"/>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3" name="Google Shape;703;p19"/>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4" name="Google Shape;704;p19"/>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5" name="Google Shape;705;p19"/>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6" name="Google Shape;706;p19"/>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7" name="Google Shape;707;p19"/>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8" name="Google Shape;708;p19"/>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9" name="Google Shape;709;p19"/>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0" name="Google Shape;710;p19"/>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1" name="Google Shape;711;p19"/>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2" name="Google Shape;712;p19"/>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3" name="Google Shape;713;p19"/>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4" name="Google Shape;714;p19"/>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5" name="Google Shape;715;p19"/>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6" name="Google Shape;716;p19"/>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7" name="Google Shape;717;p19"/>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8" name="Google Shape;718;p19"/>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9" name="Google Shape;719;p19"/>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0" name="Google Shape;720;p19"/>
          <p:cNvSpPr/>
          <p:nvPr/>
        </p:nvSpPr>
        <p:spPr>
          <a:xfrm>
            <a:off x="246529" y="776526"/>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1" name="Google Shape;721;p19"/>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2" name="Google Shape;722;p19"/>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0 – PREPARACIÓN DE ENTORNO</a:t>
            </a:r>
            <a:endParaRPr b="1" i="0" sz="2400" u="none" cap="none" strike="noStrike">
              <a:solidFill>
                <a:schemeClr val="accent5"/>
              </a:solidFill>
              <a:latin typeface="Calibri"/>
              <a:ea typeface="Calibri"/>
              <a:cs typeface="Calibri"/>
              <a:sym typeface="Calibri"/>
            </a:endParaRPr>
          </a:p>
        </p:txBody>
      </p:sp>
      <p:sp>
        <p:nvSpPr>
          <p:cNvPr id="723" name="Google Shape;723;p19"/>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724" name="Google Shape;724;p19"/>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725" name="Google Shape;725;p19"/>
          <p:cNvSpPr txBox="1"/>
          <p:nvPr/>
        </p:nvSpPr>
        <p:spPr>
          <a:xfrm>
            <a:off x="437775" y="701055"/>
            <a:ext cx="7855500" cy="191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Duración: 3 semanas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Evidencias: Documentación Scrum definida</a:t>
            </a:r>
            <a:endParaRPr b="0" i="0" sz="1400" u="none" cap="none" strike="noStrike">
              <a:solidFill>
                <a:schemeClr val="dk1"/>
              </a:solidFill>
              <a:latin typeface="Calibri"/>
              <a:ea typeface="Calibri"/>
              <a:cs typeface="Calibri"/>
              <a:sym typeface="Calibri"/>
            </a:endParaRPr>
          </a:p>
          <a:p>
            <a:pPr indent="0" lvl="0" marL="12700" marR="0" rtl="0" algn="l">
              <a:lnSpc>
                <a:spcPct val="115000"/>
              </a:lnSpc>
              <a:spcBef>
                <a:spcPts val="0"/>
              </a:spcBef>
              <a:spcAft>
                <a:spcPts val="0"/>
              </a:spcAft>
              <a:buClr>
                <a:srgbClr val="000000"/>
              </a:buClr>
              <a:buSzPts val="1100"/>
              <a:buFont typeface="Arial"/>
              <a:buNone/>
            </a:pPr>
            <a:r>
              <a:t/>
            </a:r>
            <a:endParaRPr b="0" i="0" sz="1400" u="none" cap="none" strike="noStrike">
              <a:solidFill>
                <a:schemeClr val="dk1"/>
              </a:solidFill>
              <a:latin typeface="Calibri"/>
              <a:ea typeface="Calibri"/>
              <a:cs typeface="Calibri"/>
              <a:sym typeface="Calibri"/>
            </a:endParaRPr>
          </a:p>
          <a:p>
            <a:pPr indent="0" lvl="0" marL="12700" marR="0" rtl="0" algn="l">
              <a:lnSpc>
                <a:spcPct val="115000"/>
              </a:lnSpc>
              <a:spcBef>
                <a:spcPts val="0"/>
              </a:spcBef>
              <a:spcAft>
                <a:spcPts val="0"/>
              </a:spcAft>
              <a:buClr>
                <a:schemeClr val="dk1"/>
              </a:buClr>
              <a:buSzPts val="1100"/>
              <a:buFont typeface="Arial"/>
              <a:buNone/>
            </a:pPr>
            <a:r>
              <a:rPr b="0" i="0" lang="es-ES" sz="1400" u="none" cap="none" strike="noStrike">
                <a:solidFill>
                  <a:schemeClr val="dk1"/>
                </a:solidFill>
                <a:latin typeface="Calibri"/>
                <a:ea typeface="Calibri"/>
                <a:cs typeface="Calibri"/>
                <a:sym typeface="Calibri"/>
              </a:rPr>
              <a:t>Descripción: preparación, Contexto de Migratio y  configuración de entorno de trabajo, junto a la obtención de las plantillas de documentación y evidencias a lo largo del proyecto.</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26" name="Google Shape;726;p19"/>
          <p:cNvSpPr/>
          <p:nvPr/>
        </p:nvSpPr>
        <p:spPr>
          <a:xfrm>
            <a:off x="817721" y="2520938"/>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ES" sz="1200" u="none" cap="none" strike="noStrike">
                <a:solidFill>
                  <a:srgbClr val="000000"/>
                </a:solidFill>
                <a:latin typeface="Arial"/>
                <a:ea typeface="Arial"/>
                <a:cs typeface="Arial"/>
                <a:sym typeface="Arial"/>
              </a:rPr>
              <a:t>Generación de Trello</a:t>
            </a:r>
            <a:endParaRPr b="0" i="0" sz="1200" u="none" cap="none" strike="noStrike">
              <a:solidFill>
                <a:srgbClr val="000000"/>
              </a:solidFill>
              <a:latin typeface="Arial"/>
              <a:ea typeface="Arial"/>
              <a:cs typeface="Arial"/>
              <a:sym typeface="Arial"/>
            </a:endParaRPr>
          </a:p>
        </p:txBody>
      </p:sp>
      <p:sp>
        <p:nvSpPr>
          <p:cNvPr id="727" name="Google Shape;727;p19"/>
          <p:cNvSpPr/>
          <p:nvPr/>
        </p:nvSpPr>
        <p:spPr>
          <a:xfrm>
            <a:off x="3526302" y="2526063"/>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ES" sz="1200" u="none" cap="none" strike="noStrike">
                <a:solidFill>
                  <a:srgbClr val="000000"/>
                </a:solidFill>
                <a:latin typeface="Arial"/>
                <a:ea typeface="Arial"/>
                <a:cs typeface="Arial"/>
                <a:sym typeface="Arial"/>
              </a:rPr>
              <a:t>Plantillas de documentación </a:t>
            </a:r>
            <a:endParaRPr b="0" i="0" sz="1200" u="none" cap="none" strike="noStrike">
              <a:solidFill>
                <a:srgbClr val="000000"/>
              </a:solidFill>
              <a:latin typeface="Arial"/>
              <a:ea typeface="Arial"/>
              <a:cs typeface="Arial"/>
              <a:sym typeface="Arial"/>
            </a:endParaRPr>
          </a:p>
        </p:txBody>
      </p:sp>
      <p:sp>
        <p:nvSpPr>
          <p:cNvPr id="728" name="Google Shape;728;p19"/>
          <p:cNvSpPr/>
          <p:nvPr/>
        </p:nvSpPr>
        <p:spPr>
          <a:xfrm>
            <a:off x="6234883" y="2526063"/>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ES" sz="1200" u="none" cap="none" strike="noStrike">
                <a:solidFill>
                  <a:srgbClr val="000000"/>
                </a:solidFill>
                <a:latin typeface="Arial"/>
                <a:ea typeface="Arial"/>
                <a:cs typeface="Arial"/>
                <a:sym typeface="Arial"/>
              </a:rPr>
              <a:t>Reunión equipo migratio</a:t>
            </a:r>
            <a:endParaRPr b="0" i="0" sz="1200" u="none" cap="none" strike="noStrike">
              <a:solidFill>
                <a:srgbClr val="000000"/>
              </a:solidFill>
              <a:latin typeface="Arial"/>
              <a:ea typeface="Arial"/>
              <a:cs typeface="Arial"/>
              <a:sym typeface="Arial"/>
            </a:endParaRPr>
          </a:p>
        </p:txBody>
      </p:sp>
      <p:sp>
        <p:nvSpPr>
          <p:cNvPr id="729" name="Google Shape;729;p19"/>
          <p:cNvSpPr/>
          <p:nvPr/>
        </p:nvSpPr>
        <p:spPr>
          <a:xfrm>
            <a:off x="3526302" y="3776316"/>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ES" sz="1200" u="none" cap="none" strike="noStrike">
                <a:solidFill>
                  <a:srgbClr val="000000"/>
                </a:solidFill>
                <a:latin typeface="Arial"/>
                <a:ea typeface="Arial"/>
                <a:cs typeface="Arial"/>
                <a:sym typeface="Arial"/>
              </a:rPr>
              <a:t>Creación de entorno de trabajo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20"/>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5" name="Google Shape;735;p20"/>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6" name="Google Shape;736;p20"/>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7" name="Google Shape;737;p20"/>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8" name="Google Shape;738;p20"/>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9" name="Google Shape;739;p20"/>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0" name="Google Shape;740;p20"/>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1" name="Google Shape;741;p20"/>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2" name="Google Shape;742;p20"/>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3" name="Google Shape;743;p20"/>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4" name="Google Shape;744;p20"/>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5" name="Google Shape;745;p20"/>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6" name="Google Shape;746;p20"/>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7" name="Google Shape;747;p20"/>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8" name="Google Shape;748;p20"/>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9" name="Google Shape;749;p20"/>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0" name="Google Shape;750;p20"/>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1" name="Google Shape;751;p20"/>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2" name="Google Shape;752;p20"/>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3" name="Google Shape;753;p20"/>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4" name="Google Shape;754;p20"/>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5" name="Google Shape;755;p20"/>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6" name="Google Shape;756;p20"/>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7" name="Google Shape;757;p20"/>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8" name="Google Shape;758;p20"/>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9" name="Google Shape;759;p20"/>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0" name="Google Shape;760;p20"/>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1" name="Google Shape;761;p20"/>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2" name="Google Shape;762;p20"/>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3" name="Google Shape;763;p20"/>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4" name="Google Shape;764;p20"/>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5" name="Google Shape;765;p20"/>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0 – BACKLOG</a:t>
            </a:r>
            <a:endParaRPr b="1" i="0" sz="2400" u="none" cap="none" strike="noStrike">
              <a:solidFill>
                <a:schemeClr val="accent5"/>
              </a:solidFill>
              <a:latin typeface="Calibri"/>
              <a:ea typeface="Calibri"/>
              <a:cs typeface="Calibri"/>
              <a:sym typeface="Calibri"/>
            </a:endParaRPr>
          </a:p>
        </p:txBody>
      </p:sp>
      <p:sp>
        <p:nvSpPr>
          <p:cNvPr id="766" name="Google Shape;766;p20"/>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767" name="Google Shape;767;p20"/>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768" name="Google Shape;768;p20"/>
          <p:cNvGraphicFramePr/>
          <p:nvPr/>
        </p:nvGraphicFramePr>
        <p:xfrm>
          <a:off x="1335239" y="564914"/>
          <a:ext cx="3000000" cy="3000000"/>
        </p:xfrm>
        <a:graphic>
          <a:graphicData uri="http://schemas.openxmlformats.org/drawingml/2006/table">
            <a:tbl>
              <a:tblPr>
                <a:noFill/>
                <a:tableStyleId>{EE498E1A-57DE-4726-B92D-F0067C99A70F}</a:tableStyleId>
              </a:tblPr>
              <a:tblGrid>
                <a:gridCol w="2928625"/>
                <a:gridCol w="1504975"/>
                <a:gridCol w="772825"/>
                <a:gridCol w="1088050"/>
              </a:tblGrid>
              <a:tr h="659725">
                <a:tc>
                  <a:txBody>
                    <a:bodyPr/>
                    <a:lstStyle/>
                    <a:p>
                      <a:pPr indent="0" lvl="0" marL="0" marR="0" rtl="0" algn="ctr">
                        <a:lnSpc>
                          <a:spcPct val="115000"/>
                        </a:lnSpc>
                        <a:spcBef>
                          <a:spcPts val="0"/>
                        </a:spcBef>
                        <a:spcAft>
                          <a:spcPts val="0"/>
                        </a:spcAft>
                        <a:buClr>
                          <a:srgbClr val="000000"/>
                        </a:buClr>
                        <a:buSzPts val="1100"/>
                        <a:buFont typeface="Arial"/>
                        <a:buNone/>
                      </a:pPr>
                      <a:r>
                        <a:rPr b="1" lang="es-ES" sz="1100" u="none" cap="none" strike="noStrike">
                          <a:solidFill>
                            <a:srgbClr val="FFFFFF"/>
                          </a:solidFill>
                          <a:latin typeface="Calibri"/>
                          <a:ea typeface="Calibri"/>
                          <a:cs typeface="Calibri"/>
                          <a:sym typeface="Calibri"/>
                        </a:rPr>
                        <a:t>Tarea</a:t>
                      </a:r>
                      <a:endParaRPr b="1" sz="1100" u="none" cap="none" strike="noStrike">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s-ES" sz="1100" u="none" cap="none" strike="noStrike">
                          <a:solidFill>
                            <a:srgbClr val="FFFFFF"/>
                          </a:solidFill>
                          <a:latin typeface="Calibri"/>
                          <a:ea typeface="Calibri"/>
                          <a:cs typeface="Calibri"/>
                          <a:sym typeface="Calibri"/>
                        </a:rPr>
                        <a:t>Dueño / Voluntario</a:t>
                      </a:r>
                      <a:endParaRPr b="1" sz="1100" u="none" cap="none" strike="noStrike">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s-ES" sz="1100" u="none" cap="none" strike="noStrike">
                          <a:solidFill>
                            <a:srgbClr val="FFFFFF"/>
                          </a:solidFill>
                          <a:latin typeface="Calibri"/>
                          <a:ea typeface="Calibri"/>
                          <a:cs typeface="Calibri"/>
                          <a:sym typeface="Calibri"/>
                        </a:rPr>
                        <a:t>Estatus</a:t>
                      </a:r>
                      <a:endParaRPr b="1" sz="1100" u="none" cap="none" strike="noStrike">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s-ES" sz="1100" u="none" cap="none" strike="noStrike">
                          <a:solidFill>
                            <a:srgbClr val="FFFFFF"/>
                          </a:solidFill>
                          <a:latin typeface="Calibri"/>
                          <a:ea typeface="Calibri"/>
                          <a:cs typeface="Calibri"/>
                          <a:sym typeface="Calibri"/>
                        </a:rPr>
                        <a:t>Horas estimadas totales</a:t>
                      </a:r>
                      <a:endParaRPr b="1" sz="1100" u="none" cap="none" strike="noStrike">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r>
              <a:tr h="280300">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Contexto migratio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Percy/Eduardo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Finalizado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10</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0300">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Reunion con interesados</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Percy/Eduardo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Finalizado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8</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0300">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Creación de entorno de trabajo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Percy/Eduardo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Finalizado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8</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11925">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Completar Sprint </a:t>
                      </a:r>
                      <a:endParaRPr sz="9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Backlog</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Percy/Eduardo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Finalizado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12</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0300">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Seleccion y definicion de plantillas</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Percy/Eduardo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Finalizado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3</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11925">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Completar Impediment</a:t>
                      </a:r>
                      <a:endParaRPr sz="9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Log</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Percy/Eduardo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Finalizado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9</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11925">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Completar Sprint</a:t>
                      </a:r>
                      <a:endParaRPr sz="9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Review</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Percy/Eduardo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Finalizado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7</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0300">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Completar Acta de Sprint Retrospective</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Percy/Eduardo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Finalizado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5</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0300">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Generación de Trello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Percy/Eduardo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Finalizado</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10</a:t>
                      </a:r>
                      <a:endParaRPr sz="9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21"/>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4" name="Google Shape;774;p21"/>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5" name="Google Shape;775;p21"/>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6" name="Google Shape;776;p21"/>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7" name="Google Shape;777;p21"/>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8" name="Google Shape;778;p21"/>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9" name="Google Shape;779;p21"/>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0" name="Google Shape;780;p21"/>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21"/>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2" name="Google Shape;782;p21"/>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3" name="Google Shape;783;p21"/>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4" name="Google Shape;784;p21"/>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5" name="Google Shape;785;p21"/>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6" name="Google Shape;786;p21"/>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7" name="Google Shape;787;p21"/>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8" name="Google Shape;788;p21"/>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9" name="Google Shape;789;p21"/>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0" name="Google Shape;790;p21"/>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1" name="Google Shape;791;p21"/>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2" name="Google Shape;792;p21"/>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3" name="Google Shape;793;p21"/>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4" name="Google Shape;794;p21"/>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5" name="Google Shape;795;p21"/>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6" name="Google Shape;796;p21"/>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7" name="Google Shape;797;p21"/>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8" name="Google Shape;798;p21"/>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9" name="Google Shape;799;p21"/>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0" name="Google Shape;800;p21"/>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1" name="Google Shape;801;p21"/>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2" name="Google Shape;802;p21"/>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3" name="Google Shape;803;p21"/>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4" name="Google Shape;804;p21"/>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0 – BURNDOWN CHART</a:t>
            </a:r>
            <a:endParaRPr b="1" i="0" sz="2400" u="none" cap="none" strike="noStrike">
              <a:solidFill>
                <a:schemeClr val="accent5"/>
              </a:solidFill>
              <a:latin typeface="Calibri"/>
              <a:ea typeface="Calibri"/>
              <a:cs typeface="Calibri"/>
              <a:sym typeface="Calibri"/>
            </a:endParaRPr>
          </a:p>
        </p:txBody>
      </p:sp>
      <p:sp>
        <p:nvSpPr>
          <p:cNvPr id="805" name="Google Shape;805;p21"/>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806" name="Google Shape;806;p21"/>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807" name="Google Shape;807;p21"/>
          <p:cNvPicPr preferRelativeResize="0"/>
          <p:nvPr/>
        </p:nvPicPr>
        <p:blipFill rotWithShape="1">
          <a:blip r:embed="rId5">
            <a:alphaModFix/>
          </a:blip>
          <a:srcRect b="0" l="0" r="0" t="0"/>
          <a:stretch/>
        </p:blipFill>
        <p:spPr>
          <a:xfrm>
            <a:off x="949057" y="850326"/>
            <a:ext cx="7085011" cy="3383671"/>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22"/>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3" name="Google Shape;813;p22"/>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4" name="Google Shape;814;p22"/>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5" name="Google Shape;815;p22"/>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6" name="Google Shape;816;p22"/>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7" name="Google Shape;817;p22"/>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8" name="Google Shape;818;p22"/>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9" name="Google Shape;819;p22"/>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0" name="Google Shape;820;p22"/>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1" name="Google Shape;821;p22"/>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2" name="Google Shape;822;p22"/>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3" name="Google Shape;823;p22"/>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4" name="Google Shape;824;p22"/>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5" name="Google Shape;825;p22"/>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6" name="Google Shape;826;p22"/>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7" name="Google Shape;827;p22"/>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8" name="Google Shape;828;p22"/>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9" name="Google Shape;829;p22"/>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0" name="Google Shape;830;p22"/>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1" name="Google Shape;831;p22"/>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2" name="Google Shape;832;p22"/>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3" name="Google Shape;833;p22"/>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4" name="Google Shape;834;p22"/>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5" name="Google Shape;835;p22"/>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6" name="Google Shape;836;p22"/>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7" name="Google Shape;837;p22"/>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8" name="Google Shape;838;p22"/>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9" name="Google Shape;839;p22"/>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0" name="Google Shape;840;p22"/>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1" name="Google Shape;841;p22"/>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2" name="Google Shape;842;p22"/>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3" name="Google Shape;843;p22"/>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0 – IMPEDIMENT LOG</a:t>
            </a:r>
            <a:endParaRPr b="1" i="0" sz="2400" u="none" cap="none" strike="noStrike">
              <a:solidFill>
                <a:schemeClr val="accent5"/>
              </a:solidFill>
              <a:latin typeface="Calibri"/>
              <a:ea typeface="Calibri"/>
              <a:cs typeface="Calibri"/>
              <a:sym typeface="Calibri"/>
            </a:endParaRPr>
          </a:p>
        </p:txBody>
      </p:sp>
      <p:sp>
        <p:nvSpPr>
          <p:cNvPr id="844" name="Google Shape;844;p22"/>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845" name="Google Shape;845;p22"/>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846" name="Google Shape;846;p22"/>
          <p:cNvGraphicFramePr/>
          <p:nvPr/>
        </p:nvGraphicFramePr>
        <p:xfrm>
          <a:off x="233475" y="885500"/>
          <a:ext cx="3000000" cy="3000000"/>
        </p:xfrm>
        <a:graphic>
          <a:graphicData uri="http://schemas.openxmlformats.org/drawingml/2006/table">
            <a:tbl>
              <a:tblPr>
                <a:noFill/>
                <a:tableStyleId>{EE498E1A-57DE-4726-B92D-F0067C99A70F}</a:tableStyleId>
              </a:tblPr>
              <a:tblGrid>
                <a:gridCol w="1213675"/>
                <a:gridCol w="1609250"/>
                <a:gridCol w="2423400"/>
                <a:gridCol w="845275"/>
                <a:gridCol w="591900"/>
                <a:gridCol w="1947050"/>
              </a:tblGrid>
              <a:tr h="586300">
                <a:tc>
                  <a:txBody>
                    <a:bodyPr/>
                    <a:lstStyle/>
                    <a:p>
                      <a:pPr indent="0" lvl="0" marL="0" marR="0" rtl="0" algn="ctr">
                        <a:lnSpc>
                          <a:spcPct val="115000"/>
                        </a:lnSpc>
                        <a:spcBef>
                          <a:spcPts val="0"/>
                        </a:spcBef>
                        <a:spcAft>
                          <a:spcPts val="0"/>
                        </a:spcAft>
                        <a:buClr>
                          <a:srgbClr val="000000"/>
                        </a:buClr>
                        <a:buSzPts val="1000"/>
                        <a:buFont typeface="Arial"/>
                        <a:buNone/>
                      </a:pPr>
                      <a:r>
                        <a:rPr b="1" lang="es-ES" sz="1000" u="none" cap="none" strike="noStrike">
                          <a:latin typeface="Calibri"/>
                          <a:ea typeface="Calibri"/>
                          <a:cs typeface="Calibri"/>
                          <a:sym typeface="Calibri"/>
                        </a:rPr>
                        <a:t>Fecha</a:t>
                      </a:r>
                      <a:endParaRPr b="1" sz="10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s-ES" sz="1000" u="none" cap="none" strike="noStrike">
                          <a:latin typeface="Calibri"/>
                          <a:ea typeface="Calibri"/>
                          <a:cs typeface="Calibri"/>
                          <a:sym typeface="Calibri"/>
                        </a:rPr>
                        <a:t>Tarea</a:t>
                      </a:r>
                      <a:endParaRPr b="1" sz="10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s-ES" sz="1000" u="none" cap="none" strike="noStrike">
                          <a:latin typeface="Calibri"/>
                          <a:ea typeface="Calibri"/>
                          <a:cs typeface="Calibri"/>
                          <a:sym typeface="Calibri"/>
                        </a:rPr>
                        <a:t>Impedimento</a:t>
                      </a:r>
                      <a:endParaRPr b="1" sz="10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s-ES" sz="1000" u="none" cap="none" strike="noStrike">
                          <a:latin typeface="Calibri"/>
                          <a:ea typeface="Calibri"/>
                          <a:cs typeface="Calibri"/>
                          <a:sym typeface="Calibri"/>
                        </a:rPr>
                        <a:t>Responsable</a:t>
                      </a:r>
                      <a:endParaRPr b="1" sz="10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s-ES" sz="1000" u="none" cap="none" strike="noStrike">
                          <a:latin typeface="Calibri"/>
                          <a:ea typeface="Calibri"/>
                          <a:cs typeface="Calibri"/>
                          <a:sym typeface="Calibri"/>
                        </a:rPr>
                        <a:t>Estado</a:t>
                      </a:r>
                      <a:endParaRPr b="1" sz="10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s-ES" sz="1000" u="none" cap="none" strike="noStrike">
                          <a:latin typeface="Calibri"/>
                          <a:ea typeface="Calibri"/>
                          <a:cs typeface="Calibri"/>
                          <a:sym typeface="Calibri"/>
                        </a:rPr>
                        <a:t>Acción</a:t>
                      </a:r>
                      <a:endParaRPr b="1" sz="10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322675">
                <a:tc>
                  <a:txBody>
                    <a:bodyPr/>
                    <a:lstStyle/>
                    <a:p>
                      <a:pPr indent="0" lvl="0" marL="0" marR="0" rtl="0" algn="ctr">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18/08/2025</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Reunión con interesados</a:t>
                      </a:r>
                      <a:endParaRPr sz="10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Poca capacidad horaria para la junta</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Eduardo</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Resuelto</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Pedir permiso en el trabajo.</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367225">
                <a:tc>
                  <a:txBody>
                    <a:bodyPr/>
                    <a:lstStyle/>
                    <a:p>
                      <a:pPr indent="0" lvl="0" marL="0" marR="0" rtl="0" algn="ctr">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25/8/2025</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Creación de entorno de trabajo</a:t>
                      </a:r>
                      <a:endParaRPr sz="10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Cámaras muy costosas</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Percy</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Resuelto</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Se encontró una cámara ip de un valor medio</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409325">
                <a:tc>
                  <a:txBody>
                    <a:bodyPr/>
                    <a:lstStyle/>
                    <a:p>
                      <a:pPr indent="0" lvl="0" marL="0" marR="0" rtl="0" algn="ctr">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5/10/2025</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Completar Sprint Backlog</a:t>
                      </a:r>
                      <a:endParaRPr sz="10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Confusión en el conteo de hora</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Percy</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Resuelto</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Se realiza consulta al profesor del funcionamiento</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586300">
                <a:tc>
                  <a:txBody>
                    <a:bodyPr/>
                    <a:lstStyle/>
                    <a:p>
                      <a:pPr indent="0" lvl="0" marL="0" marR="0" rtl="0" algn="ctr">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1/9/2025</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t/>
                      </a:r>
                      <a:endParaRPr sz="10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Generación de Trello</a:t>
                      </a:r>
                      <a:endParaRPr sz="10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Las tareas creadas no se guardaban</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Eduardo</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Resuelto</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Se actualizó el notebook</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586300">
                <a:tc>
                  <a:txBody>
                    <a:bodyPr/>
                    <a:lstStyle/>
                    <a:p>
                      <a:pPr indent="0" lvl="0" marL="0" marR="0" rtl="0" algn="ctr">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3/9/2025</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Completar Acta de Sprint Retrospective</a:t>
                      </a:r>
                      <a:endParaRPr sz="10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No había una plantilla creada</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Percy</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Resuelto</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s-ES" sz="1000" u="none" cap="none" strike="noStrike">
                          <a:latin typeface="Calibri"/>
                          <a:ea typeface="Calibri"/>
                          <a:cs typeface="Calibri"/>
                          <a:sym typeface="Calibri"/>
                        </a:rPr>
                        <a:t>Se busco en proyectos pasados</a:t>
                      </a:r>
                      <a:endParaRPr sz="10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23"/>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2" name="Google Shape;852;p23"/>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p23"/>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4" name="Google Shape;854;p23"/>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5" name="Google Shape;855;p23"/>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6" name="Google Shape;856;p23"/>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7" name="Google Shape;857;p23"/>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8" name="Google Shape;858;p23"/>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9" name="Google Shape;859;p23"/>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0" name="Google Shape;860;p23"/>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1" name="Google Shape;861;p23"/>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2" name="Google Shape;862;p23"/>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3" name="Google Shape;863;p23"/>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4" name="Google Shape;864;p23"/>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5" name="Google Shape;865;p23"/>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6" name="Google Shape;866;p23"/>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7" name="Google Shape;867;p23"/>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8" name="Google Shape;868;p23"/>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9" name="Google Shape;869;p23"/>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0" name="Google Shape;870;p23"/>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1" name="Google Shape;871;p23"/>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2" name="Google Shape;872;p23"/>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3" name="Google Shape;873;p23"/>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4" name="Google Shape;874;p23"/>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5" name="Google Shape;875;p23"/>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6" name="Google Shape;876;p23"/>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7" name="Google Shape;877;p23"/>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8" name="Google Shape;878;p23"/>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9" name="Google Shape;879;p23"/>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0" name="Google Shape;880;p23"/>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1" name="Google Shape;881;p23"/>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2" name="Google Shape;882;p23"/>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1 – Captura de imagen </a:t>
            </a:r>
            <a:endParaRPr b="1" i="0" sz="2400" u="none" cap="none" strike="noStrike">
              <a:solidFill>
                <a:schemeClr val="accent5"/>
              </a:solidFill>
              <a:latin typeface="Calibri"/>
              <a:ea typeface="Calibri"/>
              <a:cs typeface="Calibri"/>
              <a:sym typeface="Calibri"/>
            </a:endParaRPr>
          </a:p>
        </p:txBody>
      </p:sp>
      <p:sp>
        <p:nvSpPr>
          <p:cNvPr id="883" name="Google Shape;883;p2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884" name="Google Shape;884;p2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885" name="Google Shape;885;p23"/>
          <p:cNvSpPr txBox="1"/>
          <p:nvPr/>
        </p:nvSpPr>
        <p:spPr>
          <a:xfrm>
            <a:off x="352007" y="716563"/>
            <a:ext cx="7378500" cy="14819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s-ES" sz="1400" u="none" cap="none" strike="noStrike">
                <a:solidFill>
                  <a:schemeClr val="dk1"/>
                </a:solidFill>
                <a:latin typeface="Calibri"/>
                <a:ea typeface="Calibri"/>
                <a:cs typeface="Calibri"/>
                <a:sym typeface="Calibri"/>
              </a:rPr>
              <a:t>Duración: 3 semanas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Arial"/>
              <a:buNone/>
            </a:pPr>
            <a:r>
              <a:rPr b="0" i="0" lang="es-ES" sz="1400" u="none" cap="none" strike="noStrike">
                <a:solidFill>
                  <a:schemeClr val="dk1"/>
                </a:solidFill>
                <a:latin typeface="Calibri"/>
                <a:ea typeface="Calibri"/>
                <a:cs typeface="Calibri"/>
                <a:sym typeface="Calibri"/>
              </a:rPr>
              <a:t>Evidencias: Documentación Scrum definida y avance del incremento </a:t>
            </a:r>
            <a:endParaRPr b="0" i="0" sz="1400" u="none" cap="none" strike="noStrike">
              <a:solidFill>
                <a:schemeClr val="dk1"/>
              </a:solidFill>
              <a:latin typeface="Calibri"/>
              <a:ea typeface="Calibri"/>
              <a:cs typeface="Calibri"/>
              <a:sym typeface="Calibri"/>
            </a:endParaRPr>
          </a:p>
          <a:p>
            <a:pPr indent="0" lvl="0" marL="1270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Calibri"/>
              <a:ea typeface="Calibri"/>
              <a:cs typeface="Calibri"/>
              <a:sym typeface="Calibri"/>
            </a:endParaRPr>
          </a:p>
          <a:p>
            <a:pPr indent="0" lvl="0" marL="12700" marR="0" rtl="0" algn="l">
              <a:lnSpc>
                <a:spcPct val="115000"/>
              </a:lnSpc>
              <a:spcBef>
                <a:spcPts val="0"/>
              </a:spcBef>
              <a:spcAft>
                <a:spcPts val="0"/>
              </a:spcAft>
              <a:buClr>
                <a:schemeClr val="dk1"/>
              </a:buClr>
              <a:buSzPts val="1100"/>
              <a:buFont typeface="Arial"/>
              <a:buNone/>
            </a:pPr>
            <a:r>
              <a:rPr b="0" i="0" lang="es-ES" sz="1400" u="none" cap="none" strike="noStrike">
                <a:solidFill>
                  <a:schemeClr val="dk1"/>
                </a:solidFill>
                <a:latin typeface="Calibri"/>
                <a:ea typeface="Calibri"/>
                <a:cs typeface="Calibri"/>
                <a:sym typeface="Calibri"/>
              </a:rPr>
              <a:t>Descripción: Desarrollo del código inicial para capturar el conteo de personas en tiempo real utilizando las historias de usuarios para seguir con la idea principal de Migratio </a:t>
            </a:r>
            <a:endParaRPr b="1" i="0" sz="1455" u="none" cap="none" strike="noStrike">
              <a:solidFill>
                <a:srgbClr val="FFFFFF"/>
              </a:solidFill>
              <a:latin typeface="Arial"/>
              <a:ea typeface="Arial"/>
              <a:cs typeface="Arial"/>
              <a:sym typeface="Arial"/>
            </a:endParaRPr>
          </a:p>
        </p:txBody>
      </p:sp>
      <p:sp>
        <p:nvSpPr>
          <p:cNvPr id="886" name="Google Shape;886;p23"/>
          <p:cNvSpPr/>
          <p:nvPr/>
        </p:nvSpPr>
        <p:spPr>
          <a:xfrm>
            <a:off x="1836200" y="2849200"/>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ES" sz="1200" u="none" cap="none" strike="noStrike">
                <a:solidFill>
                  <a:srgbClr val="000000"/>
                </a:solidFill>
                <a:latin typeface="Arial"/>
                <a:ea typeface="Arial"/>
                <a:cs typeface="Arial"/>
                <a:sym typeface="Arial"/>
              </a:rPr>
              <a:t>Capturar imagen con cámara</a:t>
            </a:r>
            <a:endParaRPr b="0" i="0" sz="1200" u="none" cap="none" strike="noStrike">
              <a:solidFill>
                <a:srgbClr val="000000"/>
              </a:solidFill>
              <a:latin typeface="Arial"/>
              <a:ea typeface="Arial"/>
              <a:cs typeface="Arial"/>
              <a:sym typeface="Arial"/>
            </a:endParaRPr>
          </a:p>
        </p:txBody>
      </p:sp>
      <p:sp>
        <p:nvSpPr>
          <p:cNvPr id="887" name="Google Shape;887;p23"/>
          <p:cNvSpPr/>
          <p:nvPr/>
        </p:nvSpPr>
        <p:spPr>
          <a:xfrm>
            <a:off x="5160313" y="2869863"/>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ES" sz="1200" u="none" cap="none" strike="noStrike">
                <a:solidFill>
                  <a:srgbClr val="000000"/>
                </a:solidFill>
                <a:latin typeface="Arial"/>
                <a:ea typeface="Arial"/>
                <a:cs typeface="Arial"/>
                <a:sym typeface="Arial"/>
              </a:rPr>
              <a:t>Procesar imagen</a:t>
            </a:r>
            <a:endParaRPr b="0" i="0" sz="1200" u="none" cap="none" strike="noStrike">
              <a:solidFill>
                <a:srgbClr val="000000"/>
              </a:solidFill>
              <a:latin typeface="Arial"/>
              <a:ea typeface="Arial"/>
              <a:cs typeface="Arial"/>
              <a:sym typeface="Arial"/>
            </a:endParaRPr>
          </a:p>
        </p:txBody>
      </p:sp>
      <p:sp>
        <p:nvSpPr>
          <p:cNvPr id="888" name="Google Shape;888;p23"/>
          <p:cNvSpPr txBox="1"/>
          <p:nvPr/>
        </p:nvSpPr>
        <p:spPr>
          <a:xfrm>
            <a:off x="3429000" y="2348638"/>
            <a:ext cx="1955100" cy="29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Historia de usuarios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24"/>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4" name="Google Shape;894;p24"/>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5" name="Google Shape;895;p24"/>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6" name="Google Shape;896;p24"/>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7" name="Google Shape;897;p24"/>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8" name="Google Shape;898;p24"/>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9" name="Google Shape;899;p24"/>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0" name="Google Shape;900;p24"/>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1" name="Google Shape;901;p24"/>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2" name="Google Shape;902;p24"/>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3" name="Google Shape;903;p24"/>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4" name="Google Shape;904;p24"/>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5" name="Google Shape;905;p24"/>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6" name="Google Shape;906;p24"/>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7" name="Google Shape;907;p24"/>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8" name="Google Shape;908;p24"/>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9" name="Google Shape;909;p24"/>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0" name="Google Shape;910;p24"/>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1" name="Google Shape;911;p24"/>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p24"/>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3" name="Google Shape;913;p24"/>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4" name="Google Shape;914;p24"/>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5" name="Google Shape;915;p24"/>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p24"/>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7" name="Google Shape;917;p24"/>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8" name="Google Shape;918;p24"/>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9" name="Google Shape;919;p24"/>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0" name="Google Shape;920;p24"/>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1" name="Google Shape;921;p24"/>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2" name="Google Shape;922;p24"/>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3" name="Google Shape;923;p24"/>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4" name="Google Shape;924;p24"/>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1 – BACKLOG</a:t>
            </a:r>
            <a:endParaRPr b="1" i="0" sz="2400" u="none" cap="none" strike="noStrike">
              <a:solidFill>
                <a:schemeClr val="accent5"/>
              </a:solidFill>
              <a:latin typeface="Calibri"/>
              <a:ea typeface="Calibri"/>
              <a:cs typeface="Calibri"/>
              <a:sym typeface="Calibri"/>
            </a:endParaRPr>
          </a:p>
        </p:txBody>
      </p:sp>
      <p:sp>
        <p:nvSpPr>
          <p:cNvPr id="925" name="Google Shape;925;p2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926" name="Google Shape;926;p2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927" name="Google Shape;927;p24"/>
          <p:cNvPicPr preferRelativeResize="0"/>
          <p:nvPr/>
        </p:nvPicPr>
        <p:blipFill rotWithShape="1">
          <a:blip r:embed="rId5">
            <a:alphaModFix/>
          </a:blip>
          <a:srcRect b="0" l="0" r="0" t="0"/>
          <a:stretch/>
        </p:blipFill>
        <p:spPr>
          <a:xfrm>
            <a:off x="482825" y="756128"/>
            <a:ext cx="6890478" cy="1606325"/>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928" name="Google Shape;928;p24"/>
          <p:cNvPicPr preferRelativeResize="0"/>
          <p:nvPr/>
        </p:nvPicPr>
        <p:blipFill rotWithShape="1">
          <a:blip r:embed="rId6">
            <a:alphaModFix/>
          </a:blip>
          <a:srcRect b="0" l="0" r="0" t="0"/>
          <a:stretch/>
        </p:blipFill>
        <p:spPr>
          <a:xfrm>
            <a:off x="482825" y="2719952"/>
            <a:ext cx="8077603" cy="1496343"/>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25"/>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4" name="Google Shape;934;p25"/>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5" name="Google Shape;935;p25"/>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6" name="Google Shape;936;p25"/>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7" name="Google Shape;937;p25"/>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8" name="Google Shape;938;p25"/>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9" name="Google Shape;939;p25"/>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0" name="Google Shape;940;p25"/>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1" name="Google Shape;941;p25"/>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2" name="Google Shape;942;p25"/>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3" name="Google Shape;943;p25"/>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4" name="Google Shape;944;p25"/>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5" name="Google Shape;945;p25"/>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6" name="Google Shape;946;p25"/>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7" name="Google Shape;947;p25"/>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8" name="Google Shape;948;p25"/>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9" name="Google Shape;949;p25"/>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0" name="Google Shape;950;p25"/>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1" name="Google Shape;951;p25"/>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2" name="Google Shape;952;p25"/>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3" name="Google Shape;953;p25"/>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4" name="Google Shape;954;p25"/>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5" name="Google Shape;955;p25"/>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6" name="Google Shape;956;p25"/>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7" name="Google Shape;957;p25"/>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8" name="Google Shape;958;p25"/>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9" name="Google Shape;959;p25"/>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0" name="Google Shape;960;p25"/>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1" name="Google Shape;961;p25"/>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2" name="Google Shape;962;p25"/>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3" name="Google Shape;963;p25"/>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4" name="Google Shape;964;p25"/>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1 – BURNDOWN CHART</a:t>
            </a:r>
            <a:endParaRPr b="1" i="0" sz="2400" u="none" cap="none" strike="noStrike">
              <a:solidFill>
                <a:schemeClr val="accent5"/>
              </a:solidFill>
              <a:latin typeface="Calibri"/>
              <a:ea typeface="Calibri"/>
              <a:cs typeface="Calibri"/>
              <a:sym typeface="Calibri"/>
            </a:endParaRPr>
          </a:p>
        </p:txBody>
      </p:sp>
      <p:sp>
        <p:nvSpPr>
          <p:cNvPr id="965" name="Google Shape;965;p25"/>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966" name="Google Shape;966;p25"/>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967" name="Google Shape;967;p25"/>
          <p:cNvPicPr preferRelativeResize="0"/>
          <p:nvPr/>
        </p:nvPicPr>
        <p:blipFill rotWithShape="1">
          <a:blip r:embed="rId5">
            <a:alphaModFix/>
          </a:blip>
          <a:srcRect b="0" l="0" r="0" t="0"/>
          <a:stretch/>
        </p:blipFill>
        <p:spPr>
          <a:xfrm>
            <a:off x="713644" y="1108746"/>
            <a:ext cx="8077281" cy="2794856"/>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26"/>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3" name="Google Shape;973;p26"/>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4" name="Google Shape;974;p26"/>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5" name="Google Shape;975;p26"/>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6" name="Google Shape;976;p26"/>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7" name="Google Shape;977;p26"/>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8" name="Google Shape;978;p26"/>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9" name="Google Shape;979;p26"/>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0" name="Google Shape;980;p26"/>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1" name="Google Shape;981;p26"/>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2" name="Google Shape;982;p26"/>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3" name="Google Shape;983;p26"/>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4" name="Google Shape;984;p26"/>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5" name="Google Shape;985;p26"/>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6" name="Google Shape;986;p26"/>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7" name="Google Shape;987;p26"/>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8" name="Google Shape;988;p26"/>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9" name="Google Shape;989;p26"/>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0" name="Google Shape;990;p26"/>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1" name="Google Shape;991;p26"/>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2" name="Google Shape;992;p26"/>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26"/>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4" name="Google Shape;994;p26"/>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5" name="Google Shape;995;p26"/>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6" name="Google Shape;996;p26"/>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26"/>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8" name="Google Shape;998;p26"/>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9" name="Google Shape;999;p26"/>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0" name="Google Shape;1000;p26"/>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1" name="Google Shape;1001;p26"/>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2" name="Google Shape;1002;p26"/>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3" name="Google Shape;1003;p26"/>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1 – IMPEDIMENT LOG</a:t>
            </a:r>
            <a:endParaRPr b="1" i="0" sz="2400" u="none" cap="none" strike="noStrike">
              <a:solidFill>
                <a:schemeClr val="accent5"/>
              </a:solidFill>
              <a:latin typeface="Calibri"/>
              <a:ea typeface="Calibri"/>
              <a:cs typeface="Calibri"/>
              <a:sym typeface="Calibri"/>
            </a:endParaRPr>
          </a:p>
        </p:txBody>
      </p:sp>
      <p:sp>
        <p:nvSpPr>
          <p:cNvPr id="1004" name="Google Shape;1004;p26"/>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005" name="Google Shape;1005;p26"/>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1006" name="Google Shape;1006;p26"/>
          <p:cNvGraphicFramePr/>
          <p:nvPr/>
        </p:nvGraphicFramePr>
        <p:xfrm>
          <a:off x="378625" y="957270"/>
          <a:ext cx="3000000" cy="3000000"/>
        </p:xfrm>
        <a:graphic>
          <a:graphicData uri="http://schemas.openxmlformats.org/drawingml/2006/table">
            <a:tbl>
              <a:tblPr>
                <a:noFill/>
                <a:tableStyleId>{EE498E1A-57DE-4726-B92D-F0067C99A70F}</a:tableStyleId>
              </a:tblPr>
              <a:tblGrid>
                <a:gridCol w="1265100"/>
                <a:gridCol w="937800"/>
                <a:gridCol w="1008550"/>
                <a:gridCol w="1610150"/>
                <a:gridCol w="672375"/>
                <a:gridCol w="627925"/>
                <a:gridCol w="2371225"/>
              </a:tblGrid>
              <a:tr h="114300">
                <a:tc>
                  <a:txBody>
                    <a:bodyPr/>
                    <a:lstStyle/>
                    <a:p>
                      <a:pPr indent="0" lvl="0" marL="0" marR="0" rtl="0" algn="ctr">
                        <a:lnSpc>
                          <a:spcPct val="115000"/>
                        </a:lnSpc>
                        <a:spcBef>
                          <a:spcPts val="0"/>
                        </a:spcBef>
                        <a:spcAft>
                          <a:spcPts val="0"/>
                        </a:spcAft>
                        <a:buClr>
                          <a:srgbClr val="000000"/>
                        </a:buClr>
                        <a:buSzPts val="900"/>
                        <a:buFont typeface="Arial"/>
                        <a:buNone/>
                      </a:pPr>
                      <a:r>
                        <a:rPr b="1" lang="es-ES" sz="900" u="none" cap="none" strike="noStrike">
                          <a:latin typeface="Calibri"/>
                          <a:ea typeface="Calibri"/>
                          <a:cs typeface="Calibri"/>
                          <a:sym typeface="Calibri"/>
                        </a:rPr>
                        <a:t>Fecha</a:t>
                      </a:r>
                      <a:endParaRPr b="1" sz="9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s-ES" sz="900" u="none" cap="none" strike="noStrike">
                          <a:latin typeface="Calibri"/>
                          <a:ea typeface="Calibri"/>
                          <a:cs typeface="Calibri"/>
                          <a:sym typeface="Calibri"/>
                        </a:rPr>
                        <a:t>HU</a:t>
                      </a:r>
                      <a:endParaRPr b="1" sz="9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s-ES" sz="900" u="none" cap="none" strike="noStrike">
                          <a:latin typeface="Calibri"/>
                          <a:ea typeface="Calibri"/>
                          <a:cs typeface="Calibri"/>
                          <a:sym typeface="Calibri"/>
                        </a:rPr>
                        <a:t>Tarea</a:t>
                      </a:r>
                      <a:endParaRPr b="1" sz="9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s-ES" sz="900" u="none" cap="none" strike="noStrike">
                          <a:latin typeface="Calibri"/>
                          <a:ea typeface="Calibri"/>
                          <a:cs typeface="Calibri"/>
                          <a:sym typeface="Calibri"/>
                        </a:rPr>
                        <a:t>Impedimento</a:t>
                      </a:r>
                      <a:endParaRPr b="1" sz="9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s-ES" sz="900" u="none" cap="none" strike="noStrike">
                          <a:latin typeface="Calibri"/>
                          <a:ea typeface="Calibri"/>
                          <a:cs typeface="Calibri"/>
                          <a:sym typeface="Calibri"/>
                        </a:rPr>
                        <a:t>Responsable</a:t>
                      </a:r>
                      <a:endParaRPr b="1" sz="9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s-ES" sz="900" u="none" cap="none" strike="noStrike">
                          <a:latin typeface="Calibri"/>
                          <a:ea typeface="Calibri"/>
                          <a:cs typeface="Calibri"/>
                          <a:sym typeface="Calibri"/>
                        </a:rPr>
                        <a:t>Estado</a:t>
                      </a:r>
                      <a:endParaRPr b="1" sz="9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s-ES" sz="900" u="none" cap="none" strike="noStrike">
                          <a:latin typeface="Calibri"/>
                          <a:ea typeface="Calibri"/>
                          <a:cs typeface="Calibri"/>
                          <a:sym typeface="Calibri"/>
                        </a:rPr>
                        <a:t>Acción</a:t>
                      </a:r>
                      <a:endParaRPr b="1" sz="9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114300">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15/9/2025</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HU-03</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Investigar cámara</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Retraso en la entrega de la cámara</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Eduardo</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Completado</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Se contactó a otro proveedor.</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114300">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21/9/2025</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HU-03</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Configurar transmisión</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Falta del switch poe</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Eduardo</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Completado</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Se compró el switch poe</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114300">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16/9/2025</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HU-03</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Configurar transmisión</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Cámara no sincroniza drivers</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Percy</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Completado</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Buscar drivers alternativos / probar en Windows</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33375">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17/9/2025</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HU-03</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Desarrollar script</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El script no procesa frames en tiempo real</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Eduardo</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Completado</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Optimizar librerías, Editar código</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33375">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20/9/2025</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HU-03</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Desarrollar script</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Problema de visualización en dashboard tiempo real</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Eduardo</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Completado</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900"/>
                        <a:buFont typeface="Arial"/>
                        <a:buNone/>
                      </a:pPr>
                      <a:r>
                        <a:rPr lang="es-ES" sz="900" u="none" cap="none" strike="noStrike">
                          <a:latin typeface="Calibri"/>
                          <a:ea typeface="Calibri"/>
                          <a:cs typeface="Calibri"/>
                          <a:sym typeface="Calibri"/>
                        </a:rPr>
                        <a:t>Edito el código cambiando parámetros del dashboard</a:t>
                      </a:r>
                      <a:endParaRPr sz="9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27"/>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2" name="Google Shape;1012;p27"/>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3" name="Google Shape;1013;p27"/>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4" name="Google Shape;1014;p27"/>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5" name="Google Shape;1015;p27"/>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6" name="Google Shape;1016;p27"/>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7" name="Google Shape;1017;p27"/>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8" name="Google Shape;1018;p27"/>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9" name="Google Shape;1019;p27"/>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0" name="Google Shape;1020;p27"/>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1" name="Google Shape;1021;p27"/>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2" name="Google Shape;1022;p27"/>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3" name="Google Shape;1023;p27"/>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4" name="Google Shape;1024;p27"/>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5" name="Google Shape;1025;p27"/>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6" name="Google Shape;1026;p27"/>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7" name="Google Shape;1027;p27"/>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8" name="Google Shape;1028;p27"/>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9" name="Google Shape;1029;p27"/>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0" name="Google Shape;1030;p27"/>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1" name="Google Shape;1031;p27"/>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2" name="Google Shape;1032;p27"/>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3" name="Google Shape;1033;p27"/>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4" name="Google Shape;1034;p27"/>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5" name="Google Shape;1035;p27"/>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6" name="Google Shape;1036;p27"/>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7" name="Google Shape;1037;p27"/>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8" name="Google Shape;1038;p27"/>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9" name="Google Shape;1039;p27"/>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0" name="Google Shape;1040;p27"/>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1" name="Google Shape;1041;p27"/>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2" name="Google Shape;1042;p27"/>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1 – EVIDENCIA PRUEBAS</a:t>
            </a:r>
            <a:endParaRPr b="1" i="0" sz="2400" u="none" cap="none" strike="noStrike">
              <a:solidFill>
                <a:schemeClr val="accent5"/>
              </a:solidFill>
              <a:latin typeface="Calibri"/>
              <a:ea typeface="Calibri"/>
              <a:cs typeface="Calibri"/>
              <a:sym typeface="Calibri"/>
            </a:endParaRPr>
          </a:p>
        </p:txBody>
      </p:sp>
      <p:sp>
        <p:nvSpPr>
          <p:cNvPr id="1043" name="Google Shape;1043;p27"/>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044" name="Google Shape;1044;p27"/>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045" name="Google Shape;1045;p27"/>
          <p:cNvPicPr preferRelativeResize="0"/>
          <p:nvPr/>
        </p:nvPicPr>
        <p:blipFill rotWithShape="1">
          <a:blip r:embed="rId5">
            <a:alphaModFix/>
          </a:blip>
          <a:srcRect b="0" l="0" r="0" t="0"/>
          <a:stretch/>
        </p:blipFill>
        <p:spPr>
          <a:xfrm>
            <a:off x="700833" y="815852"/>
            <a:ext cx="7847903" cy="629875"/>
          </a:xfrm>
          <a:prstGeom prst="rect">
            <a:avLst/>
          </a:prstGeom>
          <a:noFill/>
          <a:ln>
            <a:noFill/>
          </a:ln>
        </p:spPr>
      </p:pic>
      <p:pic>
        <p:nvPicPr>
          <p:cNvPr id="1046" name="Google Shape;1046;p27"/>
          <p:cNvPicPr preferRelativeResize="0"/>
          <p:nvPr/>
        </p:nvPicPr>
        <p:blipFill rotWithShape="1">
          <a:blip r:embed="rId6">
            <a:alphaModFix/>
          </a:blip>
          <a:srcRect b="0" l="0" r="0" t="11503"/>
          <a:stretch/>
        </p:blipFill>
        <p:spPr>
          <a:xfrm>
            <a:off x="2059857" y="1601810"/>
            <a:ext cx="5529836" cy="3060901"/>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28"/>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2" name="Google Shape;1052;p28"/>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3" name="Google Shape;1053;p28"/>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4" name="Google Shape;1054;p28"/>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5" name="Google Shape;1055;p28"/>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6" name="Google Shape;1056;p28"/>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7" name="Google Shape;1057;p28"/>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8" name="Google Shape;1058;p28"/>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9" name="Google Shape;1059;p28"/>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0" name="Google Shape;1060;p28"/>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1" name="Google Shape;1061;p28"/>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2" name="Google Shape;1062;p28"/>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3" name="Google Shape;1063;p28"/>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4" name="Google Shape;1064;p28"/>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5" name="Google Shape;1065;p28"/>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6" name="Google Shape;1066;p28"/>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7" name="Google Shape;1067;p28"/>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8" name="Google Shape;1068;p28"/>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9" name="Google Shape;1069;p28"/>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0" name="Google Shape;1070;p28"/>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1" name="Google Shape;1071;p28"/>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2" name="Google Shape;1072;p28"/>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3" name="Google Shape;1073;p28"/>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4" name="Google Shape;1074;p28"/>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5" name="Google Shape;1075;p28"/>
          <p:cNvSpPr/>
          <p:nvPr/>
        </p:nvSpPr>
        <p:spPr>
          <a:xfrm>
            <a:off x="4772829" y="1791743"/>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6" name="Google Shape;1076;p28"/>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7" name="Google Shape;1077;p28"/>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8" name="Google Shape;1078;p28"/>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9" name="Google Shape;1079;p28"/>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0" name="Google Shape;1080;p28"/>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1" name="Google Shape;1081;p28"/>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2 – dashboard y densidad</a:t>
            </a:r>
            <a:endParaRPr b="1" i="0" sz="2400" u="none" cap="none" strike="noStrike">
              <a:solidFill>
                <a:schemeClr val="accent5"/>
              </a:solidFill>
              <a:latin typeface="Calibri"/>
              <a:ea typeface="Calibri"/>
              <a:cs typeface="Calibri"/>
              <a:sym typeface="Calibri"/>
            </a:endParaRPr>
          </a:p>
        </p:txBody>
      </p:sp>
      <p:sp>
        <p:nvSpPr>
          <p:cNvPr id="1082" name="Google Shape;1082;p28"/>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083" name="Google Shape;1083;p28"/>
          <p:cNvSpPr txBox="1"/>
          <p:nvPr/>
        </p:nvSpPr>
        <p:spPr>
          <a:xfrm>
            <a:off x="903457" y="630075"/>
            <a:ext cx="7518084" cy="12341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s-ES" sz="1400" u="none" cap="none" strike="noStrike">
                <a:solidFill>
                  <a:schemeClr val="dk1"/>
                </a:solidFill>
                <a:latin typeface="Calibri"/>
                <a:ea typeface="Calibri"/>
                <a:cs typeface="Calibri"/>
                <a:sym typeface="Calibri"/>
              </a:rPr>
              <a:t>Duración: 3 semanas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Arial"/>
              <a:buNone/>
            </a:pPr>
            <a:r>
              <a:rPr b="0" i="0" lang="es-ES" sz="1400" u="none" cap="none" strike="noStrike">
                <a:solidFill>
                  <a:schemeClr val="dk1"/>
                </a:solidFill>
                <a:latin typeface="Calibri"/>
                <a:ea typeface="Calibri"/>
                <a:cs typeface="Calibri"/>
                <a:sym typeface="Calibri"/>
              </a:rPr>
              <a:t>Evidencias: Documentación Scrum definida y avance del incremento</a:t>
            </a:r>
            <a:endParaRPr b="0" i="0" sz="1400" u="none" cap="none" strike="noStrike">
              <a:solidFill>
                <a:schemeClr val="dk1"/>
              </a:solidFill>
              <a:latin typeface="Calibri"/>
              <a:ea typeface="Calibri"/>
              <a:cs typeface="Calibri"/>
              <a:sym typeface="Calibri"/>
            </a:endParaRPr>
          </a:p>
          <a:p>
            <a:pPr indent="0" lvl="0" marL="1270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Calibri"/>
              <a:ea typeface="Calibri"/>
              <a:cs typeface="Calibri"/>
              <a:sym typeface="Calibri"/>
            </a:endParaRPr>
          </a:p>
          <a:p>
            <a:pPr indent="0" lvl="0" marL="12700" marR="0" rtl="0" algn="l">
              <a:lnSpc>
                <a:spcPct val="115000"/>
              </a:lnSpc>
              <a:spcBef>
                <a:spcPts val="0"/>
              </a:spcBef>
              <a:spcAft>
                <a:spcPts val="0"/>
              </a:spcAft>
              <a:buClr>
                <a:schemeClr val="dk1"/>
              </a:buClr>
              <a:buSzPts val="1100"/>
              <a:buFont typeface="Arial"/>
              <a:buNone/>
            </a:pPr>
            <a:r>
              <a:rPr b="0" i="0" lang="es-ES" sz="1400" u="none" cap="none" strike="noStrike">
                <a:solidFill>
                  <a:schemeClr val="dk1"/>
                </a:solidFill>
                <a:latin typeface="Calibri"/>
                <a:ea typeface="Calibri"/>
                <a:cs typeface="Calibri"/>
                <a:sym typeface="Calibri"/>
              </a:rPr>
              <a:t>Descripción: Migración del código a collab y montaje de base de datos y backend/frontend en render </a:t>
            </a:r>
            <a:endParaRPr b="1" i="0" sz="1455" u="none" cap="none" strike="noStrike">
              <a:solidFill>
                <a:srgbClr val="FFFFFF"/>
              </a:solidFill>
              <a:latin typeface="Arial"/>
              <a:ea typeface="Arial"/>
              <a:cs typeface="Arial"/>
              <a:sym typeface="Arial"/>
            </a:endParaRPr>
          </a:p>
        </p:txBody>
      </p:sp>
      <p:sp>
        <p:nvSpPr>
          <p:cNvPr id="1084" name="Google Shape;1084;p28"/>
          <p:cNvSpPr/>
          <p:nvPr/>
        </p:nvSpPr>
        <p:spPr>
          <a:xfrm>
            <a:off x="1936224" y="2891845"/>
            <a:ext cx="1919186"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ES" sz="1200" u="none" cap="none" strike="noStrike">
                <a:solidFill>
                  <a:srgbClr val="000000"/>
                </a:solidFill>
                <a:latin typeface="Arial"/>
                <a:ea typeface="Arial"/>
                <a:cs typeface="Arial"/>
                <a:sym typeface="Arial"/>
              </a:rPr>
              <a:t>Capturar imagen con cámara</a:t>
            </a:r>
            <a:endParaRPr b="0" i="0" sz="1200" u="none" cap="none" strike="noStrike">
              <a:solidFill>
                <a:srgbClr val="000000"/>
              </a:solidFill>
              <a:latin typeface="Arial"/>
              <a:ea typeface="Arial"/>
              <a:cs typeface="Arial"/>
              <a:sym typeface="Arial"/>
            </a:endParaRPr>
          </a:p>
        </p:txBody>
      </p:sp>
      <p:sp>
        <p:nvSpPr>
          <p:cNvPr id="1085" name="Google Shape;1085;p28"/>
          <p:cNvSpPr/>
          <p:nvPr/>
        </p:nvSpPr>
        <p:spPr>
          <a:xfrm>
            <a:off x="5811481" y="2887995"/>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ES" sz="1200" u="none" cap="none" strike="noStrike">
                <a:solidFill>
                  <a:srgbClr val="000000"/>
                </a:solidFill>
                <a:latin typeface="Arial"/>
                <a:ea typeface="Arial"/>
                <a:cs typeface="Arial"/>
                <a:sym typeface="Arial"/>
              </a:rPr>
              <a:t>Procesar imagen</a:t>
            </a:r>
            <a:endParaRPr b="0" i="0" sz="1200" u="none" cap="none" strike="noStrike">
              <a:solidFill>
                <a:srgbClr val="000000"/>
              </a:solidFill>
              <a:latin typeface="Arial"/>
              <a:ea typeface="Arial"/>
              <a:cs typeface="Arial"/>
              <a:sym typeface="Arial"/>
            </a:endParaRPr>
          </a:p>
        </p:txBody>
      </p:sp>
      <p:sp>
        <p:nvSpPr>
          <p:cNvPr id="1086" name="Google Shape;1086;p28"/>
          <p:cNvSpPr txBox="1"/>
          <p:nvPr/>
        </p:nvSpPr>
        <p:spPr>
          <a:xfrm>
            <a:off x="3887275" y="2316016"/>
            <a:ext cx="1955100" cy="29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Historia de usuarios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29"/>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2" name="Google Shape;1092;p29"/>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3" name="Google Shape;1093;p29"/>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4" name="Google Shape;1094;p29"/>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5" name="Google Shape;1095;p29"/>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6" name="Google Shape;1096;p29"/>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7" name="Google Shape;1097;p29"/>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8" name="Google Shape;1098;p29"/>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9" name="Google Shape;1099;p29"/>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0" name="Google Shape;1100;p29"/>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1" name="Google Shape;1101;p29"/>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2" name="Google Shape;1102;p29"/>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3" name="Google Shape;1103;p29"/>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4" name="Google Shape;1104;p29"/>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5" name="Google Shape;1105;p29"/>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6" name="Google Shape;1106;p29"/>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7" name="Google Shape;1107;p29"/>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8" name="Google Shape;1108;p29"/>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9" name="Google Shape;1109;p29"/>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0" name="Google Shape;1110;p29"/>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1" name="Google Shape;1111;p29"/>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2" name="Google Shape;1112;p29"/>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3" name="Google Shape;1113;p29"/>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4" name="Google Shape;1114;p29"/>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5" name="Google Shape;1115;p29"/>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6" name="Google Shape;1116;p29"/>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7" name="Google Shape;1117;p29"/>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8" name="Google Shape;1118;p29"/>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9" name="Google Shape;1119;p29"/>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0" name="Google Shape;1120;p29"/>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1" name="Google Shape;1121;p29"/>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2" name="Google Shape;1122;p29"/>
          <p:cNvSpPr txBox="1"/>
          <p:nvPr/>
        </p:nvSpPr>
        <p:spPr>
          <a:xfrm>
            <a:off x="381002" y="23653"/>
            <a:ext cx="780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2 – BACKLOG</a:t>
            </a:r>
            <a:endParaRPr b="1" i="0" sz="2400" u="none" cap="none" strike="noStrike">
              <a:solidFill>
                <a:schemeClr val="accent5"/>
              </a:solidFill>
              <a:latin typeface="Calibri"/>
              <a:ea typeface="Calibri"/>
              <a:cs typeface="Calibri"/>
              <a:sym typeface="Calibri"/>
            </a:endParaRPr>
          </a:p>
        </p:txBody>
      </p:sp>
      <p:sp>
        <p:nvSpPr>
          <p:cNvPr id="1123" name="Google Shape;1123;p29"/>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124" name="Google Shape;1124;p29"/>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1125" name="Google Shape;1125;p29"/>
          <p:cNvGraphicFramePr/>
          <p:nvPr/>
        </p:nvGraphicFramePr>
        <p:xfrm>
          <a:off x="381000" y="493008"/>
          <a:ext cx="3000000" cy="3000000"/>
        </p:xfrm>
        <a:graphic>
          <a:graphicData uri="http://schemas.openxmlformats.org/drawingml/2006/table">
            <a:tbl>
              <a:tblPr>
                <a:noFill/>
                <a:tableStyleId>{EE498E1A-57DE-4726-B92D-F0067C99A70F}</a:tableStyleId>
              </a:tblPr>
              <a:tblGrid>
                <a:gridCol w="993750"/>
                <a:gridCol w="2772000"/>
                <a:gridCol w="2510500"/>
                <a:gridCol w="1290100"/>
                <a:gridCol w="662500"/>
              </a:tblGrid>
              <a:tr h="563850">
                <a:tc>
                  <a:txBody>
                    <a:bodyPr/>
                    <a:lstStyle/>
                    <a:p>
                      <a:pPr indent="0" lvl="0" marL="0" marR="0" rtl="0" algn="ctr">
                        <a:lnSpc>
                          <a:spcPct val="115000"/>
                        </a:lnSpc>
                        <a:spcBef>
                          <a:spcPts val="0"/>
                        </a:spcBef>
                        <a:spcAft>
                          <a:spcPts val="0"/>
                        </a:spcAft>
                        <a:buClr>
                          <a:srgbClr val="000000"/>
                        </a:buClr>
                        <a:buSzPts val="1000"/>
                        <a:buFont typeface="Arial"/>
                        <a:buNone/>
                      </a:pPr>
                      <a:r>
                        <a:rPr b="1" lang="es-ES" sz="1000" u="none" cap="none" strike="noStrike">
                          <a:solidFill>
                            <a:srgbClr val="FFFFFF"/>
                          </a:solidFill>
                          <a:latin typeface="Calibri"/>
                          <a:ea typeface="Calibri"/>
                          <a:cs typeface="Calibri"/>
                          <a:sym typeface="Calibri"/>
                        </a:rPr>
                        <a:t>Identificador (ID) de ítem de product backlog</a:t>
                      </a:r>
                      <a:endParaRPr b="1" sz="1000" u="none" cap="none" strike="noStrike">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s-ES" sz="1000" u="none" cap="none" strike="noStrike">
                          <a:solidFill>
                            <a:srgbClr val="FFFFFF"/>
                          </a:solidFill>
                          <a:latin typeface="Calibri"/>
                          <a:ea typeface="Calibri"/>
                          <a:cs typeface="Calibri"/>
                          <a:sym typeface="Calibri"/>
                        </a:rPr>
                        <a:t>Enunciado del ítem de Product Backlog</a:t>
                      </a:r>
                      <a:endParaRPr b="1" sz="1000" u="none" cap="none" strike="noStrike">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s-ES" sz="1000" u="none" cap="none" strike="noStrike">
                          <a:solidFill>
                            <a:srgbClr val="FFFFFF"/>
                          </a:solidFill>
                          <a:latin typeface="Calibri"/>
                          <a:ea typeface="Calibri"/>
                          <a:cs typeface="Calibri"/>
                          <a:sym typeface="Calibri"/>
                        </a:rPr>
                        <a:t>Tarea</a:t>
                      </a:r>
                      <a:endParaRPr b="1" sz="1000" u="none" cap="none" strike="noStrike">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s-ES" sz="1000" u="none" cap="none" strike="noStrike">
                          <a:solidFill>
                            <a:srgbClr val="FFFFFF"/>
                          </a:solidFill>
                          <a:latin typeface="Calibri"/>
                          <a:ea typeface="Calibri"/>
                          <a:cs typeface="Calibri"/>
                          <a:sym typeface="Calibri"/>
                        </a:rPr>
                        <a:t>Dueño / Voluntario</a:t>
                      </a:r>
                      <a:endParaRPr b="1" sz="1000" u="none" cap="none" strike="noStrike">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s-ES" sz="1000" u="none" cap="none" strike="noStrike">
                          <a:solidFill>
                            <a:srgbClr val="FFFFFF"/>
                          </a:solidFill>
                          <a:latin typeface="Calibri"/>
                          <a:ea typeface="Calibri"/>
                          <a:cs typeface="Calibri"/>
                          <a:sym typeface="Calibri"/>
                        </a:rPr>
                        <a:t>Estatus</a:t>
                      </a:r>
                      <a:endParaRPr b="1" sz="1000" u="none" cap="none" strike="noStrike">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r>
              <a:tr h="448300">
                <a:tc>
                  <a:txBody>
                    <a:bodyPr/>
                    <a:lstStyle/>
                    <a:p>
                      <a:pPr indent="0" lvl="0" marL="0" marR="0" rtl="0" algn="ctr">
                        <a:lnSpc>
                          <a:spcPct val="115000"/>
                        </a:lnSpc>
                        <a:spcBef>
                          <a:spcPts val="0"/>
                        </a:spcBef>
                        <a:spcAft>
                          <a:spcPts val="0"/>
                        </a:spcAft>
                        <a:buClr>
                          <a:srgbClr val="000000"/>
                        </a:buClr>
                        <a:buSzPts val="1000"/>
                        <a:buFont typeface="Arial"/>
                        <a:buNone/>
                      </a:pPr>
                      <a:r>
                        <a:rPr b="1" lang="es-ES" sz="1000" u="none" cap="none" strike="noStrike">
                          <a:latin typeface="Calibri"/>
                          <a:ea typeface="Calibri"/>
                          <a:cs typeface="Calibri"/>
                          <a:sym typeface="Calibri"/>
                        </a:rPr>
                        <a:t>HU-05</a:t>
                      </a:r>
                      <a:endParaRPr b="1" sz="10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Como administrador, necesito guardar en la base de datos los registros de densidad de personas obtenidos, con la finalidad de disponer de información histórica y confiable para reportes y visualización en la app.</a:t>
                      </a:r>
                      <a:endParaRPr sz="7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Definir endpoints + API RESTFULL</a:t>
                      </a:r>
                      <a:endParaRPr sz="7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Percy/Eduardo</a:t>
                      </a:r>
                      <a:endParaRPr sz="7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Finalizado</a:t>
                      </a:r>
                      <a:endParaRPr sz="7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48025">
                <a:tc rowSpan="3">
                  <a:txBody>
                    <a:bodyPr/>
                    <a:lstStyle/>
                    <a:p>
                      <a:pPr indent="0" lvl="0" marL="0" marR="0" rtl="0" algn="ctr">
                        <a:lnSpc>
                          <a:spcPct val="115000"/>
                        </a:lnSpc>
                        <a:spcBef>
                          <a:spcPts val="0"/>
                        </a:spcBef>
                        <a:spcAft>
                          <a:spcPts val="0"/>
                        </a:spcAft>
                        <a:buClr>
                          <a:srgbClr val="000000"/>
                        </a:buClr>
                        <a:buSzPts val="1000"/>
                        <a:buFont typeface="Arial"/>
                        <a:buNone/>
                      </a:pPr>
                      <a:r>
                        <a:rPr b="1" lang="es-ES" sz="1000" u="none" cap="none" strike="noStrike">
                          <a:latin typeface="Calibri"/>
                          <a:ea typeface="Calibri"/>
                          <a:cs typeface="Calibri"/>
                          <a:sym typeface="Calibri"/>
                        </a:rPr>
                        <a:t>HU-06</a:t>
                      </a:r>
                      <a:endParaRPr b="1" sz="10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rowSpan="3">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Como administrador, necesito visualizar reportes de densidad de visitantes por lugar y fecha, con la finalidad de planificar medidas de control y gestión turística.</a:t>
                      </a:r>
                      <a:endParaRPr sz="7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Crear proyecto base en Node.js + Express</a:t>
                      </a:r>
                      <a:endParaRPr sz="7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Percy/Eduardo</a:t>
                      </a:r>
                      <a:endParaRPr sz="7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Finalizado</a:t>
                      </a:r>
                      <a:endParaRPr sz="7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48025">
                <a:tc vMerge="1"/>
                <a:tc vMerge="1"/>
                <a:tc>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Configurar BD PostgreSQL</a:t>
                      </a:r>
                      <a:endParaRPr sz="7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Percy/Eduardo</a:t>
                      </a:r>
                      <a:endParaRPr sz="7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Finalizado</a:t>
                      </a:r>
                      <a:endParaRPr sz="7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48025">
                <a:tc vMerge="1"/>
                <a:tc vMerge="1"/>
                <a:tc>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Validar funcionamiento desde interfaz</a:t>
                      </a:r>
                      <a:endParaRPr sz="7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Percy/Eduardo</a:t>
                      </a:r>
                      <a:endParaRPr sz="7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700"/>
                        <a:buFont typeface="Arial"/>
                        <a:buNone/>
                      </a:pPr>
                      <a:r>
                        <a:rPr lang="es-ES" sz="700" u="none" cap="none" strike="noStrike">
                          <a:latin typeface="Calibri"/>
                          <a:ea typeface="Calibri"/>
                          <a:cs typeface="Calibri"/>
                          <a:sym typeface="Calibri"/>
                        </a:rPr>
                        <a:t>Finalizado</a:t>
                      </a:r>
                      <a:endParaRPr sz="700" u="none" cap="none" strike="noStrike">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pic>
        <p:nvPicPr>
          <p:cNvPr id="1126" name="Google Shape;1126;p29"/>
          <p:cNvPicPr preferRelativeResize="0"/>
          <p:nvPr/>
        </p:nvPicPr>
        <p:blipFill rotWithShape="1">
          <a:blip r:embed="rId5">
            <a:alphaModFix/>
          </a:blip>
          <a:srcRect b="0" l="0" r="0" t="0"/>
          <a:stretch/>
        </p:blipFill>
        <p:spPr>
          <a:xfrm>
            <a:off x="252038" y="2861775"/>
            <a:ext cx="8769450" cy="1673125"/>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30"/>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2" name="Google Shape;1132;p30"/>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3" name="Google Shape;1133;p30"/>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4" name="Google Shape;1134;p30"/>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5" name="Google Shape;1135;p30"/>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6" name="Google Shape;1136;p30"/>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7" name="Google Shape;1137;p30"/>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8" name="Google Shape;1138;p30"/>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9" name="Google Shape;1139;p30"/>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0" name="Google Shape;1140;p30"/>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1" name="Google Shape;1141;p30"/>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2" name="Google Shape;1142;p30"/>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3" name="Google Shape;1143;p30"/>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4" name="Google Shape;1144;p30"/>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5" name="Google Shape;1145;p30"/>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6" name="Google Shape;1146;p30"/>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7" name="Google Shape;1147;p30"/>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8" name="Google Shape;1148;p30"/>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9" name="Google Shape;1149;p30"/>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0" name="Google Shape;1150;p30"/>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1" name="Google Shape;1151;p30"/>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2" name="Google Shape;1152;p30"/>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3" name="Google Shape;1153;p30"/>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4" name="Google Shape;1154;p30"/>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5" name="Google Shape;1155;p30"/>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6" name="Google Shape;1156;p30"/>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7" name="Google Shape;1157;p30"/>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8" name="Google Shape;1158;p30"/>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9" name="Google Shape;1159;p30"/>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0" name="Google Shape;1160;p30"/>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1" name="Google Shape;1161;p30"/>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2" name="Google Shape;1162;p30"/>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2 – BURNDOWN CHART</a:t>
            </a:r>
            <a:endParaRPr b="1" i="0" sz="2400" u="none" cap="none" strike="noStrike">
              <a:solidFill>
                <a:schemeClr val="accent5"/>
              </a:solidFill>
              <a:latin typeface="Calibri"/>
              <a:ea typeface="Calibri"/>
              <a:cs typeface="Calibri"/>
              <a:sym typeface="Calibri"/>
            </a:endParaRPr>
          </a:p>
        </p:txBody>
      </p:sp>
      <p:sp>
        <p:nvSpPr>
          <p:cNvPr id="1163" name="Google Shape;1163;p30"/>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164" name="Google Shape;1164;p30"/>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165" name="Google Shape;1165;p30"/>
          <p:cNvPicPr preferRelativeResize="0"/>
          <p:nvPr/>
        </p:nvPicPr>
        <p:blipFill rotWithShape="1">
          <a:blip r:embed="rId5">
            <a:alphaModFix/>
          </a:blip>
          <a:srcRect b="0" l="0" r="0" t="0"/>
          <a:stretch/>
        </p:blipFill>
        <p:spPr>
          <a:xfrm>
            <a:off x="1429512" y="819148"/>
            <a:ext cx="6425153" cy="3505201"/>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31"/>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1" name="Google Shape;1171;p31"/>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2" name="Google Shape;1172;p31"/>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3" name="Google Shape;1173;p31"/>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4" name="Google Shape;1174;p31"/>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5" name="Google Shape;1175;p31"/>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6" name="Google Shape;1176;p31"/>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7" name="Google Shape;1177;p31"/>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8" name="Google Shape;1178;p31"/>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9" name="Google Shape;1179;p31"/>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0" name="Google Shape;1180;p31"/>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1" name="Google Shape;1181;p31"/>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2" name="Google Shape;1182;p31"/>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3" name="Google Shape;1183;p31"/>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4" name="Google Shape;1184;p31"/>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5" name="Google Shape;1185;p31"/>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6" name="Google Shape;1186;p31"/>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7" name="Google Shape;1187;p31"/>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8" name="Google Shape;1188;p31"/>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9" name="Google Shape;1189;p31"/>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0" name="Google Shape;1190;p31"/>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1" name="Google Shape;1191;p31"/>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2" name="Google Shape;1192;p31"/>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3" name="Google Shape;1193;p31"/>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4" name="Google Shape;1194;p31"/>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5" name="Google Shape;1195;p31"/>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6" name="Google Shape;1196;p31"/>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7" name="Google Shape;1197;p31"/>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8" name="Google Shape;1198;p31"/>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9" name="Google Shape;1199;p31"/>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0" name="Google Shape;1200;p31"/>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1" name="Google Shape;1201;p31"/>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2 – IMPEDIMENT LOG</a:t>
            </a:r>
            <a:endParaRPr b="1" i="0" sz="2400" u="none" cap="none" strike="noStrike">
              <a:solidFill>
                <a:schemeClr val="accent5"/>
              </a:solidFill>
              <a:latin typeface="Calibri"/>
              <a:ea typeface="Calibri"/>
              <a:cs typeface="Calibri"/>
              <a:sym typeface="Calibri"/>
            </a:endParaRPr>
          </a:p>
        </p:txBody>
      </p:sp>
      <p:sp>
        <p:nvSpPr>
          <p:cNvPr id="1202" name="Google Shape;1202;p31"/>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203" name="Google Shape;1203;p31"/>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1204" name="Google Shape;1204;p31"/>
          <p:cNvGraphicFramePr/>
          <p:nvPr/>
        </p:nvGraphicFramePr>
        <p:xfrm>
          <a:off x="108750" y="989450"/>
          <a:ext cx="3000000" cy="3000000"/>
        </p:xfrm>
        <a:graphic>
          <a:graphicData uri="http://schemas.openxmlformats.org/drawingml/2006/table">
            <a:tbl>
              <a:tblPr>
                <a:noFill/>
                <a:tableStyleId>{EE498E1A-57DE-4726-B92D-F0067C99A70F}</a:tableStyleId>
              </a:tblPr>
              <a:tblGrid>
                <a:gridCol w="1154825"/>
                <a:gridCol w="859200"/>
                <a:gridCol w="1478200"/>
                <a:gridCol w="2428125"/>
                <a:gridCol w="658025"/>
                <a:gridCol w="489175"/>
                <a:gridCol w="1810775"/>
              </a:tblGrid>
              <a:tr h="400675">
                <a:tc>
                  <a:txBody>
                    <a:bodyPr/>
                    <a:lstStyle/>
                    <a:p>
                      <a:pPr indent="0" lvl="0" marL="0" marR="0" rtl="0" algn="ctr">
                        <a:lnSpc>
                          <a:spcPct val="115000"/>
                        </a:lnSpc>
                        <a:spcBef>
                          <a:spcPts val="0"/>
                        </a:spcBef>
                        <a:spcAft>
                          <a:spcPts val="0"/>
                        </a:spcAft>
                        <a:buClr>
                          <a:srgbClr val="000000"/>
                        </a:buClr>
                        <a:buSzPts val="800"/>
                        <a:buFont typeface="Arial"/>
                        <a:buNone/>
                      </a:pPr>
                      <a:r>
                        <a:rPr b="1" lang="es-ES" sz="800" u="none" cap="none" strike="noStrike">
                          <a:latin typeface="Calibri"/>
                          <a:ea typeface="Calibri"/>
                          <a:cs typeface="Calibri"/>
                          <a:sym typeface="Calibri"/>
                        </a:rPr>
                        <a:t>Fecha</a:t>
                      </a:r>
                      <a:endParaRPr b="1" sz="8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s-ES" sz="800" u="none" cap="none" strike="noStrike">
                          <a:latin typeface="Calibri"/>
                          <a:ea typeface="Calibri"/>
                          <a:cs typeface="Calibri"/>
                          <a:sym typeface="Calibri"/>
                        </a:rPr>
                        <a:t>HU</a:t>
                      </a:r>
                      <a:endParaRPr b="1" sz="8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s-ES" sz="800" u="none" cap="none" strike="noStrike">
                          <a:latin typeface="Calibri"/>
                          <a:ea typeface="Calibri"/>
                          <a:cs typeface="Calibri"/>
                          <a:sym typeface="Calibri"/>
                        </a:rPr>
                        <a:t>Tarea</a:t>
                      </a:r>
                      <a:endParaRPr b="1" sz="8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s-ES" sz="800" u="none" cap="none" strike="noStrike">
                          <a:latin typeface="Calibri"/>
                          <a:ea typeface="Calibri"/>
                          <a:cs typeface="Calibri"/>
                          <a:sym typeface="Calibri"/>
                        </a:rPr>
                        <a:t>Impedimento</a:t>
                      </a:r>
                      <a:endParaRPr b="1" sz="8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s-ES" sz="800" u="none" cap="none" strike="noStrike">
                          <a:latin typeface="Calibri"/>
                          <a:ea typeface="Calibri"/>
                          <a:cs typeface="Calibri"/>
                          <a:sym typeface="Calibri"/>
                        </a:rPr>
                        <a:t>Responsable</a:t>
                      </a:r>
                      <a:endParaRPr b="1" sz="8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s-ES" sz="800" u="none" cap="none" strike="noStrike">
                          <a:latin typeface="Calibri"/>
                          <a:ea typeface="Calibri"/>
                          <a:cs typeface="Calibri"/>
                          <a:sym typeface="Calibri"/>
                        </a:rPr>
                        <a:t>Estado</a:t>
                      </a:r>
                      <a:endParaRPr b="1" sz="8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s-ES" sz="800" u="none" cap="none" strike="noStrike">
                          <a:latin typeface="Calibri"/>
                          <a:ea typeface="Calibri"/>
                          <a:cs typeface="Calibri"/>
                          <a:sym typeface="Calibri"/>
                        </a:rPr>
                        <a:t>Acción</a:t>
                      </a:r>
                      <a:endParaRPr b="1" sz="800" u="none" cap="none" strike="noStrike">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0675">
                <a:tc>
                  <a:txBody>
                    <a:bodyPr/>
                    <a:lstStyle/>
                    <a:p>
                      <a:pPr indent="0" lvl="0" marL="0" marR="0" rtl="0" algn="ctr">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1/10/2025</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HU-05</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Ingesta /api/metricsen Render</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Demoraba 10–15s el primer insert</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Eduardo</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Resuelto</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Bajar la latencia y tiempo de envios</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0675">
                <a:tc>
                  <a:txBody>
                    <a:bodyPr/>
                    <a:lstStyle/>
                    <a:p>
                      <a:pPr indent="0" lvl="0" marL="0" marR="0" rtl="0" algn="ctr">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3/10/2025</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HU-05</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Idempotencia / deduplicación</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Duplicados por segundos</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Percy</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Resuelto</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Índice único (source_id, ts_sec)</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0675">
                <a:tc>
                  <a:txBody>
                    <a:bodyPr/>
                    <a:lstStyle/>
                    <a:p>
                      <a:pPr indent="0" lvl="0" marL="0" marR="0" rtl="0" algn="ctr">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5/10/2025</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HU-06</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Dashboard (gráficos)</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Servidor bloqueaba cargas de Chart.js/CDN</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Percy</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Resuelto</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Crear nuestro propio dashboard</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0675">
                <a:tc>
                  <a:txBody>
                    <a:bodyPr/>
                    <a:lstStyle/>
                    <a:p>
                      <a:pPr indent="0" lvl="0" marL="0" marR="0" rtl="0" algn="ctr">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11/10/2025</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HU-05</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Normalización de tiempo</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Desfase horario (UTC vs Hora local) en dashboard</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Eduardo</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En curso</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Guardar tiempo; conversión en API a Chile/Santiago.</a:t>
                      </a:r>
                      <a:endParaRPr sz="800" u="none" cap="none" strike="noStrike">
                        <a:latin typeface="Calibri"/>
                        <a:ea typeface="Calibri"/>
                        <a:cs typeface="Calibri"/>
                        <a:sym typeface="Calibri"/>
                      </a:endParaRPr>
                    </a:p>
                  </a:txBody>
                  <a:tcPr marT="91425" marB="91425" marR="91425" marL="9142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0675">
                <a:tc>
                  <a:txBody>
                    <a:bodyPr/>
                    <a:lstStyle/>
                    <a:p>
                      <a:pPr indent="0" lvl="0" marL="0" marR="0" rtl="0" algn="ctr">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14/10/2025</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HU-06</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Métrica semáforo por capacidad</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Falta join a lugar.capacidad máxima</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Percy</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Resuelto</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Join por source_id→lugar_id</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0675">
                <a:tc>
                  <a:txBody>
                    <a:bodyPr/>
                    <a:lstStyle/>
                    <a:p>
                      <a:pPr indent="0" lvl="0" marL="0" marR="0" rtl="0" algn="ctr">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15/10/2025</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HU-06</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Snapshot de cámara en UI</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La autentificación del snapshot bloqueaba la imagen y ralentiza</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Eduardo</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Resuelto</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s-ES" sz="800" u="none" cap="none" strike="noStrike">
                          <a:latin typeface="Calibri"/>
                          <a:ea typeface="Calibri"/>
                          <a:cs typeface="Calibri"/>
                          <a:sym typeface="Calibri"/>
                        </a:rPr>
                        <a:t>Desactivar snapshot</a:t>
                      </a:r>
                      <a:endParaRPr sz="800" u="none" cap="none" strike="noStrike">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32"/>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0" name="Google Shape;1210;p32"/>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1" name="Google Shape;1211;p32"/>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2" name="Google Shape;1212;p32"/>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3" name="Google Shape;1213;p32"/>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4" name="Google Shape;1214;p32"/>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5" name="Google Shape;1215;p32"/>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6" name="Google Shape;1216;p32"/>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7" name="Google Shape;1217;p32"/>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8" name="Google Shape;1218;p32"/>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9" name="Google Shape;1219;p32"/>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0" name="Google Shape;1220;p32"/>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1" name="Google Shape;1221;p32"/>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2" name="Google Shape;1222;p32"/>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3" name="Google Shape;1223;p32"/>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4" name="Google Shape;1224;p32"/>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5" name="Google Shape;1225;p32"/>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6" name="Google Shape;1226;p32"/>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7" name="Google Shape;1227;p32"/>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8" name="Google Shape;1228;p32"/>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9" name="Google Shape;1229;p32"/>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0" name="Google Shape;1230;p32"/>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1" name="Google Shape;1231;p32"/>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2" name="Google Shape;1232;p32"/>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3" name="Google Shape;1233;p32"/>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4" name="Google Shape;1234;p32"/>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5" name="Google Shape;1235;p32"/>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6" name="Google Shape;1236;p32"/>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7" name="Google Shape;1237;p32"/>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8" name="Google Shape;1238;p32"/>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2 – EVIDENCIA PRUEBAS</a:t>
            </a:r>
            <a:endParaRPr b="1" i="0" sz="2400" u="none" cap="none" strike="noStrike">
              <a:solidFill>
                <a:schemeClr val="accent5"/>
              </a:solidFill>
              <a:latin typeface="Calibri"/>
              <a:ea typeface="Calibri"/>
              <a:cs typeface="Calibri"/>
              <a:sym typeface="Calibri"/>
            </a:endParaRPr>
          </a:p>
        </p:txBody>
      </p:sp>
      <p:sp>
        <p:nvSpPr>
          <p:cNvPr id="1239" name="Google Shape;1239;p32"/>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240" name="Google Shape;1240;p32"/>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241" name="Google Shape;1241;p32"/>
          <p:cNvPicPr preferRelativeResize="0"/>
          <p:nvPr/>
        </p:nvPicPr>
        <p:blipFill rotWithShape="1">
          <a:blip r:embed="rId5">
            <a:alphaModFix/>
          </a:blip>
          <a:srcRect b="0" l="0" r="0" t="0"/>
          <a:stretch/>
        </p:blipFill>
        <p:spPr>
          <a:xfrm>
            <a:off x="52925" y="591403"/>
            <a:ext cx="8918825" cy="892797"/>
          </a:xfrm>
          <a:prstGeom prst="rect">
            <a:avLst/>
          </a:prstGeom>
          <a:noFill/>
          <a:ln>
            <a:noFill/>
          </a:ln>
        </p:spPr>
      </p:pic>
      <p:pic>
        <p:nvPicPr>
          <p:cNvPr id="1242" name="Google Shape;1242;p32"/>
          <p:cNvPicPr preferRelativeResize="0"/>
          <p:nvPr/>
        </p:nvPicPr>
        <p:blipFill rotWithShape="1">
          <a:blip r:embed="rId6">
            <a:alphaModFix/>
          </a:blip>
          <a:srcRect b="0" l="0" r="0" t="0"/>
          <a:stretch/>
        </p:blipFill>
        <p:spPr>
          <a:xfrm>
            <a:off x="4500225" y="2414050"/>
            <a:ext cx="4348134" cy="2331175"/>
          </a:xfrm>
          <a:prstGeom prst="rect">
            <a:avLst/>
          </a:prstGeom>
          <a:noFill/>
          <a:ln>
            <a:noFill/>
          </a:ln>
        </p:spPr>
      </p:pic>
      <p:pic>
        <p:nvPicPr>
          <p:cNvPr id="1243" name="Google Shape;1243;p32"/>
          <p:cNvPicPr preferRelativeResize="0"/>
          <p:nvPr/>
        </p:nvPicPr>
        <p:blipFill rotWithShape="1">
          <a:blip r:embed="rId7">
            <a:alphaModFix/>
          </a:blip>
          <a:srcRect b="0" l="0" r="0" t="0"/>
          <a:stretch/>
        </p:blipFill>
        <p:spPr>
          <a:xfrm>
            <a:off x="233450" y="1522850"/>
            <a:ext cx="5696410" cy="833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6"/>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9" name="Google Shape;1249;p6"/>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0" name="Google Shape;1250;p6"/>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1" name="Google Shape;1251;p6"/>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2" name="Google Shape;1252;p6"/>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3" name="Google Shape;1253;p6"/>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4" name="Google Shape;1254;p6"/>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5" name="Google Shape;1255;p6"/>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6" name="Google Shape;1256;p6"/>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7" name="Google Shape;1257;p6"/>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8" name="Google Shape;1258;p6"/>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9" name="Google Shape;1259;p6"/>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0" name="Google Shape;1260;p6"/>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1" name="Google Shape;1261;p6"/>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2" name="Google Shape;1262;p6"/>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3" name="Google Shape;1263;p6"/>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4" name="Google Shape;1264;p6"/>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5" name="Google Shape;1265;p6"/>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6" name="Google Shape;1266;p6"/>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7" name="Google Shape;1267;p6"/>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8" name="Google Shape;1268;p6"/>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9" name="Google Shape;1269;p6"/>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0" name="Google Shape;1270;p6"/>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1" name="Google Shape;1271;p6"/>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2" name="Google Shape;1272;p6"/>
          <p:cNvSpPr/>
          <p:nvPr/>
        </p:nvSpPr>
        <p:spPr>
          <a:xfrm>
            <a:off x="4772829" y="1791743"/>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3" name="Google Shape;1273;p6"/>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4" name="Google Shape;1274;p6"/>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5" name="Google Shape;1275;p6"/>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6" name="Google Shape;1276;p6"/>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7" name="Google Shape;1277;p6"/>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8" name="Google Shape;1278;p6"/>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3 – Desarrollo de aplicación y pruebas piloto</a:t>
            </a:r>
            <a:endParaRPr b="1" i="0" sz="2400" u="none" cap="none" strike="noStrike">
              <a:solidFill>
                <a:schemeClr val="accent5"/>
              </a:solidFill>
              <a:latin typeface="Calibri"/>
              <a:ea typeface="Calibri"/>
              <a:cs typeface="Calibri"/>
              <a:sym typeface="Calibri"/>
            </a:endParaRPr>
          </a:p>
        </p:txBody>
      </p:sp>
      <p:sp>
        <p:nvSpPr>
          <p:cNvPr id="1279" name="Google Shape;1279;p6"/>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280" name="Google Shape;1280;p6"/>
          <p:cNvSpPr txBox="1"/>
          <p:nvPr/>
        </p:nvSpPr>
        <p:spPr>
          <a:xfrm>
            <a:off x="929729" y="660091"/>
            <a:ext cx="7378500" cy="12341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s-ES" sz="1400" u="none" cap="none" strike="noStrike">
                <a:solidFill>
                  <a:schemeClr val="dk1"/>
                </a:solidFill>
                <a:latin typeface="Calibri"/>
                <a:ea typeface="Calibri"/>
                <a:cs typeface="Calibri"/>
                <a:sym typeface="Calibri"/>
              </a:rPr>
              <a:t>Duración: 4 semanas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Arial"/>
              <a:buNone/>
            </a:pPr>
            <a:r>
              <a:rPr b="0" i="0" lang="es-ES" sz="1400" u="none" cap="none" strike="noStrike">
                <a:solidFill>
                  <a:schemeClr val="dk1"/>
                </a:solidFill>
                <a:latin typeface="Calibri"/>
                <a:ea typeface="Calibri"/>
                <a:cs typeface="Calibri"/>
                <a:sym typeface="Calibri"/>
              </a:rPr>
              <a:t>Evidencias: Documentación Scrum definida y avance del incremento</a:t>
            </a:r>
            <a:endParaRPr b="0" i="0" sz="1400" u="none" cap="none" strike="noStrike">
              <a:solidFill>
                <a:schemeClr val="dk1"/>
              </a:solidFill>
              <a:latin typeface="Calibri"/>
              <a:ea typeface="Calibri"/>
              <a:cs typeface="Calibri"/>
              <a:sym typeface="Calibri"/>
            </a:endParaRPr>
          </a:p>
          <a:p>
            <a:pPr indent="0" lvl="0" marL="1270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Calibri"/>
              <a:ea typeface="Calibri"/>
              <a:cs typeface="Calibri"/>
              <a:sym typeface="Calibri"/>
            </a:endParaRPr>
          </a:p>
          <a:p>
            <a:pPr indent="0" lvl="0" marL="12700" marR="0" rtl="0" algn="l">
              <a:lnSpc>
                <a:spcPct val="115000"/>
              </a:lnSpc>
              <a:spcBef>
                <a:spcPts val="0"/>
              </a:spcBef>
              <a:spcAft>
                <a:spcPts val="0"/>
              </a:spcAft>
              <a:buClr>
                <a:schemeClr val="dk1"/>
              </a:buClr>
              <a:buSzPts val="1100"/>
              <a:buFont typeface="Arial"/>
              <a:buNone/>
            </a:pPr>
            <a:r>
              <a:rPr b="0" i="0" lang="es-ES" sz="1400" u="none" cap="none" strike="noStrike">
                <a:solidFill>
                  <a:schemeClr val="dk1"/>
                </a:solidFill>
                <a:latin typeface="Calibri"/>
                <a:ea typeface="Calibri"/>
                <a:cs typeface="Calibri"/>
                <a:sym typeface="Calibri"/>
              </a:rPr>
              <a:t>Descripción: Desarrollo de aplicación con flutter &amp; dart y conectividad base de datos postgresql </a:t>
            </a:r>
            <a:endParaRPr b="1" i="0" sz="1455" u="none" cap="none" strike="noStrike">
              <a:solidFill>
                <a:srgbClr val="FFFFFF"/>
              </a:solidFill>
              <a:latin typeface="Arial"/>
              <a:ea typeface="Arial"/>
              <a:cs typeface="Arial"/>
              <a:sym typeface="Arial"/>
            </a:endParaRPr>
          </a:p>
        </p:txBody>
      </p:sp>
      <p:sp>
        <p:nvSpPr>
          <p:cNvPr id="1281" name="Google Shape;1281;p6"/>
          <p:cNvSpPr/>
          <p:nvPr/>
        </p:nvSpPr>
        <p:spPr>
          <a:xfrm>
            <a:off x="1602991" y="2813101"/>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ES" sz="1200" u="none" cap="none" strike="noStrike">
                <a:solidFill>
                  <a:srgbClr val="000000"/>
                </a:solidFill>
                <a:latin typeface="Arial"/>
                <a:ea typeface="Arial"/>
                <a:cs typeface="Arial"/>
                <a:sym typeface="Arial"/>
              </a:rPr>
              <a:t>Desarrollo aplicación</a:t>
            </a:r>
            <a:endParaRPr b="0" i="0" sz="1200" u="none" cap="none" strike="noStrike">
              <a:solidFill>
                <a:srgbClr val="000000"/>
              </a:solidFill>
              <a:latin typeface="Arial"/>
              <a:ea typeface="Arial"/>
              <a:cs typeface="Arial"/>
              <a:sym typeface="Arial"/>
            </a:endParaRPr>
          </a:p>
        </p:txBody>
      </p:sp>
      <p:sp>
        <p:nvSpPr>
          <p:cNvPr id="1282" name="Google Shape;1282;p6"/>
          <p:cNvSpPr/>
          <p:nvPr/>
        </p:nvSpPr>
        <p:spPr>
          <a:xfrm>
            <a:off x="5729979" y="2809929"/>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ES" sz="1200" u="none" cap="none" strike="noStrike">
                <a:solidFill>
                  <a:srgbClr val="000000"/>
                </a:solidFill>
                <a:latin typeface="Arial"/>
                <a:ea typeface="Arial"/>
                <a:cs typeface="Arial"/>
                <a:sym typeface="Arial"/>
              </a:rPr>
              <a:t>Pruebas piloto</a:t>
            </a:r>
            <a:endParaRPr b="0" i="0" sz="1200" u="none" cap="none" strike="noStrike">
              <a:solidFill>
                <a:srgbClr val="000000"/>
              </a:solidFill>
              <a:latin typeface="Arial"/>
              <a:ea typeface="Arial"/>
              <a:cs typeface="Arial"/>
              <a:sym typeface="Arial"/>
            </a:endParaRPr>
          </a:p>
        </p:txBody>
      </p:sp>
      <p:sp>
        <p:nvSpPr>
          <p:cNvPr id="1283" name="Google Shape;1283;p6"/>
          <p:cNvSpPr txBox="1"/>
          <p:nvPr/>
        </p:nvSpPr>
        <p:spPr>
          <a:xfrm>
            <a:off x="3664539" y="2330880"/>
            <a:ext cx="1955100" cy="29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Historia de usuarios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35"/>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9" name="Google Shape;1289;p35"/>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0" name="Google Shape;1290;p35"/>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1" name="Google Shape;1291;p35"/>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2" name="Google Shape;1292;p35"/>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3" name="Google Shape;1293;p35"/>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4" name="Google Shape;1294;p35"/>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5" name="Google Shape;1295;p35"/>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6" name="Google Shape;1296;p35"/>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7" name="Google Shape;1297;p35"/>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8" name="Google Shape;1298;p35"/>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9" name="Google Shape;1299;p35"/>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0" name="Google Shape;1300;p35"/>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1" name="Google Shape;1301;p35"/>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2" name="Google Shape;1302;p35"/>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3" name="Google Shape;1303;p35"/>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4" name="Google Shape;1304;p35"/>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5" name="Google Shape;1305;p35"/>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6" name="Google Shape;1306;p35"/>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7" name="Google Shape;1307;p35"/>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8" name="Google Shape;1308;p35"/>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9" name="Google Shape;1309;p35"/>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0" name="Google Shape;1310;p35"/>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1" name="Google Shape;1311;p35"/>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2" name="Google Shape;1312;p35"/>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3" name="Google Shape;1313;p35"/>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4" name="Google Shape;1314;p35"/>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5" name="Google Shape;1315;p35"/>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6" name="Google Shape;1316;p35"/>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7" name="Google Shape;1317;p35"/>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8" name="Google Shape;1318;p35"/>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9" name="Google Shape;1319;p35"/>
          <p:cNvSpPr txBox="1"/>
          <p:nvPr/>
        </p:nvSpPr>
        <p:spPr>
          <a:xfrm>
            <a:off x="381002" y="23653"/>
            <a:ext cx="780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3 – BACKLOG</a:t>
            </a:r>
            <a:endParaRPr b="1" i="0" sz="2400" u="none" cap="none" strike="noStrike">
              <a:solidFill>
                <a:schemeClr val="accent5"/>
              </a:solidFill>
              <a:latin typeface="Calibri"/>
              <a:ea typeface="Calibri"/>
              <a:cs typeface="Calibri"/>
              <a:sym typeface="Calibri"/>
            </a:endParaRPr>
          </a:p>
        </p:txBody>
      </p:sp>
      <p:sp>
        <p:nvSpPr>
          <p:cNvPr id="1320" name="Google Shape;1320;p35"/>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321" name="Google Shape;1321;p35"/>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322" name="Google Shape;1322;p35"/>
          <p:cNvPicPr preferRelativeResize="0"/>
          <p:nvPr/>
        </p:nvPicPr>
        <p:blipFill rotWithShape="1">
          <a:blip r:embed="rId5">
            <a:alphaModFix/>
          </a:blip>
          <a:srcRect b="0" l="0" r="0" t="0"/>
          <a:stretch/>
        </p:blipFill>
        <p:spPr>
          <a:xfrm>
            <a:off x="921179" y="636092"/>
            <a:ext cx="7224386" cy="1958510"/>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graphicFrame>
        <p:nvGraphicFramePr>
          <p:cNvPr id="1323" name="Google Shape;1323;p35"/>
          <p:cNvGraphicFramePr/>
          <p:nvPr/>
        </p:nvGraphicFramePr>
        <p:xfrm>
          <a:off x="417005" y="2855034"/>
          <a:ext cx="3000000" cy="3000000"/>
        </p:xfrm>
        <a:graphic>
          <a:graphicData uri="http://schemas.openxmlformats.org/drawingml/2006/table">
            <a:tbl>
              <a:tblPr>
                <a:noFill/>
                <a:tableStyleId>{09A4A8AA-24DE-483B-A2CB-9BDBEC9F8954}</a:tableStyleId>
              </a:tblPr>
              <a:tblGrid>
                <a:gridCol w="387475"/>
                <a:gridCol w="242625"/>
                <a:gridCol w="506950"/>
                <a:gridCol w="65175"/>
                <a:gridCol w="242625"/>
                <a:gridCol w="3910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gridCol w="65175"/>
                <a:gridCol w="144850"/>
                <a:gridCol w="133975"/>
              </a:tblGrid>
              <a:tr h="157900">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b">
                    <a:lnL cap="flat" cmpd="sng" w="9525">
                      <a:solidFill>
                        <a:srgbClr val="60F5B8"/>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60F5B8"/>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2</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3</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4</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5</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6</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7</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8</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9</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10</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11</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12</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13</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14</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15</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16</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17</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18</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19</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20</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Total</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r>
              <a:tr h="473700">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Horas estimadas totales</a:t>
                      </a:r>
                      <a:endParaRPr/>
                    </a:p>
                  </a:txBody>
                  <a:tcPr marT="0" marB="0" marR="10225" marL="10225"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r>
              <a:tr h="157900">
                <a:tc>
                  <a:txBody>
                    <a:bodyPr/>
                    <a:lstStyle/>
                    <a:p>
                      <a:pPr indent="0" lvl="0" marL="0" marR="0" rtl="0" algn="l">
                        <a:lnSpc>
                          <a:spcPct val="100000"/>
                        </a:lnSpc>
                        <a:spcBef>
                          <a:spcPts val="0"/>
                        </a:spcBef>
                        <a:spcAft>
                          <a:spcPts val="0"/>
                        </a:spcAft>
                        <a:buNone/>
                      </a:pPr>
                      <a:r>
                        <a:rPr lang="es-ES" sz="600" u="none" cap="none" strike="noStrike"/>
                        <a:t>43</a:t>
                      </a:r>
                      <a:endParaRPr/>
                    </a:p>
                  </a:txBody>
                  <a:tcPr marT="0" marB="0" marR="10225" marL="10225">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39</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27</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23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19</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15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11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7</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8CCE4"/>
                    </a:solidFill>
                  </a:tcPr>
                </a:tc>
                <a:tc>
                  <a:txBody>
                    <a:bodyPr/>
                    <a:lstStyle/>
                    <a:p>
                      <a:pPr indent="0" lvl="0" marL="0" marR="0" rtl="0" algn="r">
                        <a:lnSpc>
                          <a:spcPct val="100000"/>
                        </a:lnSpc>
                        <a:spcBef>
                          <a:spcPts val="0"/>
                        </a:spcBef>
                        <a:spcAft>
                          <a:spcPts val="0"/>
                        </a:spcAft>
                        <a:buNone/>
                      </a:pPr>
                      <a:r>
                        <a:rPr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8CCE4"/>
                    </a:solidFill>
                  </a:tcPr>
                </a:tc>
              </a:tr>
              <a:tr h="817700">
                <a:tc>
                  <a:txBody>
                    <a:bodyPr/>
                    <a:lstStyle/>
                    <a:p>
                      <a:pPr indent="0" lvl="0" marL="0" marR="0" rtl="0" algn="l">
                        <a:lnSpc>
                          <a:spcPct val="100000"/>
                        </a:lnSpc>
                        <a:spcBef>
                          <a:spcPts val="0"/>
                        </a:spcBef>
                        <a:spcAft>
                          <a:spcPts val="0"/>
                        </a:spcAft>
                        <a:buNone/>
                      </a:pPr>
                      <a:r>
                        <a:rPr lang="es-ES" sz="600" u="none" cap="none" strike="noStrike"/>
                        <a:t>41</a:t>
                      </a:r>
                      <a:endParaRPr/>
                    </a:p>
                  </a:txBody>
                  <a:tcPr marT="0" marB="0" marR="10225" marL="10225">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41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41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41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41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41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41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41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41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41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41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37</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33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29</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21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17</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13</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9</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lang="es-ES" sz="600" u="none" cap="none" strike="noStrike"/>
                        <a:t>41</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B8CCE4"/>
                    </a:solidFill>
                  </a:tcPr>
                </a:tc>
                <a:tc>
                  <a:txBody>
                    <a:bodyPr/>
                    <a:lstStyle/>
                    <a:p>
                      <a:pPr indent="0" lvl="0" marL="0" marR="0" rtl="0" algn="r">
                        <a:lnSpc>
                          <a:spcPct val="100000"/>
                        </a:lnSpc>
                        <a:spcBef>
                          <a:spcPts val="0"/>
                        </a:spcBef>
                        <a:spcAft>
                          <a:spcPts val="0"/>
                        </a:spcAft>
                        <a:buNone/>
                      </a:pPr>
                      <a:r>
                        <a:rPr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B8CCE4"/>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38"/>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9" name="Google Shape;1329;p38"/>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0" name="Google Shape;1330;p38"/>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1" name="Google Shape;1331;p38"/>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2" name="Google Shape;1332;p38"/>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3" name="Google Shape;1333;p38"/>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4" name="Google Shape;1334;p38"/>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5" name="Google Shape;1335;p38"/>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6" name="Google Shape;1336;p38"/>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7" name="Google Shape;1337;p38"/>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8" name="Google Shape;1338;p38"/>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9" name="Google Shape;1339;p38"/>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0" name="Google Shape;1340;p38"/>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1" name="Google Shape;1341;p38"/>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2" name="Google Shape;1342;p38"/>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3" name="Google Shape;1343;p38"/>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4" name="Google Shape;1344;p38"/>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5" name="Google Shape;1345;p38"/>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6" name="Google Shape;1346;p38"/>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7" name="Google Shape;1347;p38"/>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8" name="Google Shape;1348;p38"/>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9" name="Google Shape;1349;p38"/>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0" name="Google Shape;1350;p38"/>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1" name="Google Shape;1351;p38"/>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2" name="Google Shape;1352;p38"/>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3" name="Google Shape;1353;p38"/>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4" name="Google Shape;1354;p38"/>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5" name="Google Shape;1355;p38"/>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6" name="Google Shape;1356;p38"/>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7" name="Google Shape;1357;p38"/>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8" name="Google Shape;1358;p38"/>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9" name="Google Shape;1359;p38"/>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3 – BURNDOWN CHART</a:t>
            </a:r>
            <a:endParaRPr b="1" i="0" sz="2400" u="none" cap="none" strike="noStrike">
              <a:solidFill>
                <a:schemeClr val="accent5"/>
              </a:solidFill>
              <a:latin typeface="Calibri"/>
              <a:ea typeface="Calibri"/>
              <a:cs typeface="Calibri"/>
              <a:sym typeface="Calibri"/>
            </a:endParaRPr>
          </a:p>
        </p:txBody>
      </p:sp>
      <p:sp>
        <p:nvSpPr>
          <p:cNvPr id="1360" name="Google Shape;1360;p38"/>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361" name="Google Shape;1361;p38"/>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362" name="Google Shape;1362;p38"/>
          <p:cNvPicPr preferRelativeResize="0"/>
          <p:nvPr/>
        </p:nvPicPr>
        <p:blipFill rotWithShape="1">
          <a:blip r:embed="rId5">
            <a:alphaModFix/>
          </a:blip>
          <a:srcRect b="0" l="0" r="0" t="0"/>
          <a:stretch/>
        </p:blipFill>
        <p:spPr>
          <a:xfrm>
            <a:off x="1553162" y="851450"/>
            <a:ext cx="6100011" cy="3642988"/>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39"/>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8" name="Google Shape;1368;p39"/>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9" name="Google Shape;1369;p39"/>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0" name="Google Shape;1370;p39"/>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1" name="Google Shape;1371;p39"/>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2" name="Google Shape;1372;p39"/>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3" name="Google Shape;1373;p39"/>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4" name="Google Shape;1374;p39"/>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5" name="Google Shape;1375;p39"/>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6" name="Google Shape;1376;p39"/>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7" name="Google Shape;1377;p39"/>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8" name="Google Shape;1378;p39"/>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9" name="Google Shape;1379;p39"/>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0" name="Google Shape;1380;p39"/>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1" name="Google Shape;1381;p39"/>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2" name="Google Shape;1382;p39"/>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3" name="Google Shape;1383;p39"/>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4" name="Google Shape;1384;p39"/>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5" name="Google Shape;1385;p39"/>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6" name="Google Shape;1386;p39"/>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7" name="Google Shape;1387;p39"/>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8" name="Google Shape;1388;p39"/>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9" name="Google Shape;1389;p39"/>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0" name="Google Shape;1390;p39"/>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1" name="Google Shape;1391;p39"/>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2" name="Google Shape;1392;p39"/>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3" name="Google Shape;1393;p39"/>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4" name="Google Shape;1394;p39"/>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5" name="Google Shape;1395;p39"/>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6" name="Google Shape;1396;p39"/>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7" name="Google Shape;1397;p39"/>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8" name="Google Shape;1398;p39"/>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3 – IMPEDIMENT LOG</a:t>
            </a:r>
            <a:endParaRPr b="1" i="0" sz="2400" u="none" cap="none" strike="noStrike">
              <a:solidFill>
                <a:schemeClr val="accent5"/>
              </a:solidFill>
              <a:latin typeface="Calibri"/>
              <a:ea typeface="Calibri"/>
              <a:cs typeface="Calibri"/>
              <a:sym typeface="Calibri"/>
            </a:endParaRPr>
          </a:p>
        </p:txBody>
      </p:sp>
      <p:sp>
        <p:nvSpPr>
          <p:cNvPr id="1399" name="Google Shape;1399;p39"/>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400" name="Google Shape;1400;p39"/>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1401" name="Google Shape;1401;p39"/>
          <p:cNvGraphicFramePr/>
          <p:nvPr/>
        </p:nvGraphicFramePr>
        <p:xfrm>
          <a:off x="823459" y="900223"/>
          <a:ext cx="3000000" cy="3000000"/>
        </p:xfrm>
        <a:graphic>
          <a:graphicData uri="http://schemas.openxmlformats.org/drawingml/2006/table">
            <a:tbl>
              <a:tblPr>
                <a:noFill/>
                <a:tableStyleId>{09A4A8AA-24DE-483B-A2CB-9BDBEC9F8954}</a:tableStyleId>
              </a:tblPr>
              <a:tblGrid>
                <a:gridCol w="1002700"/>
                <a:gridCol w="1476500"/>
                <a:gridCol w="1360800"/>
                <a:gridCol w="915100"/>
                <a:gridCol w="730100"/>
                <a:gridCol w="1864250"/>
              </a:tblGrid>
              <a:tr h="1574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Fecha</a:t>
                      </a:r>
                      <a:endParaRPr b="1" sz="900" u="none" cap="none" strike="noStrike">
                        <a:solidFill>
                          <a:srgbClr val="FFFFFF"/>
                        </a:solidFill>
                      </a:endParaRPr>
                    </a:p>
                  </a:txBody>
                  <a:tcPr marT="0" marB="0" marR="15575" marL="15575">
                    <a:lnL cap="flat" cmpd="sng" w="152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152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Tarea</a:t>
                      </a:r>
                      <a:endParaRPr/>
                    </a:p>
                  </a:txBody>
                  <a:tcPr marT="0" marB="0" marR="15575" marL="15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152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Impedimento</a:t>
                      </a:r>
                      <a:endParaRPr/>
                    </a:p>
                  </a:txBody>
                  <a:tcPr marT="0" marB="0" marR="15575" marL="15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152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Responsable</a:t>
                      </a:r>
                      <a:endParaRPr/>
                    </a:p>
                  </a:txBody>
                  <a:tcPr marT="0" marB="0" marR="15575" marL="15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152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Estado</a:t>
                      </a:r>
                      <a:endParaRPr b="1" sz="900" u="none" cap="none" strike="noStrike">
                        <a:solidFill>
                          <a:srgbClr val="FFFFFF"/>
                        </a:solidFill>
                      </a:endParaRPr>
                    </a:p>
                  </a:txBody>
                  <a:tcPr marT="0" marB="0" marR="15575" marL="15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152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Acción</a:t>
                      </a:r>
                      <a:endParaRPr b="1" sz="900" u="none" cap="none" strike="noStrike">
                        <a:solidFill>
                          <a:srgbClr val="FFFFFF"/>
                        </a:solidFill>
                      </a:endParaRPr>
                    </a:p>
                  </a:txBody>
                  <a:tcPr marT="0" marB="0" marR="15575" marL="15575">
                    <a:lnL cap="flat" cmpd="sng" w="9525">
                      <a:solidFill>
                        <a:srgbClr val="CCCCCC"/>
                      </a:solidFill>
                      <a:prstDash val="solid"/>
                      <a:round/>
                      <a:headEnd len="sm" w="sm" type="none"/>
                      <a:tailEnd len="sm" w="sm" type="none"/>
                    </a:lnL>
                    <a:lnR cap="flat" cmpd="sng" w="15225">
                      <a:solidFill>
                        <a:srgbClr val="000000"/>
                      </a:solidFill>
                      <a:prstDash val="solid"/>
                      <a:round/>
                      <a:headEnd len="sm" w="sm" type="none"/>
                      <a:tailEnd len="sm" w="sm" type="none"/>
                    </a:lnR>
                    <a:lnT cap="flat" cmpd="sng" w="152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r>
              <a:tr h="259175">
                <a:tc>
                  <a:txBody>
                    <a:bodyPr/>
                    <a:lstStyle/>
                    <a:p>
                      <a:pPr indent="0" lvl="0" marL="0" marR="0" rtl="0" algn="ctr">
                        <a:lnSpc>
                          <a:spcPct val="100000"/>
                        </a:lnSpc>
                        <a:spcBef>
                          <a:spcPts val="0"/>
                        </a:spcBef>
                        <a:spcAft>
                          <a:spcPts val="0"/>
                        </a:spcAft>
                        <a:buNone/>
                      </a:pPr>
                      <a:r>
                        <a:rPr b="1" lang="es-ES" sz="900" u="none" cap="none" strike="noStrike">
                          <a:solidFill>
                            <a:srgbClr val="FFFFFF"/>
                          </a:solidFill>
                        </a:rPr>
                        <a:t>18/08/2025</a:t>
                      </a:r>
                      <a:endParaRPr/>
                    </a:p>
                  </a:txBody>
                  <a:tcPr marT="0" marB="0" marR="15575" marL="15575" anchor="b">
                    <a:lnL cap="flat" cmpd="sng" w="152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1" lang="es-ES" sz="800" u="none" cap="none" strike="noStrike"/>
                        <a:t>Reunión con interesados</a:t>
                      </a:r>
                      <a:endParaRPr/>
                    </a:p>
                  </a:txBody>
                  <a:tcPr marT="0" marB="0" marR="15575" marL="15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Poca capacidad horaria para la junta</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Eduardo/Percy</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Resuelto</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Pedir permiso en el trabajo.</a:t>
                      </a:r>
                      <a:endParaRPr/>
                    </a:p>
                  </a:txBody>
                  <a:tcPr marT="0" marB="0" marR="15575" marL="15575" anchor="b">
                    <a:lnL cap="flat" cmpd="sng" w="9525">
                      <a:solidFill>
                        <a:srgbClr val="CCCCCC"/>
                      </a:solidFill>
                      <a:prstDash val="solid"/>
                      <a:round/>
                      <a:headEnd len="sm" w="sm" type="none"/>
                      <a:tailEnd len="sm" w="sm" type="none"/>
                    </a:lnL>
                    <a:lnR cap="flat" cmpd="sng" w="152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59175">
                <a:tc>
                  <a:txBody>
                    <a:bodyPr/>
                    <a:lstStyle/>
                    <a:p>
                      <a:pPr indent="0" lvl="0" marL="0" marR="0" rtl="0" algn="ctr">
                        <a:lnSpc>
                          <a:spcPct val="100000"/>
                        </a:lnSpc>
                        <a:spcBef>
                          <a:spcPts val="0"/>
                        </a:spcBef>
                        <a:spcAft>
                          <a:spcPts val="0"/>
                        </a:spcAft>
                        <a:buNone/>
                      </a:pPr>
                      <a:r>
                        <a:rPr b="1" lang="es-ES" sz="900" u="none" cap="none" strike="noStrike">
                          <a:solidFill>
                            <a:srgbClr val="FFFFFF"/>
                          </a:solidFill>
                        </a:rPr>
                        <a:t>25/8/2025</a:t>
                      </a:r>
                      <a:endParaRPr/>
                    </a:p>
                  </a:txBody>
                  <a:tcPr marT="0" marB="0" marR="15575" marL="15575" anchor="b">
                    <a:lnL cap="flat" cmpd="sng" w="152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1" lang="es-ES" sz="800" u="none" cap="none" strike="noStrike"/>
                        <a:t>Creación de entorno de trabajo</a:t>
                      </a:r>
                      <a:endParaRPr/>
                    </a:p>
                  </a:txBody>
                  <a:tcPr marT="0" marB="0" marR="15575" marL="15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Cámaras muy costosas</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Eduardo/Percy</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Resuelto</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Se encontró una cámara ip de un valor medio</a:t>
                      </a:r>
                      <a:endParaRPr/>
                    </a:p>
                  </a:txBody>
                  <a:tcPr marT="0" marB="0" marR="15575" marL="15575" anchor="b">
                    <a:lnL cap="flat" cmpd="sng" w="9525">
                      <a:solidFill>
                        <a:srgbClr val="CCCCCC"/>
                      </a:solidFill>
                      <a:prstDash val="solid"/>
                      <a:round/>
                      <a:headEnd len="sm" w="sm" type="none"/>
                      <a:tailEnd len="sm" w="sm" type="none"/>
                    </a:lnL>
                    <a:lnR cap="flat" cmpd="sng" w="152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59175">
                <a:tc>
                  <a:txBody>
                    <a:bodyPr/>
                    <a:lstStyle/>
                    <a:p>
                      <a:pPr indent="0" lvl="0" marL="0" marR="0" rtl="0" algn="ctr">
                        <a:lnSpc>
                          <a:spcPct val="100000"/>
                        </a:lnSpc>
                        <a:spcBef>
                          <a:spcPts val="0"/>
                        </a:spcBef>
                        <a:spcAft>
                          <a:spcPts val="0"/>
                        </a:spcAft>
                        <a:buNone/>
                      </a:pPr>
                      <a:r>
                        <a:rPr b="1" lang="es-ES" sz="900" u="none" cap="none" strike="noStrike">
                          <a:solidFill>
                            <a:srgbClr val="FFFFFF"/>
                          </a:solidFill>
                        </a:rPr>
                        <a:t>5/10/2025</a:t>
                      </a:r>
                      <a:endParaRPr/>
                    </a:p>
                  </a:txBody>
                  <a:tcPr marT="0" marB="0" marR="15575" marL="15575" anchor="b">
                    <a:lnL cap="flat" cmpd="sng" w="152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1" lang="es-ES" sz="800" u="none" cap="none" strike="noStrike"/>
                        <a:t>Completar Sprint Backlog</a:t>
                      </a:r>
                      <a:endParaRPr/>
                    </a:p>
                  </a:txBody>
                  <a:tcPr marT="0" marB="0" marR="15575" marL="15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Confusión en el conteo de hora</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Eduardo/Percy</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Resuelto</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Se realiza coinsulta al profesor del funcionamiento</a:t>
                      </a:r>
                      <a:endParaRPr/>
                    </a:p>
                  </a:txBody>
                  <a:tcPr marT="0" marB="0" marR="15575" marL="15575" anchor="b">
                    <a:lnL cap="flat" cmpd="sng" w="9525">
                      <a:solidFill>
                        <a:srgbClr val="CCCCCC"/>
                      </a:solidFill>
                      <a:prstDash val="solid"/>
                      <a:round/>
                      <a:headEnd len="sm" w="sm" type="none"/>
                      <a:tailEnd len="sm" w="sm" type="none"/>
                    </a:lnL>
                    <a:lnR cap="flat" cmpd="sng" w="152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59175">
                <a:tc>
                  <a:txBody>
                    <a:bodyPr/>
                    <a:lstStyle/>
                    <a:p>
                      <a:pPr indent="0" lvl="0" marL="0" marR="0" rtl="0" algn="ctr">
                        <a:lnSpc>
                          <a:spcPct val="100000"/>
                        </a:lnSpc>
                        <a:spcBef>
                          <a:spcPts val="0"/>
                        </a:spcBef>
                        <a:spcAft>
                          <a:spcPts val="0"/>
                        </a:spcAft>
                        <a:buNone/>
                      </a:pPr>
                      <a:r>
                        <a:rPr b="1" lang="es-ES" sz="900" u="none" cap="none" strike="noStrike">
                          <a:solidFill>
                            <a:srgbClr val="FFFFFF"/>
                          </a:solidFill>
                        </a:rPr>
                        <a:t>1/9/2025</a:t>
                      </a:r>
                      <a:endParaRPr/>
                    </a:p>
                  </a:txBody>
                  <a:tcPr marT="0" marB="0" marR="15575" marL="15575" anchor="b">
                    <a:lnL cap="flat" cmpd="sng" w="152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1" lang="es-ES" sz="800" u="none" cap="none" strike="noStrike"/>
                        <a:t>Generación de Trello</a:t>
                      </a:r>
                      <a:endParaRPr/>
                    </a:p>
                  </a:txBody>
                  <a:tcPr marT="0" marB="0" marR="15575" marL="15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Las tareas creadas no se guardaban</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Eduardo/Percy</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Resuelto</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Se actualizo el notebook</a:t>
                      </a:r>
                      <a:endParaRPr/>
                    </a:p>
                  </a:txBody>
                  <a:tcPr marT="0" marB="0" marR="15575" marL="15575" anchor="b">
                    <a:lnL cap="flat" cmpd="sng" w="9525">
                      <a:solidFill>
                        <a:srgbClr val="CCCCCC"/>
                      </a:solidFill>
                      <a:prstDash val="solid"/>
                      <a:round/>
                      <a:headEnd len="sm" w="sm" type="none"/>
                      <a:tailEnd len="sm" w="sm" type="none"/>
                    </a:lnL>
                    <a:lnR cap="flat" cmpd="sng" w="152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301500">
                <a:tc>
                  <a:txBody>
                    <a:bodyPr/>
                    <a:lstStyle/>
                    <a:p>
                      <a:pPr indent="0" lvl="0" marL="0" marR="0" rtl="0" algn="ctr">
                        <a:lnSpc>
                          <a:spcPct val="100000"/>
                        </a:lnSpc>
                        <a:spcBef>
                          <a:spcPts val="0"/>
                        </a:spcBef>
                        <a:spcAft>
                          <a:spcPts val="0"/>
                        </a:spcAft>
                        <a:buNone/>
                      </a:pPr>
                      <a:r>
                        <a:rPr b="1" lang="es-ES" sz="900" u="none" cap="none" strike="noStrike">
                          <a:solidFill>
                            <a:srgbClr val="FFFFFF"/>
                          </a:solidFill>
                        </a:rPr>
                        <a:t>3/9/2025</a:t>
                      </a:r>
                      <a:endParaRPr/>
                    </a:p>
                  </a:txBody>
                  <a:tcPr marT="0" marB="0" marR="15575" marL="15575" anchor="b">
                    <a:lnL cap="flat" cmpd="sng" w="152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1" lang="es-ES" sz="800" u="none" cap="none" strike="noStrike"/>
                        <a:t>Completar Acta de Sprint Retrospective</a:t>
                      </a:r>
                      <a:endParaRPr/>
                    </a:p>
                  </a:txBody>
                  <a:tcPr marT="0" marB="0" marR="15575" marL="15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No había una plantilla creada</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Eduardo/Percy</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Resuelto</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Se busco en proyectos pasados</a:t>
                      </a:r>
                      <a:endParaRPr/>
                    </a:p>
                  </a:txBody>
                  <a:tcPr marT="0" marB="0" marR="15575" marL="15575" anchor="b">
                    <a:lnL cap="flat" cmpd="sng" w="9525">
                      <a:solidFill>
                        <a:srgbClr val="CCCCCC"/>
                      </a:solidFill>
                      <a:prstDash val="solid"/>
                      <a:round/>
                      <a:headEnd len="sm" w="sm" type="none"/>
                      <a:tailEnd len="sm" w="sm" type="none"/>
                    </a:lnL>
                    <a:lnR cap="flat" cmpd="sng" w="152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59175">
                <a:tc>
                  <a:txBody>
                    <a:bodyPr/>
                    <a:lstStyle/>
                    <a:p>
                      <a:pPr indent="0" lvl="0" marL="0" marR="0" rtl="0" algn="ctr">
                        <a:lnSpc>
                          <a:spcPct val="100000"/>
                        </a:lnSpc>
                        <a:spcBef>
                          <a:spcPts val="0"/>
                        </a:spcBef>
                        <a:spcAft>
                          <a:spcPts val="0"/>
                        </a:spcAft>
                        <a:buNone/>
                      </a:pPr>
                      <a:r>
                        <a:rPr b="1" lang="es-ES" sz="900" u="none" cap="none" strike="noStrike">
                          <a:solidFill>
                            <a:srgbClr val="FFFFFF"/>
                          </a:solidFill>
                        </a:rPr>
                        <a:t>7/10/2025</a:t>
                      </a:r>
                      <a:endParaRPr/>
                    </a:p>
                  </a:txBody>
                  <a:tcPr marT="0" marB="0" marR="15575" marL="15575" anchor="b">
                    <a:lnL cap="flat" cmpd="sng" w="152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1" lang="es-ES" sz="800" u="none" cap="none" strike="noStrike"/>
                        <a:t>Conexión de base de datos con la API</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Error de autorización</a:t>
                      </a:r>
                      <a:endParaRPr b="1" sz="800" u="none" cap="none" strike="noStrike"/>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Eduardo/Percy</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Resuelto</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Se estableció la autenticación correcta</a:t>
                      </a:r>
                      <a:endParaRPr/>
                    </a:p>
                  </a:txBody>
                  <a:tcPr marT="0" marB="0" marR="15575" marL="15575" anchor="b">
                    <a:lnL cap="flat" cmpd="sng" w="9525">
                      <a:solidFill>
                        <a:srgbClr val="CCCCCC"/>
                      </a:solidFill>
                      <a:prstDash val="solid"/>
                      <a:round/>
                      <a:headEnd len="sm" w="sm" type="none"/>
                      <a:tailEnd len="sm" w="sm" type="none"/>
                    </a:lnL>
                    <a:lnR cap="flat" cmpd="sng" w="152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59175">
                <a:tc>
                  <a:txBody>
                    <a:bodyPr/>
                    <a:lstStyle/>
                    <a:p>
                      <a:pPr indent="0" lvl="0" marL="0" marR="0" rtl="0" algn="ctr">
                        <a:lnSpc>
                          <a:spcPct val="100000"/>
                        </a:lnSpc>
                        <a:spcBef>
                          <a:spcPts val="0"/>
                        </a:spcBef>
                        <a:spcAft>
                          <a:spcPts val="0"/>
                        </a:spcAft>
                        <a:buNone/>
                      </a:pPr>
                      <a:r>
                        <a:rPr b="1" lang="es-ES" sz="900" u="none" cap="none" strike="noStrike">
                          <a:solidFill>
                            <a:srgbClr val="FFFFFF"/>
                          </a:solidFill>
                        </a:rPr>
                        <a:t>15/10/2025</a:t>
                      </a:r>
                      <a:endParaRPr/>
                    </a:p>
                  </a:txBody>
                  <a:tcPr marT="0" marB="0" marR="15575" marL="15575" anchor="b">
                    <a:lnL cap="flat" cmpd="sng" w="152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1" lang="es-ES" sz="800" u="none" cap="none" strike="noStrike"/>
                        <a:t>Conexion de base de datos con la API</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Error en la conexión de tablas</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Eduardo/Percy</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Resuelto</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Creando tablas y relaciones</a:t>
                      </a:r>
                      <a:endParaRPr/>
                    </a:p>
                  </a:txBody>
                  <a:tcPr marT="0" marB="0" marR="15575" marL="15575" anchor="b">
                    <a:lnL cap="flat" cmpd="sng" w="9525">
                      <a:solidFill>
                        <a:srgbClr val="CCCCCC"/>
                      </a:solidFill>
                      <a:prstDash val="solid"/>
                      <a:round/>
                      <a:headEnd len="sm" w="sm" type="none"/>
                      <a:tailEnd len="sm" w="sm" type="none"/>
                    </a:lnL>
                    <a:lnR cap="flat" cmpd="sng" w="152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59175">
                <a:tc>
                  <a:txBody>
                    <a:bodyPr/>
                    <a:lstStyle/>
                    <a:p>
                      <a:pPr indent="0" lvl="0" marL="0" marR="0" rtl="0" algn="ctr">
                        <a:lnSpc>
                          <a:spcPct val="100000"/>
                        </a:lnSpc>
                        <a:spcBef>
                          <a:spcPts val="0"/>
                        </a:spcBef>
                        <a:spcAft>
                          <a:spcPts val="0"/>
                        </a:spcAft>
                        <a:buNone/>
                      </a:pPr>
                      <a:r>
                        <a:rPr b="1" lang="es-ES" sz="900" u="none" cap="none" strike="noStrike">
                          <a:solidFill>
                            <a:srgbClr val="FFFFFF"/>
                          </a:solidFill>
                        </a:rPr>
                        <a:t>22/10/2025</a:t>
                      </a:r>
                      <a:endParaRPr/>
                    </a:p>
                  </a:txBody>
                  <a:tcPr marT="0" marB="0" marR="15575" marL="15575" anchor="b">
                    <a:lnL cap="flat" cmpd="sng" w="152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1" lang="es-ES" sz="800" u="none" cap="none" strike="noStrike"/>
                        <a:t>Conexion de base de datos con la API</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Error de compilación en la API</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Eduardo/Percy</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Resuelto</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Reestructuración de API y métodos HTTPS</a:t>
                      </a:r>
                      <a:endParaRPr/>
                    </a:p>
                  </a:txBody>
                  <a:tcPr marT="0" marB="0" marR="15575" marL="15575" anchor="b">
                    <a:lnL cap="flat" cmpd="sng" w="9525">
                      <a:solidFill>
                        <a:srgbClr val="CCCCCC"/>
                      </a:solidFill>
                      <a:prstDash val="solid"/>
                      <a:round/>
                      <a:headEnd len="sm" w="sm" type="none"/>
                      <a:tailEnd len="sm" w="sm" type="none"/>
                    </a:lnL>
                    <a:lnR cap="flat" cmpd="sng" w="152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59175">
                <a:tc>
                  <a:txBody>
                    <a:bodyPr/>
                    <a:lstStyle/>
                    <a:p>
                      <a:pPr indent="0" lvl="0" marL="0" marR="0" rtl="0" algn="ctr">
                        <a:lnSpc>
                          <a:spcPct val="100000"/>
                        </a:lnSpc>
                        <a:spcBef>
                          <a:spcPts val="0"/>
                        </a:spcBef>
                        <a:spcAft>
                          <a:spcPts val="0"/>
                        </a:spcAft>
                        <a:buNone/>
                      </a:pPr>
                      <a:r>
                        <a:rPr b="1" lang="es-ES" sz="900" u="none" cap="none" strike="noStrike">
                          <a:solidFill>
                            <a:srgbClr val="FFFFFF"/>
                          </a:solidFill>
                        </a:rPr>
                        <a:t>29/10/2025</a:t>
                      </a:r>
                      <a:endParaRPr/>
                    </a:p>
                  </a:txBody>
                  <a:tcPr marT="0" marB="0" marR="15575" marL="15575" anchor="b">
                    <a:lnL cap="flat" cmpd="sng" w="152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1" lang="es-ES" sz="800" u="none" cap="none" strike="noStrike"/>
                        <a:t>Conexion de base de datos con la API</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Conexión de aplicación con la API</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Eduardo/Percy</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Resuelto</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Conexión de Usuario a la base de datos</a:t>
                      </a:r>
                      <a:endParaRPr/>
                    </a:p>
                  </a:txBody>
                  <a:tcPr marT="0" marB="0" marR="15575" marL="15575" anchor="b">
                    <a:lnL cap="flat" cmpd="sng" w="9525">
                      <a:solidFill>
                        <a:srgbClr val="CCCCCC"/>
                      </a:solidFill>
                      <a:prstDash val="solid"/>
                      <a:round/>
                      <a:headEnd len="sm" w="sm" type="none"/>
                      <a:tailEnd len="sm" w="sm" type="none"/>
                    </a:lnL>
                    <a:lnR cap="flat" cmpd="sng" w="152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59175">
                <a:tc>
                  <a:txBody>
                    <a:bodyPr/>
                    <a:lstStyle/>
                    <a:p>
                      <a:pPr indent="0" lvl="0" marL="0" marR="0" rtl="0" algn="ctr">
                        <a:lnSpc>
                          <a:spcPct val="100000"/>
                        </a:lnSpc>
                        <a:spcBef>
                          <a:spcPts val="0"/>
                        </a:spcBef>
                        <a:spcAft>
                          <a:spcPts val="0"/>
                        </a:spcAft>
                        <a:buNone/>
                      </a:pPr>
                      <a:r>
                        <a:rPr b="1" lang="es-ES" sz="900" u="none" cap="none" strike="noStrike">
                          <a:solidFill>
                            <a:srgbClr val="FFFFFF"/>
                          </a:solidFill>
                        </a:rPr>
                        <a:t>03/11/2025</a:t>
                      </a:r>
                      <a:endParaRPr/>
                    </a:p>
                  </a:txBody>
                  <a:tcPr marT="0" marB="0" marR="15575" marL="15575" anchor="b">
                    <a:lnL cap="flat" cmpd="sng" w="152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1" lang="es-ES" sz="800" u="none" cap="none" strike="noStrike"/>
                        <a:t>Conexion de base de datos con la API</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Conexión de aplicación con la API</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Eduardo/Percy</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Resuelto</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Conexión de Usuario a la base de datos</a:t>
                      </a:r>
                      <a:endParaRPr/>
                    </a:p>
                  </a:txBody>
                  <a:tcPr marT="0" marB="0" marR="15575" marL="15575" anchor="b">
                    <a:lnL cap="flat" cmpd="sng" w="9525">
                      <a:solidFill>
                        <a:srgbClr val="CCCCCC"/>
                      </a:solidFill>
                      <a:prstDash val="solid"/>
                      <a:round/>
                      <a:headEnd len="sm" w="sm" type="none"/>
                      <a:tailEnd len="sm" w="sm" type="none"/>
                    </a:lnL>
                    <a:lnR cap="flat" cmpd="sng" w="152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59175">
                <a:tc>
                  <a:txBody>
                    <a:bodyPr/>
                    <a:lstStyle/>
                    <a:p>
                      <a:pPr indent="0" lvl="0" marL="0" marR="0" rtl="0" algn="ctr">
                        <a:lnSpc>
                          <a:spcPct val="100000"/>
                        </a:lnSpc>
                        <a:spcBef>
                          <a:spcPts val="0"/>
                        </a:spcBef>
                        <a:spcAft>
                          <a:spcPts val="0"/>
                        </a:spcAft>
                        <a:buNone/>
                      </a:pPr>
                      <a:r>
                        <a:rPr b="1" lang="es-ES" sz="900" u="none" cap="none" strike="noStrike">
                          <a:solidFill>
                            <a:srgbClr val="FFFFFF"/>
                          </a:solidFill>
                        </a:rPr>
                        <a:t>08/11/2025</a:t>
                      </a:r>
                      <a:endParaRPr/>
                    </a:p>
                  </a:txBody>
                  <a:tcPr marT="0" marB="0" marR="15575" marL="15575" anchor="b">
                    <a:lnL cap="flat" cmpd="sng" w="152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1" lang="es-ES" sz="800" u="none" cap="none" strike="noStrike"/>
                        <a:t>Desarrollo aplicación</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El no pago de la licencia postgresql</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Eduardo/Percy</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Resuelto</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Realizar pago de licencia postgresql</a:t>
                      </a:r>
                      <a:endParaRPr/>
                    </a:p>
                  </a:txBody>
                  <a:tcPr marT="0" marB="0" marR="15575" marL="15575" anchor="b">
                    <a:lnL cap="flat" cmpd="sng" w="9525">
                      <a:solidFill>
                        <a:srgbClr val="CCCCCC"/>
                      </a:solidFill>
                      <a:prstDash val="solid"/>
                      <a:round/>
                      <a:headEnd len="sm" w="sm" type="none"/>
                      <a:tailEnd len="sm" w="sm" type="none"/>
                    </a:lnL>
                    <a:lnR cap="flat" cmpd="sng" w="152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59175">
                <a:tc>
                  <a:txBody>
                    <a:bodyPr/>
                    <a:lstStyle/>
                    <a:p>
                      <a:pPr indent="0" lvl="0" marL="0" marR="0" rtl="0" algn="ctr">
                        <a:lnSpc>
                          <a:spcPct val="100000"/>
                        </a:lnSpc>
                        <a:spcBef>
                          <a:spcPts val="0"/>
                        </a:spcBef>
                        <a:spcAft>
                          <a:spcPts val="0"/>
                        </a:spcAft>
                        <a:buNone/>
                      </a:pPr>
                      <a:r>
                        <a:rPr b="1" lang="es-ES" sz="900" u="none" cap="none" strike="noStrike">
                          <a:solidFill>
                            <a:srgbClr val="FFFFFF"/>
                          </a:solidFill>
                        </a:rPr>
                        <a:t>14/11/2025</a:t>
                      </a:r>
                      <a:endParaRPr/>
                    </a:p>
                  </a:txBody>
                  <a:tcPr marT="0" marB="0" marR="15575" marL="15575" anchor="b">
                    <a:lnL cap="flat" cmpd="sng" w="152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15225">
                      <a:solidFill>
                        <a:srgbClr val="000000"/>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1" lang="es-ES" sz="800" u="none" cap="none" strike="noStrike"/>
                        <a:t>Desarrollo presentación</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15225">
                      <a:solidFill>
                        <a:srgbClr val="000000"/>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DUOCUC es sede de votación</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15225">
                      <a:solidFill>
                        <a:srgbClr val="000000"/>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Eduardo/Percy</a:t>
                      </a:r>
                      <a:endParaRPr b="1" sz="800" u="none" cap="none" strike="noStrike"/>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15225">
                      <a:solidFill>
                        <a:srgbClr val="000000"/>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Resuelto</a:t>
                      </a:r>
                      <a:endParaRPr/>
                    </a:p>
                  </a:txBody>
                  <a:tcPr marT="0" marB="0" marR="15575" marL="15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15225">
                      <a:solidFill>
                        <a:srgbClr val="000000"/>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1" lang="es-ES" sz="800" u="none" cap="none" strike="noStrike"/>
                        <a:t>Reunión online</a:t>
                      </a:r>
                      <a:endParaRPr/>
                    </a:p>
                  </a:txBody>
                  <a:tcPr marT="0" marB="0" marR="15575" marL="15575" anchor="b">
                    <a:lnL cap="flat" cmpd="sng" w="9525">
                      <a:solidFill>
                        <a:srgbClr val="CCCCCC"/>
                      </a:solidFill>
                      <a:prstDash val="solid"/>
                      <a:round/>
                      <a:headEnd len="sm" w="sm" type="none"/>
                      <a:tailEnd len="sm" w="sm" type="none"/>
                    </a:lnL>
                    <a:lnR cap="flat" cmpd="sng" w="152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15225">
                      <a:solidFill>
                        <a:srgbClr val="000000"/>
                      </a:solidFill>
                      <a:prstDash val="solid"/>
                      <a:round/>
                      <a:headEnd len="sm" w="sm" type="none"/>
                      <a:tailEnd len="sm" w="sm" type="none"/>
                    </a:lnB>
                    <a:solidFill>
                      <a:srgbClr val="C9DAF8"/>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sp>
        <p:nvSpPr>
          <p:cNvPr id="1406" name="Google Shape;1406;p40"/>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7" name="Google Shape;1407;p40"/>
          <p:cNvSpPr/>
          <p:nvPr/>
        </p:nvSpPr>
        <p:spPr>
          <a:xfrm>
            <a:off x="54325" y="11747"/>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8" name="Google Shape;1408;p40"/>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9" name="Google Shape;1409;p40"/>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0" name="Google Shape;1410;p40"/>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1" name="Google Shape;1411;p40"/>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2" name="Google Shape;1412;p40"/>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3" name="Google Shape;1413;p40"/>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4" name="Google Shape;1414;p40"/>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5" name="Google Shape;1415;p40"/>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6" name="Google Shape;1416;p40"/>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7" name="Google Shape;1417;p40"/>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8" name="Google Shape;1418;p40"/>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9" name="Google Shape;1419;p40"/>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0" name="Google Shape;1420;p40"/>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1" name="Google Shape;1421;p40"/>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2" name="Google Shape;1422;p40"/>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3" name="Google Shape;1423;p40"/>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4" name="Google Shape;1424;p40"/>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5" name="Google Shape;1425;p40"/>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6" name="Google Shape;1426;p40"/>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7" name="Google Shape;1427;p40"/>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8" name="Google Shape;1428;p40"/>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9" name="Google Shape;1429;p40"/>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0" name="Google Shape;1430;p40"/>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1" name="Google Shape;1431;p40"/>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2" name="Google Shape;1432;p40"/>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3" name="Google Shape;1433;p40"/>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4" name="Google Shape;1434;p40"/>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5" name="Google Shape;1435;p40"/>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3 – EVIDENCIA PRUEBAS</a:t>
            </a:r>
            <a:endParaRPr b="1" i="0" sz="2400" u="none" cap="none" strike="noStrike">
              <a:solidFill>
                <a:schemeClr val="accent5"/>
              </a:solidFill>
              <a:latin typeface="Calibri"/>
              <a:ea typeface="Calibri"/>
              <a:cs typeface="Calibri"/>
              <a:sym typeface="Calibri"/>
            </a:endParaRPr>
          </a:p>
        </p:txBody>
      </p:sp>
      <p:sp>
        <p:nvSpPr>
          <p:cNvPr id="1436" name="Google Shape;1436;p40"/>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437" name="Google Shape;1437;p40"/>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438" name="Google Shape;1438;p40"/>
          <p:cNvPicPr preferRelativeResize="0"/>
          <p:nvPr/>
        </p:nvPicPr>
        <p:blipFill rotWithShape="1">
          <a:blip r:embed="rId5">
            <a:alphaModFix/>
          </a:blip>
          <a:srcRect b="0" l="0" r="0" t="0"/>
          <a:stretch/>
        </p:blipFill>
        <p:spPr>
          <a:xfrm>
            <a:off x="5435259" y="788028"/>
            <a:ext cx="1454941" cy="3131347"/>
          </a:xfrm>
          <a:prstGeom prst="roundRect">
            <a:avLst>
              <a:gd fmla="val 4167" name="adj"/>
            </a:avLst>
          </a:prstGeom>
          <a:solidFill>
            <a:srgbClr val="FFFFFF"/>
          </a:solidFill>
          <a:ln cap="sq" cmpd="sng" w="76200">
            <a:solidFill>
              <a:srgbClr val="292929"/>
            </a:solidFill>
            <a:prstDash val="solid"/>
            <a:miter lim="800000"/>
            <a:headEnd len="sm" w="sm" type="none"/>
            <a:tailEnd len="sm" w="sm" type="none"/>
          </a:ln>
          <a:effectLst>
            <a:reflection blurRad="0" dir="5400000" dist="5000" endA="0" endPos="28000" kx="0" rotWithShape="0" algn="bl" stA="28000" stPos="0" sy="-100000" ky="0"/>
          </a:effectLst>
        </p:spPr>
      </p:pic>
      <p:pic>
        <p:nvPicPr>
          <p:cNvPr id="1439" name="Google Shape;1439;p40"/>
          <p:cNvPicPr preferRelativeResize="0"/>
          <p:nvPr/>
        </p:nvPicPr>
        <p:blipFill rotWithShape="1">
          <a:blip r:embed="rId6">
            <a:alphaModFix/>
          </a:blip>
          <a:srcRect b="0" l="0" r="0" t="0"/>
          <a:stretch/>
        </p:blipFill>
        <p:spPr>
          <a:xfrm>
            <a:off x="7162844" y="772634"/>
            <a:ext cx="1441417" cy="3139606"/>
          </a:xfrm>
          <a:prstGeom prst="roundRect">
            <a:avLst>
              <a:gd fmla="val 4167" name="adj"/>
            </a:avLst>
          </a:prstGeom>
          <a:solidFill>
            <a:srgbClr val="FFFFFF"/>
          </a:solidFill>
          <a:ln cap="sq" cmpd="sng" w="76200">
            <a:solidFill>
              <a:srgbClr val="292929"/>
            </a:solidFill>
            <a:prstDash val="solid"/>
            <a:miter lim="800000"/>
            <a:headEnd len="sm" w="sm" type="none"/>
            <a:tailEnd len="sm" w="sm" type="none"/>
          </a:ln>
          <a:effectLst>
            <a:reflection blurRad="0" dir="5400000" dist="5000" endA="0" endPos="28000" kx="0" rotWithShape="0" algn="bl" stA="28000" stPos="0" sy="-100000" ky="0"/>
          </a:effectLst>
        </p:spPr>
      </p:pic>
      <p:pic>
        <p:nvPicPr>
          <p:cNvPr id="1440" name="Google Shape;1440;p40"/>
          <p:cNvPicPr preferRelativeResize="0"/>
          <p:nvPr/>
        </p:nvPicPr>
        <p:blipFill rotWithShape="1">
          <a:blip r:embed="rId7">
            <a:alphaModFix/>
          </a:blip>
          <a:srcRect b="0" l="0" r="0" t="0"/>
          <a:stretch/>
        </p:blipFill>
        <p:spPr>
          <a:xfrm>
            <a:off x="2059673" y="792604"/>
            <a:ext cx="1403917" cy="3129129"/>
          </a:xfrm>
          <a:prstGeom prst="roundRect">
            <a:avLst>
              <a:gd fmla="val 4167" name="adj"/>
            </a:avLst>
          </a:prstGeom>
          <a:solidFill>
            <a:srgbClr val="FFFFFF"/>
          </a:solidFill>
          <a:ln cap="sq" cmpd="sng" w="76200">
            <a:solidFill>
              <a:srgbClr val="292929"/>
            </a:solidFill>
            <a:prstDash val="solid"/>
            <a:miter lim="800000"/>
            <a:headEnd len="sm" w="sm" type="none"/>
            <a:tailEnd len="sm" w="sm" type="none"/>
          </a:ln>
          <a:effectLst>
            <a:reflection blurRad="0" dir="5400000" dist="5000" endA="0" endPos="28000" kx="0" rotWithShape="0" algn="bl" stA="28000" stPos="0" sy="-100000" ky="0"/>
          </a:effectLst>
        </p:spPr>
      </p:pic>
      <p:pic>
        <p:nvPicPr>
          <p:cNvPr id="1441" name="Google Shape;1441;p40"/>
          <p:cNvPicPr preferRelativeResize="0"/>
          <p:nvPr/>
        </p:nvPicPr>
        <p:blipFill rotWithShape="1">
          <a:blip r:embed="rId8">
            <a:alphaModFix/>
          </a:blip>
          <a:srcRect b="0" l="0" r="0" t="0"/>
          <a:stretch/>
        </p:blipFill>
        <p:spPr>
          <a:xfrm>
            <a:off x="3766812" y="792604"/>
            <a:ext cx="1395803" cy="3129129"/>
          </a:xfrm>
          <a:prstGeom prst="roundRect">
            <a:avLst>
              <a:gd fmla="val 4167" name="adj"/>
            </a:avLst>
          </a:prstGeom>
          <a:solidFill>
            <a:srgbClr val="FFFFFF"/>
          </a:solidFill>
          <a:ln cap="sq" cmpd="sng" w="76200">
            <a:solidFill>
              <a:srgbClr val="292929"/>
            </a:solidFill>
            <a:prstDash val="solid"/>
            <a:miter lim="800000"/>
            <a:headEnd len="sm" w="sm" type="none"/>
            <a:tailEnd len="sm" w="sm" type="none"/>
          </a:ln>
          <a:effectLst>
            <a:reflection blurRad="0" dir="5400000" dist="5000" endA="0" endPos="28000" kx="0" rotWithShape="0" algn="bl" stA="28000" stPos="0" sy="-100000" ky="0"/>
          </a:effectLst>
        </p:spPr>
      </p:pic>
      <p:pic>
        <p:nvPicPr>
          <p:cNvPr id="1442" name="Google Shape;1442;p40"/>
          <p:cNvPicPr preferRelativeResize="0"/>
          <p:nvPr/>
        </p:nvPicPr>
        <p:blipFill rotWithShape="1">
          <a:blip r:embed="rId9">
            <a:alphaModFix/>
          </a:blip>
          <a:srcRect b="0" l="0" r="0" t="0"/>
          <a:stretch/>
        </p:blipFill>
        <p:spPr>
          <a:xfrm>
            <a:off x="388187" y="793898"/>
            <a:ext cx="1402473" cy="3127835"/>
          </a:xfrm>
          <a:prstGeom prst="roundRect">
            <a:avLst>
              <a:gd fmla="val 4167" name="adj"/>
            </a:avLst>
          </a:prstGeom>
          <a:solidFill>
            <a:srgbClr val="FFFFFF"/>
          </a:solidFill>
          <a:ln cap="sq" cmpd="sng" w="76200">
            <a:solidFill>
              <a:srgbClr val="292929"/>
            </a:solidFill>
            <a:prstDash val="solid"/>
            <a:miter lim="800000"/>
            <a:headEnd len="sm" w="sm" type="none"/>
            <a:tailEnd len="sm" w="sm" type="none"/>
          </a:ln>
          <a:effectLst>
            <a:reflection blurRad="0" dir="5400000" dist="5000" endA="0" endPos="28000" kx="0" rotWithShape="0" algn="bl" stA="28000" stPos="0" sy="-100000" ky="0"/>
          </a:effectLst>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p41"/>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48" name="Google Shape;1448;p41"/>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49" name="Google Shape;1449;p41"/>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0" name="Google Shape;1450;p41"/>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1" name="Google Shape;1451;p41"/>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2" name="Google Shape;1452;p41"/>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3" name="Google Shape;1453;p41"/>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4" name="Google Shape;1454;p41"/>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5" name="Google Shape;1455;p41"/>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6" name="Google Shape;1456;p41"/>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7" name="Google Shape;1457;p41"/>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8" name="Google Shape;1458;p41"/>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9" name="Google Shape;1459;p41"/>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0" name="Google Shape;1460;p41"/>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1" name="Google Shape;1461;p41"/>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2" name="Google Shape;1462;p41"/>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3" name="Google Shape;1463;p41"/>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4" name="Google Shape;1464;p41"/>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5" name="Google Shape;1465;p41"/>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6" name="Google Shape;1466;p41"/>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7" name="Google Shape;1467;p41"/>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8" name="Google Shape;1468;p41"/>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9" name="Google Shape;1469;p41"/>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0" name="Google Shape;1470;p41"/>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1" name="Google Shape;1471;p41"/>
          <p:cNvSpPr/>
          <p:nvPr/>
        </p:nvSpPr>
        <p:spPr>
          <a:xfrm>
            <a:off x="4772829" y="1791743"/>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2" name="Google Shape;1472;p41"/>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3" name="Google Shape;1473;p41"/>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4" name="Google Shape;1474;p41"/>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5" name="Google Shape;1475;p41"/>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6" name="Google Shape;1476;p41"/>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7" name="Google Shape;1477;p41"/>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4 – Desarrollo de aplicación y pruebas piloto</a:t>
            </a:r>
            <a:endParaRPr b="1" i="0" sz="2400" u="none" cap="none" strike="noStrike">
              <a:solidFill>
                <a:schemeClr val="accent5"/>
              </a:solidFill>
              <a:latin typeface="Calibri"/>
              <a:ea typeface="Calibri"/>
              <a:cs typeface="Calibri"/>
              <a:sym typeface="Calibri"/>
            </a:endParaRPr>
          </a:p>
        </p:txBody>
      </p:sp>
      <p:sp>
        <p:nvSpPr>
          <p:cNvPr id="1478" name="Google Shape;1478;p41"/>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479" name="Google Shape;1479;p41"/>
          <p:cNvSpPr txBox="1"/>
          <p:nvPr/>
        </p:nvSpPr>
        <p:spPr>
          <a:xfrm>
            <a:off x="929729" y="660091"/>
            <a:ext cx="7378500" cy="12341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s-ES" sz="1400" u="none" cap="none" strike="noStrike">
                <a:solidFill>
                  <a:schemeClr val="dk1"/>
                </a:solidFill>
                <a:latin typeface="Calibri"/>
                <a:ea typeface="Calibri"/>
                <a:cs typeface="Calibri"/>
                <a:sym typeface="Calibri"/>
              </a:rPr>
              <a:t>Duración: 4 semanas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Arial"/>
              <a:buNone/>
            </a:pPr>
            <a:r>
              <a:rPr b="0" i="0" lang="es-ES" sz="1400" u="none" cap="none" strike="noStrike">
                <a:solidFill>
                  <a:schemeClr val="dk1"/>
                </a:solidFill>
                <a:latin typeface="Calibri"/>
                <a:ea typeface="Calibri"/>
                <a:cs typeface="Calibri"/>
                <a:sym typeface="Calibri"/>
              </a:rPr>
              <a:t>Evidencias: Creación de rutas para visitar en bicicleta, caminando y auto</a:t>
            </a:r>
            <a:endParaRPr b="0" i="0" sz="1400" u="none" cap="none" strike="noStrike">
              <a:solidFill>
                <a:schemeClr val="dk1"/>
              </a:solidFill>
              <a:latin typeface="Calibri"/>
              <a:ea typeface="Calibri"/>
              <a:cs typeface="Calibri"/>
              <a:sym typeface="Calibri"/>
            </a:endParaRPr>
          </a:p>
          <a:p>
            <a:pPr indent="0" lvl="0" marL="1270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Calibri"/>
              <a:ea typeface="Calibri"/>
              <a:cs typeface="Calibri"/>
              <a:sym typeface="Calibri"/>
            </a:endParaRPr>
          </a:p>
          <a:p>
            <a:pPr indent="0" lvl="0" marL="12700" marR="0" rtl="0" algn="l">
              <a:lnSpc>
                <a:spcPct val="115000"/>
              </a:lnSpc>
              <a:spcBef>
                <a:spcPts val="0"/>
              </a:spcBef>
              <a:spcAft>
                <a:spcPts val="0"/>
              </a:spcAft>
              <a:buClr>
                <a:schemeClr val="dk1"/>
              </a:buClr>
              <a:buSzPts val="1100"/>
              <a:buFont typeface="Arial"/>
              <a:buNone/>
            </a:pPr>
            <a:r>
              <a:rPr b="0" i="0" lang="es-ES" sz="1400" u="none" cap="none" strike="noStrike">
                <a:solidFill>
                  <a:schemeClr val="dk1"/>
                </a:solidFill>
                <a:latin typeface="Calibri"/>
                <a:ea typeface="Calibri"/>
                <a:cs typeface="Calibri"/>
                <a:sym typeface="Calibri"/>
              </a:rPr>
              <a:t>Descripción: Se pueden crear tour de visitas simple o múltiples.</a:t>
            </a:r>
            <a:endParaRPr b="1" i="0" sz="1455" u="none" cap="none" strike="noStrike">
              <a:solidFill>
                <a:srgbClr val="FFFFFF"/>
              </a:solidFill>
              <a:latin typeface="Arial"/>
              <a:ea typeface="Arial"/>
              <a:cs typeface="Arial"/>
              <a:sym typeface="Arial"/>
            </a:endParaRPr>
          </a:p>
        </p:txBody>
      </p:sp>
      <p:sp>
        <p:nvSpPr>
          <p:cNvPr id="1480" name="Google Shape;1480;p41"/>
          <p:cNvSpPr/>
          <p:nvPr/>
        </p:nvSpPr>
        <p:spPr>
          <a:xfrm>
            <a:off x="1836200" y="2849200"/>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ES" sz="1200" u="none" cap="none" strike="noStrike">
                <a:solidFill>
                  <a:srgbClr val="000000"/>
                </a:solidFill>
                <a:latin typeface="Arial"/>
                <a:ea typeface="Arial"/>
                <a:cs typeface="Arial"/>
                <a:sym typeface="Arial"/>
              </a:rPr>
              <a:t>Crear rutas para visitar</a:t>
            </a:r>
            <a:endParaRPr b="0" i="0" sz="1200" u="none" cap="none" strike="noStrike">
              <a:solidFill>
                <a:srgbClr val="000000"/>
              </a:solidFill>
              <a:latin typeface="Arial"/>
              <a:ea typeface="Arial"/>
              <a:cs typeface="Arial"/>
              <a:sym typeface="Arial"/>
            </a:endParaRPr>
          </a:p>
        </p:txBody>
      </p:sp>
      <p:sp>
        <p:nvSpPr>
          <p:cNvPr id="1481" name="Google Shape;1481;p41"/>
          <p:cNvSpPr/>
          <p:nvPr/>
        </p:nvSpPr>
        <p:spPr>
          <a:xfrm>
            <a:off x="5160313" y="2869863"/>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ES" sz="1200" u="none" cap="none" strike="noStrike">
                <a:solidFill>
                  <a:srgbClr val="000000"/>
                </a:solidFill>
                <a:latin typeface="Arial"/>
                <a:ea typeface="Arial"/>
                <a:cs typeface="Arial"/>
                <a:sym typeface="Arial"/>
              </a:rPr>
              <a:t>Crear tour de visitas y ver su tiempo de recorrido</a:t>
            </a:r>
            <a:endParaRPr b="0" i="0" sz="1200" u="none" cap="none" strike="noStrike">
              <a:solidFill>
                <a:srgbClr val="000000"/>
              </a:solidFill>
              <a:latin typeface="Arial"/>
              <a:ea typeface="Arial"/>
              <a:cs typeface="Arial"/>
              <a:sym typeface="Arial"/>
            </a:endParaRPr>
          </a:p>
        </p:txBody>
      </p:sp>
      <p:sp>
        <p:nvSpPr>
          <p:cNvPr id="1482" name="Google Shape;1482;p41"/>
          <p:cNvSpPr txBox="1"/>
          <p:nvPr/>
        </p:nvSpPr>
        <p:spPr>
          <a:xfrm>
            <a:off x="3429000" y="2348638"/>
            <a:ext cx="1955100" cy="29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Historia de usuarios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42"/>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8" name="Google Shape;1488;p42"/>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9" name="Google Shape;1489;p42"/>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0" name="Google Shape;1490;p42"/>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1" name="Google Shape;1491;p42"/>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2" name="Google Shape;1492;p42"/>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3" name="Google Shape;1493;p42"/>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4" name="Google Shape;1494;p42"/>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5" name="Google Shape;1495;p42"/>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6" name="Google Shape;1496;p42"/>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7" name="Google Shape;1497;p42"/>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8" name="Google Shape;1498;p42"/>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9" name="Google Shape;1499;p42"/>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0" name="Google Shape;1500;p42"/>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1" name="Google Shape;1501;p42"/>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2" name="Google Shape;1502;p42"/>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3" name="Google Shape;1503;p42"/>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4" name="Google Shape;1504;p42"/>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5" name="Google Shape;1505;p42"/>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6" name="Google Shape;1506;p42"/>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7" name="Google Shape;1507;p42"/>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8" name="Google Shape;1508;p42"/>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9" name="Google Shape;1509;p42"/>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0" name="Google Shape;1510;p42"/>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1" name="Google Shape;1511;p42"/>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2" name="Google Shape;1512;p42"/>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3" name="Google Shape;1513;p42"/>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4" name="Google Shape;1514;p42"/>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5" name="Google Shape;1515;p42"/>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6" name="Google Shape;1516;p42"/>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7" name="Google Shape;1517;p42"/>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8" name="Google Shape;1518;p42"/>
          <p:cNvSpPr txBox="1"/>
          <p:nvPr/>
        </p:nvSpPr>
        <p:spPr>
          <a:xfrm>
            <a:off x="381002" y="23653"/>
            <a:ext cx="780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4 – BACKLOG</a:t>
            </a:r>
            <a:endParaRPr b="1" i="0" sz="2400" u="none" cap="none" strike="noStrike">
              <a:solidFill>
                <a:schemeClr val="accent5"/>
              </a:solidFill>
              <a:latin typeface="Calibri"/>
              <a:ea typeface="Calibri"/>
              <a:cs typeface="Calibri"/>
              <a:sym typeface="Calibri"/>
            </a:endParaRPr>
          </a:p>
        </p:txBody>
      </p:sp>
      <p:sp>
        <p:nvSpPr>
          <p:cNvPr id="1519" name="Google Shape;1519;p42"/>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520" name="Google Shape;1520;p42"/>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1521" name="Google Shape;1521;p42"/>
          <p:cNvGraphicFramePr/>
          <p:nvPr/>
        </p:nvGraphicFramePr>
        <p:xfrm>
          <a:off x="47351" y="570519"/>
          <a:ext cx="3000000" cy="3000000"/>
        </p:xfrm>
        <a:graphic>
          <a:graphicData uri="http://schemas.openxmlformats.org/drawingml/2006/table">
            <a:tbl>
              <a:tblPr>
                <a:noFill/>
                <a:tableStyleId>{09A4A8AA-24DE-483B-A2CB-9BDBEC9F8954}</a:tableStyleId>
              </a:tblPr>
              <a:tblGrid>
                <a:gridCol w="1099225"/>
                <a:gridCol w="3055025"/>
                <a:gridCol w="2592725"/>
                <a:gridCol w="1296375"/>
                <a:gridCol w="1001150"/>
              </a:tblGrid>
              <a:tr h="704600">
                <a:tc>
                  <a:txBody>
                    <a:bodyPr/>
                    <a:lstStyle/>
                    <a:p>
                      <a:pPr indent="0" lvl="0" marL="0" marR="0" rtl="0" algn="ctr">
                        <a:lnSpc>
                          <a:spcPct val="100000"/>
                        </a:lnSpc>
                        <a:spcBef>
                          <a:spcPts val="0"/>
                        </a:spcBef>
                        <a:spcAft>
                          <a:spcPts val="0"/>
                        </a:spcAft>
                        <a:buNone/>
                      </a:pPr>
                      <a:r>
                        <a:rPr b="1" lang="es-ES" sz="1300" u="none" cap="none" strike="noStrike">
                          <a:solidFill>
                            <a:srgbClr val="FFFFFF"/>
                          </a:solidFill>
                        </a:rPr>
                        <a:t>Identificador (ID) de item de product backlog</a:t>
                      </a:r>
                      <a:endParaRPr/>
                    </a:p>
                  </a:txBody>
                  <a:tcPr marT="0" marB="0" marR="21850" marL="2185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1300" u="none" cap="none" strike="noStrike">
                          <a:solidFill>
                            <a:srgbClr val="FFFFFF"/>
                          </a:solidFill>
                        </a:rPr>
                        <a:t>Enunciado del item de Product Backlog</a:t>
                      </a:r>
                      <a:endParaRPr/>
                    </a:p>
                  </a:txBody>
                  <a:tcPr marT="0" marB="0" marR="21850" marL="218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1300" u="none" cap="none" strike="noStrike">
                          <a:solidFill>
                            <a:srgbClr val="FFFFFF"/>
                          </a:solidFill>
                        </a:rPr>
                        <a:t>Tarea</a:t>
                      </a:r>
                      <a:endParaRPr/>
                    </a:p>
                  </a:txBody>
                  <a:tcPr marT="0" marB="0" marR="21850" marL="218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1300" u="none" cap="none" strike="noStrike">
                          <a:solidFill>
                            <a:srgbClr val="FFFFFF"/>
                          </a:solidFill>
                        </a:rPr>
                        <a:t>Dueño / Voluntario</a:t>
                      </a:r>
                      <a:endParaRPr/>
                    </a:p>
                  </a:txBody>
                  <a:tcPr marT="0" marB="0" marR="21850" marL="218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1300" u="none" cap="none" strike="noStrike">
                          <a:solidFill>
                            <a:srgbClr val="FFFFFF"/>
                          </a:solidFill>
                        </a:rPr>
                        <a:t>Estatus</a:t>
                      </a:r>
                      <a:endParaRPr/>
                    </a:p>
                  </a:txBody>
                  <a:tcPr marT="0" marB="0" marR="21850" marL="2185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r>
              <a:tr h="234875">
                <a:tc rowSpan="5">
                  <a:txBody>
                    <a:bodyPr/>
                    <a:lstStyle/>
                    <a:p>
                      <a:pPr indent="0" lvl="0" marL="0" marR="0" rtl="0" algn="ctr">
                        <a:lnSpc>
                          <a:spcPct val="100000"/>
                        </a:lnSpc>
                        <a:spcBef>
                          <a:spcPts val="0"/>
                        </a:spcBef>
                        <a:spcAft>
                          <a:spcPts val="0"/>
                        </a:spcAft>
                        <a:buNone/>
                      </a:pPr>
                      <a:r>
                        <a:rPr b="0" lang="es-ES" sz="1300" u="none" cap="none" strike="noStrike"/>
                        <a:t>HU-02</a:t>
                      </a:r>
                      <a:endParaRPr/>
                    </a:p>
                  </a:txBody>
                  <a:tcPr marT="0" marB="0" marR="21850" marL="218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rowSpan="5">
                  <a:txBody>
                    <a:bodyPr/>
                    <a:lstStyle/>
                    <a:p>
                      <a:pPr indent="0" lvl="0" marL="0" marR="0" rtl="0" algn="l">
                        <a:lnSpc>
                          <a:spcPct val="100000"/>
                        </a:lnSpc>
                        <a:spcBef>
                          <a:spcPts val="0"/>
                        </a:spcBef>
                        <a:spcAft>
                          <a:spcPts val="0"/>
                        </a:spcAft>
                        <a:buNone/>
                      </a:pPr>
                      <a:r>
                        <a:rPr b="0" lang="es-ES" sz="1300" u="none" cap="none" strike="noStrike"/>
                        <a:t>Como un turista, necesito crear itinerarios según mis preferencias, con la finalidad de optimizar mi tiempo y visitar más lugares sin congestión.</a:t>
                      </a:r>
                      <a:endParaRPr/>
                    </a:p>
                  </a:txBody>
                  <a:tcPr marT="0" marB="0" marR="21850" marL="21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s-ES" sz="1300" u="none" cap="none" strike="noStrike"/>
                        <a:t>Crear ruta para visitar</a:t>
                      </a:r>
                      <a:endParaRPr/>
                    </a:p>
                  </a:txBody>
                  <a:tcPr marT="0" marB="0" marR="21850" marL="21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s-ES" sz="1300" u="none" cap="none" strike="noStrike"/>
                        <a:t>Percy/Eduardo </a:t>
                      </a:r>
                      <a:endParaRPr/>
                    </a:p>
                  </a:txBody>
                  <a:tcPr marT="0" marB="0" marR="21850" marL="21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s-ES" sz="1300" u="none" cap="none" strike="noStrike"/>
                        <a:t>Finalizado</a:t>
                      </a:r>
                      <a:endParaRPr/>
                    </a:p>
                  </a:txBody>
                  <a:tcPr marT="0" marB="0" marR="21850" marL="21850">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62925">
                <a:tc vMerge="1"/>
                <a:tc vMerge="1"/>
                <a:tc>
                  <a:txBody>
                    <a:bodyPr/>
                    <a:lstStyle/>
                    <a:p>
                      <a:pPr indent="0" lvl="0" marL="0" marR="0" rtl="0" algn="l">
                        <a:lnSpc>
                          <a:spcPct val="100000"/>
                        </a:lnSpc>
                        <a:spcBef>
                          <a:spcPts val="0"/>
                        </a:spcBef>
                        <a:spcAft>
                          <a:spcPts val="0"/>
                        </a:spcAft>
                        <a:buNone/>
                      </a:pPr>
                      <a:r>
                        <a:rPr b="0" lang="es-ES" sz="1300" u="none" cap="none" strike="noStrike"/>
                        <a:t>Crear tour de visitas, tiempo recorrido</a:t>
                      </a:r>
                      <a:endParaRPr/>
                    </a:p>
                  </a:txBody>
                  <a:tcPr marT="0" marB="0" marR="21850" marL="21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s-ES" sz="1300" u="none" cap="none" strike="noStrike"/>
                        <a:t>Percy/Eduardo </a:t>
                      </a:r>
                      <a:endParaRPr/>
                    </a:p>
                  </a:txBody>
                  <a:tcPr marT="0" marB="0" marR="21850" marL="21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s-ES" sz="1300" u="none" cap="none" strike="noStrike"/>
                        <a:t>Finalizado</a:t>
                      </a:r>
                      <a:endParaRPr/>
                    </a:p>
                  </a:txBody>
                  <a:tcPr marT="0" marB="0" marR="21850" marL="21850">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34875">
                <a:tc vMerge="1"/>
                <a:tc vMerge="1"/>
                <a:tc>
                  <a:txBody>
                    <a:bodyPr/>
                    <a:lstStyle/>
                    <a:p>
                      <a:pPr indent="0" lvl="0" marL="0" marR="0" rtl="0" algn="l">
                        <a:lnSpc>
                          <a:spcPct val="100000"/>
                        </a:lnSpc>
                        <a:spcBef>
                          <a:spcPts val="0"/>
                        </a:spcBef>
                        <a:spcAft>
                          <a:spcPts val="0"/>
                        </a:spcAft>
                        <a:buNone/>
                      </a:pPr>
                      <a:r>
                        <a:rPr b="0" lang="es-ES" sz="1300" u="none" cap="none" strike="noStrike"/>
                        <a:t>Final sprint</a:t>
                      </a:r>
                      <a:endParaRPr/>
                    </a:p>
                  </a:txBody>
                  <a:tcPr marT="0" marB="0" marR="21850" marL="21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s-ES" sz="1300" u="none" cap="none" strike="noStrike"/>
                        <a:t>Percy/Eduardo </a:t>
                      </a:r>
                      <a:endParaRPr/>
                    </a:p>
                  </a:txBody>
                  <a:tcPr marT="0" marB="0" marR="21850" marL="21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s-ES" sz="1300" u="none" cap="none" strike="noStrike"/>
                        <a:t>Finalizado</a:t>
                      </a:r>
                      <a:endParaRPr/>
                    </a:p>
                  </a:txBody>
                  <a:tcPr marT="0" marB="0" marR="21850" marL="21850">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34875">
                <a:tc vMerge="1"/>
                <a:tc vMerge="1"/>
                <a:tc>
                  <a:txBody>
                    <a:bodyPr/>
                    <a:lstStyle/>
                    <a:p>
                      <a:pPr indent="0" lvl="0" marL="0" marR="0" rtl="0" algn="l">
                        <a:lnSpc>
                          <a:spcPct val="100000"/>
                        </a:lnSpc>
                        <a:spcBef>
                          <a:spcPts val="0"/>
                        </a:spcBef>
                        <a:spcAft>
                          <a:spcPts val="0"/>
                        </a:spcAft>
                        <a:buNone/>
                      </a:pPr>
                      <a:r>
                        <a:rPr b="0" lang="es-ES" sz="1300" u="none" cap="none" strike="noStrike"/>
                        <a:t>Acta de aprobación</a:t>
                      </a:r>
                      <a:endParaRPr/>
                    </a:p>
                  </a:txBody>
                  <a:tcPr marT="0" marB="0" marR="21850" marL="21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s-ES" sz="1300" u="none" cap="none" strike="noStrike"/>
                        <a:t>Percy/Eduardo </a:t>
                      </a:r>
                      <a:endParaRPr/>
                    </a:p>
                  </a:txBody>
                  <a:tcPr marT="0" marB="0" marR="21850" marL="21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s-ES" sz="1300" u="none" cap="none" strike="noStrike"/>
                        <a:t>Finalizado</a:t>
                      </a:r>
                      <a:endParaRPr/>
                    </a:p>
                  </a:txBody>
                  <a:tcPr marT="0" marB="0" marR="21850" marL="21850">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34875">
                <a:tc vMerge="1"/>
                <a:tc vMerge="1"/>
                <a:tc>
                  <a:txBody>
                    <a:bodyPr/>
                    <a:lstStyle/>
                    <a:p>
                      <a:pPr indent="0" lvl="0" marL="0" marR="0" rtl="0" algn="l">
                        <a:lnSpc>
                          <a:spcPct val="100000"/>
                        </a:lnSpc>
                        <a:spcBef>
                          <a:spcPts val="0"/>
                        </a:spcBef>
                        <a:spcAft>
                          <a:spcPts val="0"/>
                        </a:spcAft>
                        <a:buNone/>
                      </a:pPr>
                      <a:r>
                        <a:rPr b="0" lang="es-ES" sz="1300" u="none" cap="none" strike="noStrike"/>
                        <a:t>Cierre proyecto </a:t>
                      </a:r>
                      <a:endParaRPr/>
                    </a:p>
                  </a:txBody>
                  <a:tcPr marT="0" marB="0" marR="21850" marL="21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s-ES" sz="1300" u="none" cap="none" strike="noStrike"/>
                        <a:t>Percy/Eduardo </a:t>
                      </a:r>
                      <a:endParaRPr/>
                    </a:p>
                  </a:txBody>
                  <a:tcPr marT="0" marB="0" marR="21850" marL="21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s-ES" sz="1300" u="none" cap="none" strike="noStrike"/>
                        <a:t>Finalizado</a:t>
                      </a:r>
                      <a:endParaRPr/>
                    </a:p>
                  </a:txBody>
                  <a:tcPr marT="0" marB="0" marR="21850" marL="21850">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graphicFrame>
        <p:nvGraphicFramePr>
          <p:cNvPr id="1522" name="Google Shape;1522;p42"/>
          <p:cNvGraphicFramePr/>
          <p:nvPr/>
        </p:nvGraphicFramePr>
        <p:xfrm>
          <a:off x="47351" y="2802613"/>
          <a:ext cx="3000000" cy="3000000"/>
        </p:xfrm>
        <a:graphic>
          <a:graphicData uri="http://schemas.openxmlformats.org/drawingml/2006/table">
            <a:tbl>
              <a:tblPr>
                <a:noFill/>
                <a:tableStyleId>{09A4A8AA-24DE-483B-A2CB-9BDBEC9F8954}</a:tableStyleId>
              </a:tblPr>
              <a:tblGrid>
                <a:gridCol w="418575"/>
                <a:gridCol w="262100"/>
                <a:gridCol w="547675"/>
                <a:gridCol w="70425"/>
                <a:gridCol w="262100"/>
                <a:gridCol w="42250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gridCol w="70425"/>
                <a:gridCol w="156475"/>
                <a:gridCol w="144750"/>
              </a:tblGrid>
              <a:tr h="201825">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b">
                    <a:lnL cap="flat" cmpd="sng" w="9525">
                      <a:solidFill>
                        <a:srgbClr val="A0099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A0099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2</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3</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4</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5</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6</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7</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8</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9</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10</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11</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12</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13</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14</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15</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16</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17</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18</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19</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Día 20</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gridSpan="2">
                  <a:txBody>
                    <a:bodyPr/>
                    <a:lstStyle/>
                    <a:p>
                      <a:pPr indent="0" lvl="0" marL="0" marR="0" rtl="0" algn="ctr">
                        <a:lnSpc>
                          <a:spcPct val="100000"/>
                        </a:lnSpc>
                        <a:spcBef>
                          <a:spcPts val="0"/>
                        </a:spcBef>
                        <a:spcAft>
                          <a:spcPts val="0"/>
                        </a:spcAft>
                        <a:buNone/>
                      </a:pPr>
                      <a:r>
                        <a:rPr b="1" lang="es-ES" sz="600" u="none" cap="none" strike="noStrike">
                          <a:solidFill>
                            <a:srgbClr val="FFFFFF"/>
                          </a:solidFill>
                        </a:rPr>
                        <a:t>Total</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hMerge="1"/>
              </a:tr>
              <a:tr h="605450">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Horas estimadas totales</a:t>
                      </a:r>
                      <a:endParaRPr/>
                    </a:p>
                  </a:txBody>
                  <a:tcPr marT="0" marB="0" marR="10225" marL="10225"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Cons.</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lnSpc>
                          <a:spcPct val="100000"/>
                        </a:lnSpc>
                        <a:spcBef>
                          <a:spcPts val="0"/>
                        </a:spcBef>
                        <a:spcAft>
                          <a:spcPts val="0"/>
                        </a:spcAft>
                        <a:buNone/>
                      </a:pPr>
                      <a:r>
                        <a:rPr b="1" lang="es-ES" sz="600" u="none" cap="none" strike="noStrike">
                          <a:solidFill>
                            <a:srgbClr val="FFFFFF"/>
                          </a:solidFill>
                        </a:rPr>
                        <a:t>Rest.</a:t>
                      </a:r>
                      <a:endParaRPr/>
                    </a:p>
                  </a:txBody>
                  <a:tcPr marT="0" marB="0" marR="10225" marL="1022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r>
              <a:tr h="201825">
                <a:tc>
                  <a:txBody>
                    <a:bodyPr/>
                    <a:lstStyle/>
                    <a:p>
                      <a:pPr indent="0" lvl="0" marL="0" marR="0" rtl="0" algn="l">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8CCE4"/>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8CCE4"/>
                    </a:solidFill>
                  </a:tcPr>
                </a:tc>
              </a:tr>
              <a:tr h="201825">
                <a:tc>
                  <a:txBody>
                    <a:bodyPr/>
                    <a:lstStyle/>
                    <a:p>
                      <a:pPr indent="0" lvl="0" marL="0" marR="0" rtl="0" algn="l">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8CCE4"/>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8CCE4"/>
                    </a:solidFill>
                  </a:tcPr>
                </a:tc>
              </a:tr>
              <a:tr h="201825">
                <a:tc>
                  <a:txBody>
                    <a:bodyPr/>
                    <a:lstStyle/>
                    <a:p>
                      <a:pPr indent="0" lvl="0" marL="0" marR="0" rtl="0" algn="l">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20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25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8CCE4"/>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8CCE4"/>
                    </a:solidFill>
                  </a:tcPr>
                </a:tc>
              </a:tr>
              <a:tr h="201825">
                <a:tc>
                  <a:txBody>
                    <a:bodyPr/>
                    <a:lstStyle/>
                    <a:p>
                      <a:pPr indent="0" lvl="0" marL="0" marR="0" rtl="0" algn="l">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8CCE4"/>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8CCE4"/>
                    </a:solidFill>
                  </a:tcPr>
                </a:tc>
              </a:tr>
              <a:tr h="201825">
                <a:tc>
                  <a:txBody>
                    <a:bodyPr/>
                    <a:lstStyle/>
                    <a:p>
                      <a:pPr indent="0" lvl="0" marL="0" marR="0" rtl="0" algn="l">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5</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600" u="none" cap="none" strike="noStrike"/>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3BC"/>
                    </a:solidFill>
                  </a:tcPr>
                </a:tc>
                <a:tc>
                  <a:txBody>
                    <a:bodyPr/>
                    <a:lstStyle/>
                    <a:p>
                      <a:pPr indent="0" lvl="0" marL="0" marR="0" rtl="0" algn="r">
                        <a:lnSpc>
                          <a:spcPct val="100000"/>
                        </a:lnSpc>
                        <a:spcBef>
                          <a:spcPts val="0"/>
                        </a:spcBef>
                        <a:spcAft>
                          <a:spcPts val="0"/>
                        </a:spcAft>
                        <a:buNone/>
                      </a:pPr>
                      <a:r>
                        <a:rPr b="1" lang="es-ES" sz="600" u="none" cap="none" strike="noStrike"/>
                        <a:t>10</a:t>
                      </a:r>
                      <a:endParaRPr/>
                    </a:p>
                  </a:txBody>
                  <a:tcPr marT="0" marB="0" marR="10225" marL="102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B8CCE4"/>
                    </a:solidFill>
                  </a:tcPr>
                </a:tc>
                <a:tc>
                  <a:txBody>
                    <a:bodyPr/>
                    <a:lstStyle/>
                    <a:p>
                      <a:pPr indent="0" lvl="0" marL="0" marR="0" rtl="0" algn="r">
                        <a:lnSpc>
                          <a:spcPct val="100000"/>
                        </a:lnSpc>
                        <a:spcBef>
                          <a:spcPts val="0"/>
                        </a:spcBef>
                        <a:spcAft>
                          <a:spcPts val="0"/>
                        </a:spcAft>
                        <a:buNone/>
                      </a:pPr>
                      <a:r>
                        <a:rPr b="1" lang="es-ES" sz="600" u="none" cap="none" strike="noStrike"/>
                        <a:t>0</a:t>
                      </a:r>
                      <a:endParaRPr/>
                    </a:p>
                  </a:txBody>
                  <a:tcPr marT="0" marB="0" marR="10225" marL="10225">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B8CCE4"/>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43"/>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8" name="Google Shape;1528;p43"/>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9" name="Google Shape;1529;p43"/>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0" name="Google Shape;1530;p43"/>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1" name="Google Shape;1531;p43"/>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2" name="Google Shape;1532;p43"/>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3" name="Google Shape;1533;p43"/>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4" name="Google Shape;1534;p43"/>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5" name="Google Shape;1535;p43"/>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6" name="Google Shape;1536;p43"/>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7" name="Google Shape;1537;p43"/>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8" name="Google Shape;1538;p43"/>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9" name="Google Shape;1539;p43"/>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0" name="Google Shape;1540;p43"/>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1" name="Google Shape;1541;p43"/>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2" name="Google Shape;1542;p43"/>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3" name="Google Shape;1543;p43"/>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4" name="Google Shape;1544;p43"/>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5" name="Google Shape;1545;p43"/>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6" name="Google Shape;1546;p43"/>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7" name="Google Shape;1547;p43"/>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8" name="Google Shape;1548;p43"/>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9" name="Google Shape;1549;p43"/>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0" name="Google Shape;1550;p43"/>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1" name="Google Shape;1551;p43"/>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2" name="Google Shape;1552;p43"/>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3" name="Google Shape;1553;p43"/>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4" name="Google Shape;1554;p43"/>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5" name="Google Shape;1555;p43"/>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6" name="Google Shape;1556;p43"/>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7" name="Google Shape;1557;p43"/>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8" name="Google Shape;1558;p43"/>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4 – BURNDOWN CHART</a:t>
            </a:r>
            <a:endParaRPr b="1" i="0" sz="2400" u="none" cap="none" strike="noStrike">
              <a:solidFill>
                <a:schemeClr val="accent5"/>
              </a:solidFill>
              <a:latin typeface="Calibri"/>
              <a:ea typeface="Calibri"/>
              <a:cs typeface="Calibri"/>
              <a:sym typeface="Calibri"/>
            </a:endParaRPr>
          </a:p>
        </p:txBody>
      </p:sp>
      <p:sp>
        <p:nvSpPr>
          <p:cNvPr id="1559" name="Google Shape;1559;p4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560" name="Google Shape;1560;p4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561" name="Google Shape;1561;p43"/>
          <p:cNvPicPr preferRelativeResize="0"/>
          <p:nvPr/>
        </p:nvPicPr>
        <p:blipFill rotWithShape="1">
          <a:blip r:embed="rId5">
            <a:alphaModFix/>
          </a:blip>
          <a:srcRect b="0" l="0" r="0" t="0"/>
          <a:stretch/>
        </p:blipFill>
        <p:spPr>
          <a:xfrm>
            <a:off x="1308404" y="782238"/>
            <a:ext cx="5969504" cy="3580629"/>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5" name="Shape 1565"/>
        <p:cNvGrpSpPr/>
        <p:nvPr/>
      </p:nvGrpSpPr>
      <p:grpSpPr>
        <a:xfrm>
          <a:off x="0" y="0"/>
          <a:ext cx="0" cy="0"/>
          <a:chOff x="0" y="0"/>
          <a:chExt cx="0" cy="0"/>
        </a:xfrm>
      </p:grpSpPr>
      <p:sp>
        <p:nvSpPr>
          <p:cNvPr id="1566" name="Google Shape;1566;p44"/>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7" name="Google Shape;1567;p44"/>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8" name="Google Shape;1568;p44"/>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9" name="Google Shape;1569;p44"/>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0" name="Google Shape;1570;p44"/>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1" name="Google Shape;1571;p44"/>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2" name="Google Shape;1572;p44"/>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3" name="Google Shape;1573;p44"/>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4" name="Google Shape;1574;p44"/>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5" name="Google Shape;1575;p44"/>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6" name="Google Shape;1576;p44"/>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7" name="Google Shape;1577;p44"/>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8" name="Google Shape;1578;p44"/>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9" name="Google Shape;1579;p44"/>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0" name="Google Shape;1580;p44"/>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1" name="Google Shape;1581;p44"/>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2" name="Google Shape;1582;p44"/>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3" name="Google Shape;1583;p44"/>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4" name="Google Shape;1584;p44"/>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5" name="Google Shape;1585;p44"/>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6" name="Google Shape;1586;p44"/>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7" name="Google Shape;1587;p44"/>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8" name="Google Shape;1588;p44"/>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9" name="Google Shape;1589;p44"/>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0" name="Google Shape;1590;p44"/>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1" name="Google Shape;1591;p44"/>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2" name="Google Shape;1592;p44"/>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3" name="Google Shape;1593;p44"/>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4" name="Google Shape;1594;p44"/>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5" name="Google Shape;1595;p44"/>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6" name="Google Shape;1596;p44"/>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7" name="Google Shape;1597;p44"/>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4 – IMPEDIMENT LOG</a:t>
            </a:r>
            <a:endParaRPr b="1" i="0" sz="2400" u="none" cap="none" strike="noStrike">
              <a:solidFill>
                <a:schemeClr val="accent5"/>
              </a:solidFill>
              <a:latin typeface="Calibri"/>
              <a:ea typeface="Calibri"/>
              <a:cs typeface="Calibri"/>
              <a:sym typeface="Calibri"/>
            </a:endParaRPr>
          </a:p>
        </p:txBody>
      </p:sp>
      <p:sp>
        <p:nvSpPr>
          <p:cNvPr id="1598" name="Google Shape;1598;p4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599" name="Google Shape;1599;p4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1600" name="Google Shape;1600;p44"/>
          <p:cNvGraphicFramePr/>
          <p:nvPr/>
        </p:nvGraphicFramePr>
        <p:xfrm>
          <a:off x="1065521" y="789269"/>
          <a:ext cx="3000000" cy="3000000"/>
        </p:xfrm>
        <a:graphic>
          <a:graphicData uri="http://schemas.openxmlformats.org/drawingml/2006/table">
            <a:tbl>
              <a:tblPr>
                <a:noFill/>
                <a:tableStyleId>{09A4A8AA-24DE-483B-A2CB-9BDBEC9F8954}</a:tableStyleId>
              </a:tblPr>
              <a:tblGrid>
                <a:gridCol w="938550"/>
                <a:gridCol w="1382025"/>
                <a:gridCol w="1325300"/>
                <a:gridCol w="845875"/>
                <a:gridCol w="581250"/>
                <a:gridCol w="1218350"/>
              </a:tblGrid>
              <a:tr h="2509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Fecha</a:t>
                      </a:r>
                      <a:endParaRPr/>
                    </a:p>
                  </a:txBody>
                  <a:tcPr marT="0" marB="0" marR="14475" marL="14475">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22850">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Tarea</a:t>
                      </a:r>
                      <a:endParaRPr/>
                    </a:p>
                  </a:txBody>
                  <a:tcPr marT="0" marB="0" marR="14475" marL="144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2850">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Impedimento</a:t>
                      </a:r>
                      <a:endParaRPr/>
                    </a:p>
                  </a:txBody>
                  <a:tcPr marT="0" marB="0" marR="14475" marL="144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2850">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Responsable</a:t>
                      </a:r>
                      <a:endParaRPr/>
                    </a:p>
                  </a:txBody>
                  <a:tcPr marT="0" marB="0" marR="14475" marL="144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2850">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Estado</a:t>
                      </a:r>
                      <a:endParaRPr/>
                    </a:p>
                  </a:txBody>
                  <a:tcPr marT="0" marB="0" marR="14475" marL="144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2850">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Acción</a:t>
                      </a:r>
                      <a:endParaRPr/>
                    </a:p>
                  </a:txBody>
                  <a:tcPr marT="0" marB="0" marR="14475" marL="14475">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22850">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r>
              <a:tr h="2316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18/08/2025</a:t>
                      </a:r>
                      <a:endParaRPr/>
                    </a:p>
                  </a:txBody>
                  <a:tcPr marT="0" marB="0" marR="14475" marL="14475" anchor="b">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0" lang="es-ES" sz="800" u="none" cap="none" strike="noStrike"/>
                        <a:t>Reunión con interesados</a:t>
                      </a:r>
                      <a:endParaRPr/>
                    </a:p>
                  </a:txBody>
                  <a:tcPr marT="0" marB="0" marR="14475" marL="144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Poca capacidad horaria para la junta</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Eduardo/Percy</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Resuelto</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Pedir permiso en el trabajo.</a:t>
                      </a:r>
                      <a:endParaRPr/>
                    </a:p>
                  </a:txBody>
                  <a:tcPr marT="0" marB="0" marR="14475" marL="14475" anchor="b">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316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25/8/2025</a:t>
                      </a:r>
                      <a:endParaRPr/>
                    </a:p>
                  </a:txBody>
                  <a:tcPr marT="0" marB="0" marR="14475" marL="14475" anchor="b">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0" lang="es-ES" sz="800" u="none" cap="none" strike="noStrike"/>
                        <a:t>Creación de entorno de trabajo</a:t>
                      </a:r>
                      <a:endParaRPr/>
                    </a:p>
                  </a:txBody>
                  <a:tcPr marT="0" marB="0" marR="14475" marL="144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Cámaras muy costosas</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Eduardo/Percy</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Resuelto</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Se encontró una cámara ip de un valor medio</a:t>
                      </a:r>
                      <a:endParaRPr/>
                    </a:p>
                  </a:txBody>
                  <a:tcPr marT="0" marB="0" marR="14475" marL="14475" anchor="b">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316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5/10/2025</a:t>
                      </a:r>
                      <a:endParaRPr/>
                    </a:p>
                  </a:txBody>
                  <a:tcPr marT="0" marB="0" marR="14475" marL="14475" anchor="b">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0" lang="es-ES" sz="800" u="none" cap="none" strike="noStrike"/>
                        <a:t>Completar Sprint Backlog</a:t>
                      </a:r>
                      <a:endParaRPr/>
                    </a:p>
                  </a:txBody>
                  <a:tcPr marT="0" marB="0" marR="14475" marL="144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Confusión en el conteo de hora</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Eduardo/Percy</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Resuelto</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Se realiza consulta al profesor del funcionamiento</a:t>
                      </a:r>
                      <a:endParaRPr/>
                    </a:p>
                  </a:txBody>
                  <a:tcPr marT="0" marB="0" marR="14475" marL="14475" anchor="b">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316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1/9/2025</a:t>
                      </a:r>
                      <a:endParaRPr/>
                    </a:p>
                  </a:txBody>
                  <a:tcPr marT="0" marB="0" marR="14475" marL="14475" anchor="b">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0" lang="es-ES" sz="800" u="none" cap="none" strike="noStrike"/>
                        <a:t>Generación de Trello</a:t>
                      </a:r>
                      <a:endParaRPr/>
                    </a:p>
                  </a:txBody>
                  <a:tcPr marT="0" marB="0" marR="14475" marL="144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Las tareas creadas no se guardaban</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Eduardo/Percy</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Resuelto</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Se actualizó el notebook</a:t>
                      </a:r>
                      <a:endParaRPr/>
                    </a:p>
                  </a:txBody>
                  <a:tcPr marT="0" marB="0" marR="14475" marL="14475" anchor="b">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316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3/9/2025</a:t>
                      </a:r>
                      <a:endParaRPr/>
                    </a:p>
                  </a:txBody>
                  <a:tcPr marT="0" marB="0" marR="14475" marL="14475" anchor="b">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0" lang="es-ES" sz="800" u="none" cap="none" strike="noStrike"/>
                        <a:t>Completar Acta de Sprint Retrospective</a:t>
                      </a:r>
                      <a:endParaRPr/>
                    </a:p>
                  </a:txBody>
                  <a:tcPr marT="0" marB="0" marR="14475" marL="144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No había una plantilla creada</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Eduardo/Percy</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Resuelto</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Se buscó en proyectos pasados</a:t>
                      </a:r>
                      <a:endParaRPr/>
                    </a:p>
                  </a:txBody>
                  <a:tcPr marT="0" marB="0" marR="14475" marL="14475" anchor="b">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316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7/10/2025</a:t>
                      </a:r>
                      <a:endParaRPr/>
                    </a:p>
                  </a:txBody>
                  <a:tcPr marT="0" marB="0" marR="14475" marL="14475" anchor="b">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0" lang="es-ES" sz="800" u="none" cap="none" strike="noStrike"/>
                        <a:t>Conexión de base de datos con la API</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Error de autorización</a:t>
                      </a:r>
                      <a:endParaRPr b="0" sz="800" u="none" cap="none" strike="noStrike"/>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Eduardo/Percy</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Resuelto</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Se estableció la autentication correcta</a:t>
                      </a:r>
                      <a:endParaRPr/>
                    </a:p>
                  </a:txBody>
                  <a:tcPr marT="0" marB="0" marR="14475" marL="14475" anchor="b">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316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15/10/2025</a:t>
                      </a:r>
                      <a:endParaRPr/>
                    </a:p>
                  </a:txBody>
                  <a:tcPr marT="0" marB="0" marR="14475" marL="14475" anchor="b">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0" lang="es-ES" sz="800" u="none" cap="none" strike="noStrike"/>
                        <a:t>Conexión de base de datos con la API</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Error en la conexion de tablas</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Eduardo/Percy</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Resuelto</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Creando tablas y relaciones</a:t>
                      </a:r>
                      <a:endParaRPr/>
                    </a:p>
                  </a:txBody>
                  <a:tcPr marT="0" marB="0" marR="14475" marL="14475" anchor="b">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316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22/10/2025</a:t>
                      </a:r>
                      <a:endParaRPr/>
                    </a:p>
                  </a:txBody>
                  <a:tcPr marT="0" marB="0" marR="14475" marL="14475" anchor="b">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0" lang="es-ES" sz="800" u="none" cap="none" strike="noStrike"/>
                        <a:t>Conexión de base de datos con la API</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Error de compilación en la API</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Eduardo/Percy</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Resuelto</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Reestructuración de API y métodos HTTPS</a:t>
                      </a:r>
                      <a:endParaRPr/>
                    </a:p>
                  </a:txBody>
                  <a:tcPr marT="0" marB="0" marR="14475" marL="14475" anchor="b">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316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29/10/2025</a:t>
                      </a:r>
                      <a:endParaRPr/>
                    </a:p>
                  </a:txBody>
                  <a:tcPr marT="0" marB="0" marR="14475" marL="14475" anchor="b">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0" lang="es-ES" sz="800" u="none" cap="none" strike="noStrike"/>
                        <a:t>Conexión de base de datos con la API</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Conexion de aplicación con la API</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Eduardo/Percy</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Resuelto</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Conexión de Usuario a la base de datos</a:t>
                      </a:r>
                      <a:endParaRPr/>
                    </a:p>
                  </a:txBody>
                  <a:tcPr marT="0" marB="0" marR="14475" marL="14475" anchor="b">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316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03/11/2025</a:t>
                      </a:r>
                      <a:endParaRPr/>
                    </a:p>
                  </a:txBody>
                  <a:tcPr marT="0" marB="0" marR="14475" marL="14475" anchor="b">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0" lang="es-ES" sz="800" u="none" cap="none" strike="noStrike"/>
                        <a:t>Conexión de base de datos con la API</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Conexion de aplicación con la API</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Eduardo/Percy</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Resuelto</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Conexión de Usuario a la base de datos</a:t>
                      </a:r>
                      <a:endParaRPr/>
                    </a:p>
                  </a:txBody>
                  <a:tcPr marT="0" marB="0" marR="14475" marL="14475" anchor="b">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316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08/11/2025</a:t>
                      </a:r>
                      <a:endParaRPr/>
                    </a:p>
                  </a:txBody>
                  <a:tcPr marT="0" marB="0" marR="14475" marL="14475" anchor="b">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0" lang="es-ES" sz="800" u="none" cap="none" strike="noStrike"/>
                        <a:t>Desarrollo aplicación</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El no pago de la licencia postgresql</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Eduardo/Percy</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Resuelto</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Realizar pago de licencia postgresql</a:t>
                      </a:r>
                      <a:endParaRPr/>
                    </a:p>
                  </a:txBody>
                  <a:tcPr marT="0" marB="0" marR="14475" marL="14475" anchor="b">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316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14/11/2025</a:t>
                      </a:r>
                      <a:endParaRPr/>
                    </a:p>
                  </a:txBody>
                  <a:tcPr marT="0" marB="0" marR="14475" marL="14475" anchor="b">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0" lang="es-ES" sz="800" u="none" cap="none" strike="noStrike"/>
                        <a:t>Desarrollo presentación</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DUOCUC es sede de votación</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Eduardo/Percy</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Resuelto</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Reunión online</a:t>
                      </a:r>
                      <a:endParaRPr/>
                    </a:p>
                  </a:txBody>
                  <a:tcPr marT="0" marB="0" marR="14475" marL="14475" anchor="b">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9DAF8"/>
                    </a:solidFill>
                  </a:tcPr>
                </a:tc>
              </a:tr>
              <a:tr h="231650">
                <a:tc>
                  <a:txBody>
                    <a:bodyPr/>
                    <a:lstStyle/>
                    <a:p>
                      <a:pPr indent="0" lvl="0" marL="0" marR="0" rtl="0" algn="ctr">
                        <a:lnSpc>
                          <a:spcPct val="100000"/>
                        </a:lnSpc>
                        <a:spcBef>
                          <a:spcPts val="0"/>
                        </a:spcBef>
                        <a:spcAft>
                          <a:spcPts val="0"/>
                        </a:spcAft>
                        <a:buNone/>
                      </a:pPr>
                      <a:r>
                        <a:rPr b="1" lang="es-ES" sz="1000" u="none" cap="none" strike="noStrike">
                          <a:solidFill>
                            <a:srgbClr val="FFFFFF"/>
                          </a:solidFill>
                        </a:rPr>
                        <a:t>24/11/2025</a:t>
                      </a:r>
                      <a:endParaRPr/>
                    </a:p>
                  </a:txBody>
                  <a:tcPr marT="0" marB="0" marR="14475" marL="14475" anchor="b">
                    <a:lnL cap="flat" cmpd="sng" w="22850">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2850">
                      <a:solidFill>
                        <a:srgbClr val="000000"/>
                      </a:solidFill>
                      <a:prstDash val="solid"/>
                      <a:round/>
                      <a:headEnd len="sm" w="sm" type="none"/>
                      <a:tailEnd len="sm" w="sm" type="none"/>
                    </a:lnB>
                    <a:solidFill>
                      <a:srgbClr val="3D85C6"/>
                    </a:solidFill>
                  </a:tcPr>
                </a:tc>
                <a:tc>
                  <a:txBody>
                    <a:bodyPr/>
                    <a:lstStyle/>
                    <a:p>
                      <a:pPr indent="0" lvl="0" marL="0" marR="0" rtl="0" algn="l">
                        <a:lnSpc>
                          <a:spcPct val="100000"/>
                        </a:lnSpc>
                        <a:spcBef>
                          <a:spcPts val="0"/>
                        </a:spcBef>
                        <a:spcAft>
                          <a:spcPts val="0"/>
                        </a:spcAft>
                        <a:buNone/>
                      </a:pPr>
                      <a:r>
                        <a:rPr b="0" lang="es-ES" sz="900" u="none" cap="none" strike="noStrike"/>
                        <a:t>Sprint 4</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2850">
                      <a:solidFill>
                        <a:srgbClr val="000000"/>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El tiempo para desarrollar las 4 tareas</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2850">
                      <a:solidFill>
                        <a:srgbClr val="000000"/>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Eduardo/Percy</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2850">
                      <a:solidFill>
                        <a:srgbClr val="000000"/>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Resuelto</a:t>
                      </a:r>
                      <a:endParaRPr/>
                    </a:p>
                  </a:txBody>
                  <a:tcPr marT="0" marB="0" marR="14475" marL="144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2850">
                      <a:solidFill>
                        <a:srgbClr val="000000"/>
                      </a:solidFill>
                      <a:prstDash val="solid"/>
                      <a:round/>
                      <a:headEnd len="sm" w="sm" type="none"/>
                      <a:tailEnd len="sm" w="sm" type="none"/>
                    </a:lnB>
                    <a:solidFill>
                      <a:srgbClr val="C9DAF8"/>
                    </a:solidFill>
                  </a:tcPr>
                </a:tc>
                <a:tc>
                  <a:txBody>
                    <a:bodyPr/>
                    <a:lstStyle/>
                    <a:p>
                      <a:pPr indent="0" lvl="0" marL="0" marR="0" rtl="0" algn="l">
                        <a:lnSpc>
                          <a:spcPct val="100000"/>
                        </a:lnSpc>
                        <a:spcBef>
                          <a:spcPts val="0"/>
                        </a:spcBef>
                        <a:spcAft>
                          <a:spcPts val="0"/>
                        </a:spcAft>
                        <a:buNone/>
                      </a:pPr>
                      <a:r>
                        <a:rPr b="0" lang="es-ES" sz="800" u="none" cap="none" strike="noStrike"/>
                        <a:t>Se organizan 2 tareas por semana </a:t>
                      </a:r>
                      <a:endParaRPr/>
                    </a:p>
                  </a:txBody>
                  <a:tcPr marT="0" marB="0" marR="14475" marL="14475" anchor="b">
                    <a:lnL cap="flat" cmpd="sng" w="9525">
                      <a:solidFill>
                        <a:srgbClr val="CCCCCC"/>
                      </a:solidFill>
                      <a:prstDash val="solid"/>
                      <a:round/>
                      <a:headEnd len="sm" w="sm" type="none"/>
                      <a:tailEnd len="sm" w="sm" type="none"/>
                    </a:lnL>
                    <a:lnR cap="flat" cmpd="sng" w="22850">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2850">
                      <a:solidFill>
                        <a:srgbClr val="000000"/>
                      </a:solidFill>
                      <a:prstDash val="solid"/>
                      <a:round/>
                      <a:headEnd len="sm" w="sm" type="none"/>
                      <a:tailEnd len="sm" w="sm" type="none"/>
                    </a:lnB>
                    <a:solidFill>
                      <a:srgbClr val="C9DAF8"/>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4" name="Shape 1604"/>
        <p:cNvGrpSpPr/>
        <p:nvPr/>
      </p:nvGrpSpPr>
      <p:grpSpPr>
        <a:xfrm>
          <a:off x="0" y="0"/>
          <a:ext cx="0" cy="0"/>
          <a:chOff x="0" y="0"/>
          <a:chExt cx="0" cy="0"/>
        </a:xfrm>
      </p:grpSpPr>
      <p:sp>
        <p:nvSpPr>
          <p:cNvPr id="1605" name="Google Shape;1605;p45"/>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6" name="Google Shape;1606;p45"/>
          <p:cNvSpPr/>
          <p:nvPr/>
        </p:nvSpPr>
        <p:spPr>
          <a:xfrm>
            <a:off x="54325" y="11747"/>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7" name="Google Shape;1607;p45"/>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8" name="Google Shape;1608;p45"/>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9" name="Google Shape;1609;p45"/>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0" name="Google Shape;1610;p45"/>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1" name="Google Shape;1611;p45"/>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2" name="Google Shape;1612;p45"/>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3" name="Google Shape;1613;p45"/>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4" name="Google Shape;1614;p45"/>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5" name="Google Shape;1615;p45"/>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6" name="Google Shape;1616;p45"/>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7" name="Google Shape;1617;p45"/>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8" name="Google Shape;1618;p45"/>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9" name="Google Shape;1619;p45"/>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0" name="Google Shape;1620;p45"/>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1" name="Google Shape;1621;p45"/>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2" name="Google Shape;1622;p45"/>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3" name="Google Shape;1623;p45"/>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4" name="Google Shape;1624;p45"/>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5" name="Google Shape;1625;p45"/>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6" name="Google Shape;1626;p45"/>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7" name="Google Shape;1627;p45"/>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8" name="Google Shape;1628;p45"/>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9" name="Google Shape;1629;p45"/>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0" name="Google Shape;1630;p45"/>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1" name="Google Shape;1631;p45"/>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2" name="Google Shape;1632;p45"/>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3" name="Google Shape;1633;p45"/>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4" name="Google Shape;1634;p45"/>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SPRINT 4 – EVIDENCIA PRUEBAS</a:t>
            </a:r>
            <a:endParaRPr b="1" i="0" sz="2400" u="none" cap="none" strike="noStrike">
              <a:solidFill>
                <a:schemeClr val="accent5"/>
              </a:solidFill>
              <a:latin typeface="Calibri"/>
              <a:ea typeface="Calibri"/>
              <a:cs typeface="Calibri"/>
              <a:sym typeface="Calibri"/>
            </a:endParaRPr>
          </a:p>
        </p:txBody>
      </p:sp>
      <p:sp>
        <p:nvSpPr>
          <p:cNvPr id="1635" name="Google Shape;1635;p45"/>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636" name="Google Shape;1636;p45"/>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637" name="Google Shape;1637;p45"/>
          <p:cNvPicPr preferRelativeResize="0"/>
          <p:nvPr/>
        </p:nvPicPr>
        <p:blipFill rotWithShape="1">
          <a:blip r:embed="rId5">
            <a:alphaModFix/>
          </a:blip>
          <a:srcRect b="0" l="0" r="0" t="0"/>
          <a:stretch/>
        </p:blipFill>
        <p:spPr>
          <a:xfrm>
            <a:off x="237069" y="666365"/>
            <a:ext cx="1639423" cy="3670007"/>
          </a:xfrm>
          <a:prstGeom prst="roundRect">
            <a:avLst>
              <a:gd fmla="val 4167" name="adj"/>
            </a:avLst>
          </a:prstGeom>
          <a:solidFill>
            <a:srgbClr val="FFFFFF"/>
          </a:solidFill>
          <a:ln cap="sq" cmpd="sng" w="76200">
            <a:solidFill>
              <a:srgbClr val="292929"/>
            </a:solidFill>
            <a:prstDash val="solid"/>
            <a:miter lim="800000"/>
            <a:headEnd len="sm" w="sm" type="none"/>
            <a:tailEnd len="sm" w="sm" type="none"/>
          </a:ln>
          <a:effectLst>
            <a:reflection blurRad="0" dir="5400000" dist="5000" endA="0" endPos="28000" kx="0" rotWithShape="0" algn="bl" stA="28000" stPos="0" sy="-100000" ky="0"/>
          </a:effectLst>
        </p:spPr>
      </p:pic>
      <p:pic>
        <p:nvPicPr>
          <p:cNvPr id="1638" name="Google Shape;1638;p45"/>
          <p:cNvPicPr preferRelativeResize="0"/>
          <p:nvPr/>
        </p:nvPicPr>
        <p:blipFill rotWithShape="1">
          <a:blip r:embed="rId6">
            <a:alphaModFix/>
          </a:blip>
          <a:srcRect b="0" l="0" r="0" t="0"/>
          <a:stretch/>
        </p:blipFill>
        <p:spPr>
          <a:xfrm>
            <a:off x="2400236" y="641676"/>
            <a:ext cx="1664271" cy="3699667"/>
          </a:xfrm>
          <a:prstGeom prst="roundRect">
            <a:avLst>
              <a:gd fmla="val 4167" name="adj"/>
            </a:avLst>
          </a:prstGeom>
          <a:solidFill>
            <a:srgbClr val="FFFFFF"/>
          </a:solidFill>
          <a:ln cap="sq" cmpd="sng" w="76200">
            <a:solidFill>
              <a:srgbClr val="292929"/>
            </a:solidFill>
            <a:prstDash val="solid"/>
            <a:miter lim="800000"/>
            <a:headEnd len="sm" w="sm" type="none"/>
            <a:tailEnd len="sm" w="sm" type="none"/>
          </a:ln>
          <a:effectLst>
            <a:reflection blurRad="0" dir="5400000" dist="5000" endA="0" endPos="28000" kx="0" rotWithShape="0" algn="bl" stA="28000" stPos="0" sy="-100000" ky="0"/>
          </a:effectLst>
        </p:spPr>
      </p:pic>
      <p:pic>
        <p:nvPicPr>
          <p:cNvPr id="1639" name="Google Shape;1639;p45"/>
          <p:cNvPicPr preferRelativeResize="0"/>
          <p:nvPr/>
        </p:nvPicPr>
        <p:blipFill rotWithShape="1">
          <a:blip r:embed="rId7">
            <a:alphaModFix/>
          </a:blip>
          <a:srcRect b="0" l="0" r="0" t="0"/>
          <a:stretch/>
        </p:blipFill>
        <p:spPr>
          <a:xfrm>
            <a:off x="4719401" y="630063"/>
            <a:ext cx="1653901" cy="3699666"/>
          </a:xfrm>
          <a:prstGeom prst="roundRect">
            <a:avLst>
              <a:gd fmla="val 4167" name="adj"/>
            </a:avLst>
          </a:prstGeom>
          <a:solidFill>
            <a:srgbClr val="FFFFFF"/>
          </a:solidFill>
          <a:ln cap="sq" cmpd="sng" w="76200">
            <a:solidFill>
              <a:srgbClr val="292929"/>
            </a:solidFill>
            <a:prstDash val="solid"/>
            <a:miter lim="800000"/>
            <a:headEnd len="sm" w="sm" type="none"/>
            <a:tailEnd len="sm" w="sm" type="none"/>
          </a:ln>
          <a:effectLst>
            <a:reflection blurRad="0" dir="5400000" dist="5000" endA="0" endPos="28000" kx="0" rotWithShape="0" algn="bl" stA="28000" stPos="0" sy="-100000" ky="0"/>
          </a:effectLst>
        </p:spPr>
      </p:pic>
      <p:pic>
        <p:nvPicPr>
          <p:cNvPr id="1640" name="Google Shape;1640;p45"/>
          <p:cNvPicPr preferRelativeResize="0"/>
          <p:nvPr/>
        </p:nvPicPr>
        <p:blipFill rotWithShape="1">
          <a:blip r:embed="rId8">
            <a:alphaModFix/>
          </a:blip>
          <a:srcRect b="0" l="0" r="0" t="0"/>
          <a:stretch/>
        </p:blipFill>
        <p:spPr>
          <a:xfrm>
            <a:off x="6952832" y="630062"/>
            <a:ext cx="1667424" cy="3703437"/>
          </a:xfrm>
          <a:prstGeom prst="roundRect">
            <a:avLst>
              <a:gd fmla="val 4167" name="adj"/>
            </a:avLst>
          </a:prstGeom>
          <a:solidFill>
            <a:srgbClr val="FFFFFF"/>
          </a:solidFill>
          <a:ln cap="sq" cmpd="sng" w="76200">
            <a:solidFill>
              <a:srgbClr val="292929"/>
            </a:solidFill>
            <a:prstDash val="solid"/>
            <a:miter lim="800000"/>
            <a:headEnd len="sm" w="sm" type="none"/>
            <a:tailEnd len="sm" w="sm" type="none"/>
          </a:ln>
          <a:effectLst>
            <a:reflection blurRad="0" dir="5400000" dist="5000" endA="0" endPos="28000" kx="0" rotWithShape="0" algn="bl" stA="28000" stPos="0" sy="-100000" ky="0"/>
          </a:effectLst>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4" name="Shape 1644"/>
        <p:cNvGrpSpPr/>
        <p:nvPr/>
      </p:nvGrpSpPr>
      <p:grpSpPr>
        <a:xfrm>
          <a:off x="0" y="0"/>
          <a:ext cx="0" cy="0"/>
          <a:chOff x="0" y="0"/>
          <a:chExt cx="0" cy="0"/>
        </a:xfrm>
      </p:grpSpPr>
      <p:sp>
        <p:nvSpPr>
          <p:cNvPr id="1645" name="Google Shape;1645;p33"/>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46" name="Google Shape;1646;p33"/>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47" name="Google Shape;1647;p33"/>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48" name="Google Shape;1648;p33"/>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49" name="Google Shape;1649;p33"/>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0" name="Google Shape;1650;p33"/>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1" name="Google Shape;1651;p33"/>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2" name="Google Shape;1652;p33"/>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3" name="Google Shape;1653;p33"/>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4" name="Google Shape;1654;p33"/>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5" name="Google Shape;1655;p33"/>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6" name="Google Shape;1656;p33"/>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7" name="Google Shape;1657;p33"/>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8" name="Google Shape;1658;p33"/>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9" name="Google Shape;1659;p33"/>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0" name="Google Shape;1660;p33"/>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1" name="Google Shape;1661;p33"/>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2" name="Google Shape;1662;p33"/>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3" name="Google Shape;1663;p33"/>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4" name="Google Shape;1664;p33"/>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5" name="Google Shape;1665;p33"/>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6" name="Google Shape;1666;p33"/>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7" name="Google Shape;1667;p33"/>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8" name="Google Shape;1668;p33"/>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9" name="Google Shape;1669;p33"/>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0" name="Google Shape;1670;p33"/>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1" name="Google Shape;1671;p33"/>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2" name="Google Shape;1672;p33"/>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3" name="Google Shape;1673;p33"/>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4" name="Google Shape;1674;p33"/>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5" name="Google Shape;1675;p33"/>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6" name="Google Shape;1676;p33"/>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DEMOSTRACIÓN</a:t>
            </a:r>
            <a:endParaRPr b="1" i="0" sz="2400" u="none" cap="none" strike="noStrike">
              <a:solidFill>
                <a:schemeClr val="accent5"/>
              </a:solidFill>
              <a:latin typeface="Calibri"/>
              <a:ea typeface="Calibri"/>
              <a:cs typeface="Calibri"/>
              <a:sym typeface="Calibri"/>
            </a:endParaRPr>
          </a:p>
        </p:txBody>
      </p:sp>
      <p:sp>
        <p:nvSpPr>
          <p:cNvPr id="1677" name="Google Shape;1677;p3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678" name="Google Shape;1678;p3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679" name="Google Shape;1679;p33"/>
          <p:cNvPicPr preferRelativeResize="0"/>
          <p:nvPr/>
        </p:nvPicPr>
        <p:blipFill rotWithShape="1">
          <a:blip r:embed="rId5">
            <a:alphaModFix/>
          </a:blip>
          <a:srcRect b="0" l="0" r="0" t="0"/>
          <a:stretch/>
        </p:blipFill>
        <p:spPr>
          <a:xfrm>
            <a:off x="2925500" y="527775"/>
            <a:ext cx="3953950" cy="3649800"/>
          </a:xfrm>
          <a:prstGeom prst="rect">
            <a:avLst/>
          </a:prstGeom>
          <a:noFill/>
          <a:ln>
            <a:noFill/>
          </a:ln>
        </p:spPr>
      </p:pic>
      <p:sp>
        <p:nvSpPr>
          <p:cNvPr id="1680" name="Google Shape;1680;p33"/>
          <p:cNvSpPr txBox="1"/>
          <p:nvPr/>
        </p:nvSpPr>
        <p:spPr>
          <a:xfrm>
            <a:off x="3130925" y="3573238"/>
            <a:ext cx="3351300" cy="41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s-ES" sz="1500" u="sng" cap="none" strike="noStrike">
                <a:solidFill>
                  <a:schemeClr val="hlink"/>
                </a:solidFill>
                <a:latin typeface="Arial"/>
                <a:ea typeface="Arial"/>
                <a:cs typeface="Arial"/>
                <a:sym typeface="Arial"/>
                <a:hlinkClick r:id="rId6"/>
              </a:rPr>
              <a:t>https://vision-api-wki3.onrender.com/</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4" name="Shape 1684"/>
        <p:cNvGrpSpPr/>
        <p:nvPr/>
      </p:nvGrpSpPr>
      <p:grpSpPr>
        <a:xfrm>
          <a:off x="0" y="0"/>
          <a:ext cx="0" cy="0"/>
          <a:chOff x="0" y="0"/>
          <a:chExt cx="0" cy="0"/>
        </a:xfrm>
      </p:grpSpPr>
      <p:sp>
        <p:nvSpPr>
          <p:cNvPr id="1685" name="Google Shape;1685;p34"/>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6" name="Google Shape;1686;p34"/>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7" name="Google Shape;1687;p34"/>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8" name="Google Shape;1688;p34"/>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9" name="Google Shape;1689;p34"/>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0" name="Google Shape;1690;p34"/>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1" name="Google Shape;1691;p34"/>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2" name="Google Shape;1692;p34"/>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3" name="Google Shape;1693;p34"/>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4" name="Google Shape;1694;p34"/>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5" name="Google Shape;1695;p34"/>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6" name="Google Shape;1696;p34"/>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7" name="Google Shape;1697;p34"/>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8" name="Google Shape;1698;p34"/>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9" name="Google Shape;1699;p34"/>
          <p:cNvSpPr/>
          <p:nvPr/>
        </p:nvSpPr>
        <p:spPr>
          <a:xfrm>
            <a:off x="1111412" y="2534146"/>
            <a:ext cx="2881735" cy="1848638"/>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0" i="0" lang="es-ES" sz="1200" u="none" cap="none" strike="noStrike">
                <a:solidFill>
                  <a:schemeClr val="dk1"/>
                </a:solidFill>
                <a:latin typeface="Arial"/>
                <a:ea typeface="Arial"/>
                <a:cs typeface="Arial"/>
                <a:sym typeface="Arial"/>
              </a:rPr>
              <a:t>“Considero que la solución propuesta es bastante innovadora, aprovechando las herramientas existentes. Ayudándonos a potenciar nuestras competencias como la integración de ia y gestión de proyectos mientras aceptamos el desafío de trabajar con un cliente real .”</a:t>
            </a:r>
            <a:endParaRPr b="0" i="0" sz="1200" u="none" cap="none" strike="noStrike">
              <a:solidFill>
                <a:schemeClr val="dk1"/>
              </a:solidFill>
              <a:latin typeface="Arial"/>
              <a:ea typeface="Arial"/>
              <a:cs typeface="Arial"/>
              <a:sym typeface="Arial"/>
            </a:endParaRPr>
          </a:p>
        </p:txBody>
      </p:sp>
      <p:sp>
        <p:nvSpPr>
          <p:cNvPr id="1700" name="Google Shape;1700;p34"/>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1" name="Google Shape;1701;p34"/>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2" name="Google Shape;1702;p34"/>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3" name="Google Shape;1703;p34"/>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4" name="Google Shape;1704;p34"/>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5" name="Google Shape;1705;p34"/>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6" name="Google Shape;1706;p34"/>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7" name="Google Shape;1707;p34"/>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8" name="Google Shape;1708;p34"/>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9" name="Google Shape;1709;p34"/>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0" name="Google Shape;1710;p34"/>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1" name="Google Shape;1711;p34"/>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2" name="Google Shape;1712;p34"/>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3" name="Google Shape;1713;p34"/>
          <p:cNvSpPr/>
          <p:nvPr/>
        </p:nvSpPr>
        <p:spPr>
          <a:xfrm>
            <a:off x="6879455" y="4166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4" name="Google Shape;1714;p34"/>
          <p:cNvSpPr/>
          <p:nvPr/>
        </p:nvSpPr>
        <p:spPr>
          <a:xfrm>
            <a:off x="226700" y="886893"/>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5" name="Google Shape;1715;p34"/>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6" name="Google Shape;1716;p34"/>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ES" sz="2400" u="none" cap="none" strike="noStrike">
                <a:solidFill>
                  <a:schemeClr val="accent5"/>
                </a:solidFill>
                <a:latin typeface="Calibri"/>
                <a:ea typeface="Calibri"/>
                <a:cs typeface="Calibri"/>
                <a:sym typeface="Calibri"/>
              </a:rPr>
              <a:t>CONCLUSIÓN</a:t>
            </a:r>
            <a:endParaRPr b="1" i="0" sz="2400" u="none" cap="none" strike="noStrike">
              <a:solidFill>
                <a:schemeClr val="accent5"/>
              </a:solidFill>
              <a:latin typeface="Calibri"/>
              <a:ea typeface="Calibri"/>
              <a:cs typeface="Calibri"/>
              <a:sym typeface="Calibri"/>
            </a:endParaRPr>
          </a:p>
        </p:txBody>
      </p:sp>
      <p:sp>
        <p:nvSpPr>
          <p:cNvPr id="1717" name="Google Shape;1717;p3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718" name="Google Shape;1718;p3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719" name="Google Shape;1719;p34" title="Diseño sin título-12.png"/>
          <p:cNvPicPr preferRelativeResize="0"/>
          <p:nvPr/>
        </p:nvPicPr>
        <p:blipFill rotWithShape="1">
          <a:blip r:embed="rId5">
            <a:alphaModFix/>
          </a:blip>
          <a:srcRect b="27357" l="18768" r="27606" t="18475"/>
          <a:stretch/>
        </p:blipFill>
        <p:spPr>
          <a:xfrm>
            <a:off x="5304029" y="499437"/>
            <a:ext cx="1594186" cy="1594649"/>
          </a:xfrm>
          <a:prstGeom prst="rect">
            <a:avLst/>
          </a:prstGeom>
          <a:noFill/>
          <a:ln>
            <a:noFill/>
          </a:ln>
        </p:spPr>
      </p:pic>
      <p:pic>
        <p:nvPicPr>
          <p:cNvPr id="1720" name="Google Shape;1720;p34" title="Diseño sin título-11.png"/>
          <p:cNvPicPr preferRelativeResize="0"/>
          <p:nvPr/>
        </p:nvPicPr>
        <p:blipFill rotWithShape="1">
          <a:blip r:embed="rId6">
            <a:alphaModFix/>
          </a:blip>
          <a:srcRect b="29551" l="18288" r="26608" t="16282"/>
          <a:stretch/>
        </p:blipFill>
        <p:spPr>
          <a:xfrm>
            <a:off x="2045882" y="570159"/>
            <a:ext cx="1552225" cy="1525750"/>
          </a:xfrm>
          <a:prstGeom prst="rect">
            <a:avLst/>
          </a:prstGeom>
          <a:noFill/>
          <a:ln>
            <a:noFill/>
          </a:ln>
        </p:spPr>
      </p:pic>
      <p:sp>
        <p:nvSpPr>
          <p:cNvPr id="1721" name="Google Shape;1721;p34"/>
          <p:cNvSpPr/>
          <p:nvPr/>
        </p:nvSpPr>
        <p:spPr>
          <a:xfrm>
            <a:off x="4513590" y="2538940"/>
            <a:ext cx="4068530" cy="23330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None/>
            </a:pPr>
            <a:r>
              <a:rPr b="0" i="0" lang="es-ES" sz="1200" u="none" cap="none" strike="noStrike">
                <a:solidFill>
                  <a:schemeClr val="dk1"/>
                </a:solidFill>
                <a:latin typeface="Arial"/>
                <a:ea typeface="Arial"/>
                <a:cs typeface="Arial"/>
                <a:sym typeface="Arial"/>
              </a:rPr>
              <a:t>El equipo logró cumplir de manera íntegra con los objetivos planteados para el proyecto Migratio, consolidando un prototipo funcional y estable. Se dejó completamente preparado el entorno tecnológico, incluyendo la gestión de itinerarios, la integración de datos y la optimización de la interfaz móvil, permitiendo una experiencia de usuario clara y fluida. En conjunto, los resultados obtenidos reflejan un cierre sólido del proyecto, demostrando la capacidad de Migratio para ofrecer una solución tecnológica eficaz frente al desafío del Overturismo.</a:t>
            </a:r>
            <a:endParaRPr b="0" i="0" sz="1200" u="none" cap="none" strike="noStrike">
              <a:solidFill>
                <a:schemeClr val="dk1"/>
              </a:solidFill>
              <a:latin typeface="Arial"/>
              <a:ea typeface="Arial"/>
              <a:cs typeface="Arial"/>
              <a:sym typeface="Arial"/>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just">
              <a:lnSpc>
                <a:spcPct val="115000"/>
              </a:lnSpc>
              <a:spcBef>
                <a:spcPts val="0"/>
              </a:spcBef>
              <a:spcAft>
                <a:spcPts val="0"/>
              </a:spcAft>
              <a:buClr>
                <a:srgbClr val="000000"/>
              </a:buClr>
              <a:buSzPts val="1100"/>
              <a:buFont typeface="Arial"/>
              <a:buNone/>
            </a:pPr>
            <a:r>
              <a:t/>
            </a:r>
            <a:endParaRPr b="0" i="0" sz="1200" u="none" cap="none" strike="noStrike">
              <a:solidFill>
                <a:schemeClr val="dk1"/>
              </a:solidFill>
              <a:latin typeface="Arial"/>
              <a:ea typeface="Arial"/>
              <a:cs typeface="Arial"/>
              <a:sym typeface="Arial"/>
            </a:endParaRPr>
          </a:p>
        </p:txBody>
      </p:sp>
      <p:sp>
        <p:nvSpPr>
          <p:cNvPr id="1722" name="Google Shape;1722;p34"/>
          <p:cNvSpPr txBox="1"/>
          <p:nvPr/>
        </p:nvSpPr>
        <p:spPr>
          <a:xfrm>
            <a:off x="1760455" y="2061172"/>
            <a:ext cx="19764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1" i="0" lang="es-ES" sz="1400" u="none" cap="none" strike="noStrike">
                <a:solidFill>
                  <a:srgbClr val="191919"/>
                </a:solidFill>
                <a:latin typeface="Catamaran"/>
                <a:ea typeface="Catamaran"/>
                <a:cs typeface="Catamaran"/>
                <a:sym typeface="Catamaran"/>
              </a:rPr>
              <a:t>Percy Santibañez</a:t>
            </a:r>
            <a:endParaRPr b="1" i="0" sz="1400" u="none" cap="none" strike="noStrike">
              <a:solidFill>
                <a:srgbClr val="191919"/>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2D3239"/>
              </a:solidFill>
              <a:latin typeface="Catamaran"/>
              <a:ea typeface="Catamaran"/>
              <a:cs typeface="Catamaran"/>
              <a:sym typeface="Catamaran"/>
            </a:endParaRPr>
          </a:p>
        </p:txBody>
      </p:sp>
      <p:sp>
        <p:nvSpPr>
          <p:cNvPr id="1723" name="Google Shape;1723;p34"/>
          <p:cNvSpPr txBox="1"/>
          <p:nvPr/>
        </p:nvSpPr>
        <p:spPr>
          <a:xfrm>
            <a:off x="5136651" y="2064760"/>
            <a:ext cx="19764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s-ES" sz="1400" u="none" cap="none" strike="noStrike">
                <a:solidFill>
                  <a:srgbClr val="2D3239"/>
                </a:solidFill>
                <a:latin typeface="Catamaran"/>
                <a:ea typeface="Catamaran"/>
                <a:cs typeface="Catamaran"/>
                <a:sym typeface="Catamaran"/>
              </a:rPr>
              <a:t>Eduardo Villegas</a:t>
            </a:r>
            <a:endParaRPr b="1" i="0" sz="1400" u="none" cap="none" strike="noStrike">
              <a:solidFill>
                <a:srgbClr val="2D3239"/>
              </a:solidFill>
              <a:latin typeface="Catamaran"/>
              <a:ea typeface="Catamaran"/>
              <a:cs typeface="Catamaran"/>
              <a:sym typeface="Catamar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pic>
        <p:nvPicPr>
          <p:cNvPr id="1728" name="Google Shape;1728;g394d6a005cf_2_11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Eduardo Villegas Rojas</dc:creator>
</cp:coreProperties>
</file>