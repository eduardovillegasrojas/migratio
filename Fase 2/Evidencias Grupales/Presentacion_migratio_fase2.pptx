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9144000" cy="5143500"/>
  <p:embeddedFontLst>
    <p:embeddedFont>
      <p:font typeface="Catamaran"/>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43" roundtripDataSignature="AMtx7mitTzFE/Y2lUsBR88IeaCh+U5+V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000AEF-3157-48F0-9CC0-4320655CD2A0}">
  <a:tblStyle styleId="{A2000AEF-3157-48F0-9CC0-4320655CD2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Catamaran-bold.fntdata"/><Relationship Id="rId41" Type="http://schemas.openxmlformats.org/officeDocument/2006/relationships/font" Target="fonts/Catamaran-regular.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2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3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94d6a005cf_2_114: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394d6a005cf_2_114: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7.jpg"/><Relationship Id="rId10" Type="http://schemas.openxmlformats.org/officeDocument/2006/relationships/image" Target="../media/image13.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jpg"/><Relationship Id="rId7" Type="http://schemas.openxmlformats.org/officeDocument/2006/relationships/image" Target="../media/image4.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9.png"/><Relationship Id="rId10" Type="http://schemas.openxmlformats.org/officeDocument/2006/relationships/image" Target="../media/image20.png"/><Relationship Id="rId9" Type="http://schemas.openxmlformats.org/officeDocument/2006/relationships/image" Target="../media/image27.png"/><Relationship Id="rId5" Type="http://schemas.openxmlformats.org/officeDocument/2006/relationships/image" Target="../media/image17.png"/><Relationship Id="rId6" Type="http://schemas.openxmlformats.org/officeDocument/2006/relationships/image" Target="../media/image25.png"/><Relationship Id="rId7" Type="http://schemas.openxmlformats.org/officeDocument/2006/relationships/image" Target="../media/image5.png"/><Relationship Id="rId8"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23.jp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22.jpg"/><Relationship Id="rId6"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4.jpg"/><Relationship Id="rId5" Type="http://schemas.openxmlformats.org/officeDocument/2006/relationships/image" Target="../media/image9.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9.png"/><Relationship Id="rId9" Type="http://schemas.openxmlformats.org/officeDocument/2006/relationships/image" Target="../media/image19.jpg"/><Relationship Id="rId5" Type="http://schemas.openxmlformats.org/officeDocument/2006/relationships/image" Target="../media/image18.jpg"/><Relationship Id="rId6" Type="http://schemas.openxmlformats.org/officeDocument/2006/relationships/image" Target="../media/image32.jpg"/><Relationship Id="rId7" Type="http://schemas.openxmlformats.org/officeDocument/2006/relationships/image" Target="../media/image28.jp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2.png"/><Relationship Id="rId6"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4.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6.png"/><Relationship Id="rId6"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jp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5.png"/><Relationship Id="rId6"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jp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jp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8.png"/><Relationship Id="rId6" Type="http://schemas.openxmlformats.org/officeDocument/2006/relationships/image" Target="../media/image47.png"/><Relationship Id="rId7"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49.png"/><Relationship Id="rId6" Type="http://schemas.openxmlformats.org/officeDocument/2006/relationships/hyperlink" Target="https://vision-api-wki3.onrender.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jp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1"/>
          <p:cNvSpPr/>
          <p:nvPr/>
        </p:nvSpPr>
        <p:spPr>
          <a:xfrm>
            <a:off x="9136925" y="0"/>
            <a:ext cx="7074" cy="5143499"/>
          </a:xfrm>
          <a:custGeom>
            <a:rect b="b" l="l" r="r" t="t"/>
            <a:pathLst>
              <a:path extrusionOk="0" h="5143499" w="7074">
                <a:moveTo>
                  <a:pt x="7074" y="0"/>
                </a:moveTo>
                <a:lnTo>
                  <a:pt x="0" y="0"/>
                </a:lnTo>
                <a:lnTo>
                  <a:pt x="0" y="5143499"/>
                </a:lnTo>
                <a:lnTo>
                  <a:pt x="7074" y="5143499"/>
                </a:lnTo>
                <a:lnTo>
                  <a:pt x="70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0" y="0"/>
            <a:ext cx="3954763" cy="5143499"/>
          </a:xfrm>
          <a:custGeom>
            <a:rect b="b" l="l" r="r" t="t"/>
            <a:pathLst>
              <a:path extrusionOk="0" h="5143499" w="3954763">
                <a:moveTo>
                  <a:pt x="3954763" y="0"/>
                </a:moveTo>
                <a:lnTo>
                  <a:pt x="3954763" y="5143499"/>
                </a:lnTo>
                <a:lnTo>
                  <a:pt x="0" y="5143499"/>
                </a:lnTo>
                <a:lnTo>
                  <a:pt x="0" y="0"/>
                </a:lnTo>
                <a:lnTo>
                  <a:pt x="3954763"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0" y="0"/>
            <a:ext cx="3954763" cy="5143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5360375" y="932300"/>
            <a:ext cx="2509352" cy="2697200"/>
          </a:xfrm>
          <a:custGeom>
            <a:rect b="b" l="l" r="r" t="t"/>
            <a:pathLst>
              <a:path extrusionOk="0" h="2697200" w="2509352">
                <a:moveTo>
                  <a:pt x="0" y="0"/>
                </a:moveTo>
                <a:lnTo>
                  <a:pt x="2509352" y="0"/>
                </a:lnTo>
                <a:lnTo>
                  <a:pt x="2509352" y="2697200"/>
                </a:lnTo>
                <a:lnTo>
                  <a:pt x="0" y="2697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5360375" y="932300"/>
            <a:ext cx="2509352" cy="28174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4854350" y="3629500"/>
            <a:ext cx="3521400" cy="380700"/>
          </a:xfrm>
          <a:custGeom>
            <a:rect b="b" l="l" r="r" t="t"/>
            <a:pathLst>
              <a:path extrusionOk="0" h="380700" w="3521400">
                <a:moveTo>
                  <a:pt x="0" y="0"/>
                </a:moveTo>
                <a:lnTo>
                  <a:pt x="3521400" y="0"/>
                </a:lnTo>
                <a:lnTo>
                  <a:pt x="3521400" y="380700"/>
                </a:lnTo>
                <a:lnTo>
                  <a:pt x="0" y="38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5782238" y="4521503"/>
            <a:ext cx="479188" cy="472785"/>
          </a:xfrm>
          <a:custGeom>
            <a:rect b="b" l="l" r="r" t="t"/>
            <a:pathLst>
              <a:path extrusionOk="0" h="472785" w="479188">
                <a:moveTo>
                  <a:pt x="0" y="0"/>
                </a:moveTo>
                <a:lnTo>
                  <a:pt x="479188" y="0"/>
                </a:lnTo>
                <a:lnTo>
                  <a:pt x="479188" y="472785"/>
                </a:lnTo>
                <a:lnTo>
                  <a:pt x="0" y="47278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5782238" y="4521503"/>
            <a:ext cx="479188" cy="47278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338800" y="4566982"/>
            <a:ext cx="1194107" cy="293875"/>
          </a:xfrm>
          <a:custGeom>
            <a:rect b="b" l="l" r="r" t="t"/>
            <a:pathLst>
              <a:path extrusionOk="0" h="293875" w="1194107">
                <a:moveTo>
                  <a:pt x="0" y="0"/>
                </a:moveTo>
                <a:lnTo>
                  <a:pt x="1194107" y="0"/>
                </a:lnTo>
                <a:lnTo>
                  <a:pt x="1194107" y="293875"/>
                </a:lnTo>
                <a:lnTo>
                  <a:pt x="0" y="2938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1"/>
          <p:cNvSpPr/>
          <p:nvPr/>
        </p:nvSpPr>
        <p:spPr>
          <a:xfrm>
            <a:off x="6338800" y="4566982"/>
            <a:ext cx="1194107" cy="29387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p:nvPr/>
        </p:nvSpPr>
        <p:spPr>
          <a:xfrm>
            <a:off x="0" y="4754725"/>
            <a:ext cx="871325" cy="70800"/>
          </a:xfrm>
          <a:custGeom>
            <a:rect b="b" l="l" r="r" t="t"/>
            <a:pathLst>
              <a:path extrusionOk="0" h="70800" w="871325">
                <a:moveTo>
                  <a:pt x="871325" y="0"/>
                </a:moveTo>
                <a:lnTo>
                  <a:pt x="871325" y="70800"/>
                </a:lnTo>
                <a:lnTo>
                  <a:pt x="0" y="70800"/>
                </a:lnTo>
                <a:lnTo>
                  <a:pt x="0" y="0"/>
                </a:lnTo>
                <a:lnTo>
                  <a:pt x="8713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1"/>
          <p:cNvSpPr/>
          <p:nvPr/>
        </p:nvSpPr>
        <p:spPr>
          <a:xfrm>
            <a:off x="922775" y="4492900"/>
            <a:ext cx="2090001" cy="594450"/>
          </a:xfrm>
          <a:custGeom>
            <a:rect b="b" l="l" r="r" t="t"/>
            <a:pathLst>
              <a:path extrusionOk="0" h="594450" w="2090001">
                <a:moveTo>
                  <a:pt x="0" y="0"/>
                </a:moveTo>
                <a:lnTo>
                  <a:pt x="2090001" y="0"/>
                </a:lnTo>
                <a:lnTo>
                  <a:pt x="2090001" y="594450"/>
                </a:lnTo>
                <a:lnTo>
                  <a:pt x="0" y="59445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1"/>
          <p:cNvSpPr/>
          <p:nvPr/>
        </p:nvSpPr>
        <p:spPr>
          <a:xfrm>
            <a:off x="922775" y="4492900"/>
            <a:ext cx="5048311" cy="59445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1"/>
          <p:cNvSpPr/>
          <p:nvPr/>
        </p:nvSpPr>
        <p:spPr>
          <a:xfrm>
            <a:off x="3064225" y="4754700"/>
            <a:ext cx="932400" cy="70800"/>
          </a:xfrm>
          <a:custGeom>
            <a:rect b="b" l="l" r="r" t="t"/>
            <a:pathLst>
              <a:path extrusionOk="0" h="70800" w="932400">
                <a:moveTo>
                  <a:pt x="0" y="0"/>
                </a:moveTo>
                <a:lnTo>
                  <a:pt x="932400" y="0"/>
                </a:lnTo>
                <a:lnTo>
                  <a:pt x="932400" y="70800"/>
                </a:lnTo>
                <a:lnTo>
                  <a:pt x="0" y="7080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3954763" y="0"/>
            <a:ext cx="5182162" cy="5143499"/>
          </a:xfrm>
          <a:custGeom>
            <a:rect b="b" l="l" r="r" t="t"/>
            <a:pathLst>
              <a:path extrusionOk="0" h="5143499" w="5182162">
                <a:moveTo>
                  <a:pt x="5182162" y="0"/>
                </a:moveTo>
                <a:lnTo>
                  <a:pt x="0" y="0"/>
                </a:lnTo>
                <a:lnTo>
                  <a:pt x="0" y="5143499"/>
                </a:lnTo>
                <a:lnTo>
                  <a:pt x="5182162" y="5143499"/>
                </a:lnTo>
                <a:lnTo>
                  <a:pt x="518216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7" name="Google Shape;27;p1"/>
          <p:cNvPicPr preferRelativeResize="0"/>
          <p:nvPr/>
        </p:nvPicPr>
        <p:blipFill rotWithShape="1">
          <a:blip r:embed="rId9">
            <a:alphaModFix/>
          </a:blip>
          <a:srcRect b="0" l="0" r="0" t="0"/>
          <a:stretch/>
        </p:blipFill>
        <p:spPr>
          <a:xfrm>
            <a:off x="4765569" y="907808"/>
            <a:ext cx="3600953" cy="3343742"/>
          </a:xfrm>
          <a:prstGeom prst="rect">
            <a:avLst/>
          </a:prstGeom>
          <a:noFill/>
          <a:ln>
            <a:noFill/>
          </a:ln>
        </p:spPr>
      </p:pic>
      <p:pic>
        <p:nvPicPr>
          <p:cNvPr id="28" name="Google Shape;28;p1"/>
          <p:cNvPicPr preferRelativeResize="0"/>
          <p:nvPr/>
        </p:nvPicPr>
        <p:blipFill>
          <a:blip r:embed="rId10">
            <a:alphaModFix/>
          </a:blip>
          <a:stretch>
            <a:fillRect/>
          </a:stretch>
        </p:blipFill>
        <p:spPr>
          <a:xfrm>
            <a:off x="4600513" y="3839600"/>
            <a:ext cx="3914775" cy="146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txBox="1"/>
          <p:nvPr/>
        </p:nvSpPr>
        <p:spPr>
          <a:xfrm>
            <a:off x="911331" y="1071980"/>
            <a:ext cx="1429255" cy="1437795"/>
          </a:xfrm>
          <a:prstGeom prst="rect">
            <a:avLst/>
          </a:prstGeom>
          <a:noFill/>
          <a:ln>
            <a:noFill/>
          </a:ln>
        </p:spPr>
        <p:txBody>
          <a:bodyPr anchorCtr="0" anchor="t" bIns="0" lIns="0" spcFirstLastPara="1" rIns="0" wrap="square" tIns="5900">
            <a:noAutofit/>
          </a:bodyPr>
          <a:lstStyle/>
          <a:p>
            <a:pPr indent="0" lvl="0" marL="0" marR="0" rtl="0" algn="l">
              <a:lnSpc>
                <a:spcPct val="97894"/>
              </a:lnSpc>
              <a:spcBef>
                <a:spcPts val="0"/>
              </a:spcBef>
              <a:spcAft>
                <a:spcPts val="0"/>
              </a:spcAft>
              <a:buNone/>
            </a:pPr>
            <a:r>
              <a:rPr lang="es-ES" sz="950">
                <a:solidFill>
                  <a:srgbClr val="1F1F1F"/>
                </a:solidFill>
                <a:latin typeface="Times New Roman"/>
                <a:ea typeface="Times New Roman"/>
                <a:cs typeface="Times New Roman"/>
                <a:sym typeface="Times New Roman"/>
              </a:rPr>
              <a:t>canales:</a:t>
            </a:r>
            <a:endParaRPr sz="950">
              <a:solidFill>
                <a:schemeClr val="dk1"/>
              </a:solidFill>
              <a:latin typeface="Times New Roman"/>
              <a:ea typeface="Times New Roman"/>
              <a:cs typeface="Times New Roman"/>
              <a:sym typeface="Times New Roman"/>
            </a:endParaRPr>
          </a:p>
        </p:txBody>
      </p:sp>
      <p:sp>
        <p:nvSpPr>
          <p:cNvPr id="34" name="Google Shape;34;p2"/>
          <p:cNvSpPr txBox="1"/>
          <p:nvPr/>
        </p:nvSpPr>
        <p:spPr>
          <a:xfrm>
            <a:off x="6286662" y="1042963"/>
            <a:ext cx="2303401" cy="159476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340714" marR="0" rtl="0" algn="l">
              <a:lnSpc>
                <a:spcPct val="95825"/>
              </a:lnSpc>
              <a:spcBef>
                <a:spcPts val="10444"/>
              </a:spcBef>
              <a:spcAft>
                <a:spcPts val="0"/>
              </a:spcAft>
              <a:buNone/>
            </a:pPr>
            <a:r>
              <a:rPr b="1" lang="es-ES" sz="950">
                <a:solidFill>
                  <a:srgbClr val="1F1F1F"/>
                </a:solidFill>
                <a:latin typeface="Times New Roman"/>
                <a:ea typeface="Times New Roman"/>
                <a:cs typeface="Times New Roman"/>
                <a:sym typeface="Times New Roman"/>
              </a:rPr>
              <a:t>Aprovechar las agencias de</a:t>
            </a:r>
            <a:endParaRPr sz="950">
              <a:solidFill>
                <a:schemeClr val="dk1"/>
              </a:solidFill>
              <a:latin typeface="Times New Roman"/>
              <a:ea typeface="Times New Roman"/>
              <a:cs typeface="Times New Roman"/>
              <a:sym typeface="Times New Roman"/>
            </a:endParaRPr>
          </a:p>
        </p:txBody>
      </p:sp>
      <p:sp>
        <p:nvSpPr>
          <p:cNvPr id="35" name="Google Shape;35;p2"/>
          <p:cNvSpPr txBox="1"/>
          <p:nvPr/>
        </p:nvSpPr>
        <p:spPr>
          <a:xfrm>
            <a:off x="568900" y="2809635"/>
            <a:ext cx="2091300" cy="1512664"/>
          </a:xfrm>
          <a:prstGeom prst="rect">
            <a:avLst/>
          </a:prstGeom>
          <a:noFill/>
          <a:ln>
            <a:noFill/>
          </a:ln>
        </p:spPr>
        <p:txBody>
          <a:bodyPr anchorCtr="0" anchor="t" bIns="0" lIns="0" spcFirstLastPara="1" rIns="0" wrap="square" tIns="5900">
            <a:noAutofit/>
          </a:bodyPr>
          <a:lstStyle/>
          <a:p>
            <a:pPr indent="0" lvl="0" marL="549470" marR="0" rtl="0" algn="l">
              <a:lnSpc>
                <a:spcPct val="97894"/>
              </a:lnSpc>
              <a:spcBef>
                <a:spcPts val="0"/>
              </a:spcBef>
              <a:spcAft>
                <a:spcPts val="0"/>
              </a:spcAft>
              <a:buNone/>
            </a:pPr>
            <a:r>
              <a:rPr b="1" lang="es-ES" sz="950">
                <a:solidFill>
                  <a:srgbClr val="1F1F1F"/>
                </a:solidFill>
                <a:latin typeface="Times New Roman"/>
                <a:ea typeface="Times New Roman"/>
                <a:cs typeface="Times New Roman"/>
                <a:sym typeface="Times New Roman"/>
              </a:rPr>
              <a:t>objetivo especíﬁcos</a:t>
            </a:r>
            <a:endParaRPr sz="950">
              <a:solidFill>
                <a:schemeClr val="dk1"/>
              </a:solidFill>
              <a:latin typeface="Times New Roman"/>
              <a:ea typeface="Times New Roman"/>
              <a:cs typeface="Times New Roman"/>
              <a:sym typeface="Times New Roman"/>
            </a:endParaRPr>
          </a:p>
        </p:txBody>
      </p:sp>
      <p:sp>
        <p:nvSpPr>
          <p:cNvPr id="36" name="Google Shape;36;p2"/>
          <p:cNvSpPr txBox="1"/>
          <p:nvPr/>
        </p:nvSpPr>
        <p:spPr>
          <a:xfrm>
            <a:off x="4002850" y="3051250"/>
            <a:ext cx="1225675" cy="1225700"/>
          </a:xfrm>
          <a:prstGeom prst="rect">
            <a:avLst/>
          </a:prstGeom>
          <a:noFill/>
          <a:ln>
            <a:noFill/>
          </a:ln>
        </p:spPr>
        <p:txBody>
          <a:bodyPr anchorCtr="0" anchor="t" bIns="0" lIns="0" spcFirstLastPara="1" rIns="0" wrap="square" tIns="27300">
            <a:noAutofit/>
          </a:bodyPr>
          <a:lstStyle/>
          <a:p>
            <a:pPr indent="0" lvl="0" marL="286114" marR="0" rtl="0" algn="l">
              <a:lnSpc>
                <a:spcPct val="95825"/>
              </a:lnSpc>
              <a:spcBef>
                <a:spcPts val="0"/>
              </a:spcBef>
              <a:spcAft>
                <a:spcPts val="0"/>
              </a:spcAft>
              <a:buNone/>
            </a:pPr>
            <a:r>
              <a:rPr b="1" lang="es-ES" sz="950">
                <a:solidFill>
                  <a:srgbClr val="1F1F1F"/>
                </a:solidFill>
                <a:latin typeface="Times New Roman"/>
                <a:ea typeface="Times New Roman"/>
                <a:cs typeface="Times New Roman"/>
                <a:sym typeface="Times New Roman"/>
              </a:rPr>
              <a:t>servicio.</a:t>
            </a:r>
            <a:endParaRPr sz="950">
              <a:solidFill>
                <a:schemeClr val="dk1"/>
              </a:solidFill>
              <a:latin typeface="Times New Roman"/>
              <a:ea typeface="Times New Roman"/>
              <a:cs typeface="Times New Roman"/>
              <a:sym typeface="Times New Roman"/>
            </a:endParaRPr>
          </a:p>
        </p:txBody>
      </p:sp>
      <p:sp>
        <p:nvSpPr>
          <p:cNvPr id="37" name="Google Shape;37;p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p:nvPr/>
        </p:nvSpPr>
        <p:spPr>
          <a:xfrm>
            <a:off x="43687" y="10189"/>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108776" y="79325"/>
            <a:ext cx="3177775" cy="725425"/>
          </a:xfrm>
          <a:custGeom>
            <a:rect b="b" l="l" r="r" t="t"/>
            <a:pathLst>
              <a:path extrusionOk="0" h="725425" w="3177775">
                <a:moveTo>
                  <a:pt x="0" y="0"/>
                </a:moveTo>
                <a:lnTo>
                  <a:pt x="3177775" y="0"/>
                </a:lnTo>
                <a:lnTo>
                  <a:pt x="3177775"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2"/>
          <p:cNvSpPr/>
          <p:nvPr/>
        </p:nvSpPr>
        <p:spPr>
          <a:xfrm>
            <a:off x="5288102" y="4803200"/>
            <a:ext cx="3372423" cy="0"/>
          </a:xfrm>
          <a:custGeom>
            <a:rect b="b" l="l" r="r" t="t"/>
            <a:pathLst>
              <a:path extrusionOk="0" h="120000" w="3372423">
                <a:moveTo>
                  <a:pt x="0" y="0"/>
                </a:moveTo>
                <a:lnTo>
                  <a:pt x="3372423"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2"/>
          <p:cNvSpPr/>
          <p:nvPr/>
        </p:nvSpPr>
        <p:spPr>
          <a:xfrm>
            <a:off x="2810800" y="4803200"/>
            <a:ext cx="1045102" cy="0"/>
          </a:xfrm>
          <a:custGeom>
            <a:rect b="b" l="l" r="r" t="t"/>
            <a:pathLst>
              <a:path extrusionOk="0" h="120000" w="1045102">
                <a:moveTo>
                  <a:pt x="0" y="0"/>
                </a:moveTo>
                <a:lnTo>
                  <a:pt x="1045102"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2"/>
          <p:cNvSpPr/>
          <p:nvPr/>
        </p:nvSpPr>
        <p:spPr>
          <a:xfrm>
            <a:off x="5288102" y="4803200"/>
            <a:ext cx="3377185" cy="0"/>
          </a:xfrm>
          <a:custGeom>
            <a:rect b="b" l="l" r="r" t="t"/>
            <a:pathLst>
              <a:path extrusionOk="0" h="120000" w="3377185">
                <a:moveTo>
                  <a:pt x="0" y="0"/>
                </a:moveTo>
                <a:lnTo>
                  <a:pt x="337718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2810800" y="4803200"/>
            <a:ext cx="1045102" cy="0"/>
          </a:xfrm>
          <a:custGeom>
            <a:rect b="b" l="l" r="r" t="t"/>
            <a:pathLst>
              <a:path extrusionOk="0" h="120000" w="1045102">
                <a:moveTo>
                  <a:pt x="0" y="0"/>
                </a:moveTo>
                <a:lnTo>
                  <a:pt x="1045102"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2"/>
          <p:cNvSpPr/>
          <p:nvPr/>
        </p:nvSpPr>
        <p:spPr>
          <a:xfrm>
            <a:off x="613450" y="2410450"/>
            <a:ext cx="2197500" cy="623400"/>
          </a:xfrm>
          <a:custGeom>
            <a:rect b="b" l="l" r="r" t="t"/>
            <a:pathLst>
              <a:path extrusionOk="0" h="623400" w="2197500">
                <a:moveTo>
                  <a:pt x="0" y="0"/>
                </a:moveTo>
                <a:lnTo>
                  <a:pt x="2197500" y="0"/>
                </a:lnTo>
                <a:lnTo>
                  <a:pt x="21975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2"/>
          <p:cNvSpPr/>
          <p:nvPr/>
        </p:nvSpPr>
        <p:spPr>
          <a:xfrm>
            <a:off x="507400" y="4211800"/>
            <a:ext cx="2303400" cy="623400"/>
          </a:xfrm>
          <a:custGeom>
            <a:rect b="b" l="l" r="r" t="t"/>
            <a:pathLst>
              <a:path extrusionOk="0" h="623400" w="2303400">
                <a:moveTo>
                  <a:pt x="0" y="0"/>
                </a:moveTo>
                <a:lnTo>
                  <a:pt x="2303400" y="0"/>
                </a:lnTo>
                <a:lnTo>
                  <a:pt x="23034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2"/>
          <p:cNvSpPr/>
          <p:nvPr/>
        </p:nvSpPr>
        <p:spPr>
          <a:xfrm>
            <a:off x="6358402" y="2608563"/>
            <a:ext cx="2158500" cy="422287"/>
          </a:xfrm>
          <a:custGeom>
            <a:rect b="b" l="l" r="r" t="t"/>
            <a:pathLst>
              <a:path extrusionOk="0" h="422287" w="2158500">
                <a:moveTo>
                  <a:pt x="0" y="0"/>
                </a:moveTo>
                <a:lnTo>
                  <a:pt x="2158500" y="0"/>
                </a:lnTo>
                <a:lnTo>
                  <a:pt x="2158500" y="422287"/>
                </a:lnTo>
                <a:lnTo>
                  <a:pt x="0" y="422287"/>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2"/>
          <p:cNvSpPr/>
          <p:nvPr/>
        </p:nvSpPr>
        <p:spPr>
          <a:xfrm>
            <a:off x="3473350" y="2410450"/>
            <a:ext cx="2128500" cy="915900"/>
          </a:xfrm>
          <a:custGeom>
            <a:rect b="b" l="l" r="r" t="t"/>
            <a:pathLst>
              <a:path extrusionOk="0" h="915900" w="2128500">
                <a:moveTo>
                  <a:pt x="0" y="0"/>
                </a:moveTo>
                <a:lnTo>
                  <a:pt x="2128500" y="0"/>
                </a:lnTo>
                <a:lnTo>
                  <a:pt x="2128500" y="915900"/>
                </a:lnTo>
                <a:lnTo>
                  <a:pt x="0" y="915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3855902" y="4211800"/>
            <a:ext cx="1432200" cy="623400"/>
          </a:xfrm>
          <a:custGeom>
            <a:rect b="b" l="l" r="r" t="t"/>
            <a:pathLst>
              <a:path extrusionOk="0" h="623400" w="1432200">
                <a:moveTo>
                  <a:pt x="0" y="0"/>
                </a:moveTo>
                <a:lnTo>
                  <a:pt x="1432200" y="0"/>
                </a:lnTo>
                <a:lnTo>
                  <a:pt x="14322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2"/>
          <p:cNvSpPr/>
          <p:nvPr/>
        </p:nvSpPr>
        <p:spPr>
          <a:xfrm>
            <a:off x="3795800" y="1120175"/>
            <a:ext cx="1471550" cy="1354500"/>
          </a:xfrm>
          <a:custGeom>
            <a:rect b="b" l="l" r="r" t="t"/>
            <a:pathLst>
              <a:path extrusionOk="0" h="1354500" w="1471550">
                <a:moveTo>
                  <a:pt x="0" y="0"/>
                </a:moveTo>
                <a:lnTo>
                  <a:pt x="1471550" y="0"/>
                </a:lnTo>
                <a:lnTo>
                  <a:pt x="1471550" y="1354500"/>
                </a:lnTo>
                <a:lnTo>
                  <a:pt x="0" y="13545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2"/>
          <p:cNvSpPr/>
          <p:nvPr/>
        </p:nvSpPr>
        <p:spPr>
          <a:xfrm>
            <a:off x="968090" y="1040285"/>
            <a:ext cx="1362974" cy="1424726"/>
          </a:xfrm>
          <a:custGeom>
            <a:rect b="b" l="l" r="r" t="t"/>
            <a:pathLst>
              <a:path extrusionOk="0" h="1424726" w="1362974">
                <a:moveTo>
                  <a:pt x="0" y="0"/>
                </a:moveTo>
                <a:lnTo>
                  <a:pt x="1362974" y="0"/>
                </a:lnTo>
                <a:lnTo>
                  <a:pt x="1362974" y="1424726"/>
                </a:lnTo>
                <a:lnTo>
                  <a:pt x="0" y="1424726"/>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2"/>
          <p:cNvSpPr/>
          <p:nvPr/>
        </p:nvSpPr>
        <p:spPr>
          <a:xfrm>
            <a:off x="6387991" y="974614"/>
            <a:ext cx="2303401" cy="1565600"/>
          </a:xfrm>
          <a:custGeom>
            <a:rect b="b" l="l" r="r" t="t"/>
            <a:pathLst>
              <a:path extrusionOk="0" h="1565600" w="2303401">
                <a:moveTo>
                  <a:pt x="0" y="0"/>
                </a:moveTo>
                <a:lnTo>
                  <a:pt x="2303401" y="0"/>
                </a:lnTo>
                <a:lnTo>
                  <a:pt x="2303401" y="1565600"/>
                </a:lnTo>
                <a:lnTo>
                  <a:pt x="0" y="1565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2"/>
          <p:cNvSpPr/>
          <p:nvPr/>
        </p:nvSpPr>
        <p:spPr>
          <a:xfrm>
            <a:off x="568900" y="2849036"/>
            <a:ext cx="2091300" cy="1473264"/>
          </a:xfrm>
          <a:custGeom>
            <a:rect b="b" l="l" r="r" t="t"/>
            <a:pathLst>
              <a:path extrusionOk="0" h="1473264" w="2091300">
                <a:moveTo>
                  <a:pt x="0" y="0"/>
                </a:moveTo>
                <a:lnTo>
                  <a:pt x="2091300" y="0"/>
                </a:lnTo>
                <a:lnTo>
                  <a:pt x="2091300" y="1473264"/>
                </a:lnTo>
                <a:lnTo>
                  <a:pt x="0" y="1473264"/>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2"/>
          <p:cNvSpPr/>
          <p:nvPr/>
        </p:nvSpPr>
        <p:spPr>
          <a:xfrm>
            <a:off x="4002850" y="3051250"/>
            <a:ext cx="1225675" cy="1225700"/>
          </a:xfrm>
          <a:custGeom>
            <a:rect b="b" l="l" r="r" t="t"/>
            <a:pathLst>
              <a:path extrusionOk="0" h="1225700" w="1225675">
                <a:moveTo>
                  <a:pt x="0" y="0"/>
                </a:moveTo>
                <a:lnTo>
                  <a:pt x="1225675" y="0"/>
                </a:lnTo>
                <a:lnTo>
                  <a:pt x="1225675" y="1225700"/>
                </a:lnTo>
                <a:lnTo>
                  <a:pt x="0" y="1225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p:nvPr/>
        </p:nvSpPr>
        <p:spPr>
          <a:xfrm>
            <a:off x="6701875" y="3179953"/>
            <a:ext cx="1471550" cy="1089660"/>
          </a:xfrm>
          <a:custGeom>
            <a:rect b="b" l="l" r="r" t="t"/>
            <a:pathLst>
              <a:path extrusionOk="0" h="1089660" w="1471550">
                <a:moveTo>
                  <a:pt x="0" y="0"/>
                </a:moveTo>
                <a:lnTo>
                  <a:pt x="1471550" y="0"/>
                </a:lnTo>
                <a:lnTo>
                  <a:pt x="1471550" y="1089660"/>
                </a:lnTo>
                <a:lnTo>
                  <a:pt x="0" y="108966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2"/>
          <p:cNvSpPr/>
          <p:nvPr/>
        </p:nvSpPr>
        <p:spPr>
          <a:xfrm>
            <a:off x="8683025" y="4635500"/>
            <a:ext cx="335700" cy="335400"/>
          </a:xfrm>
          <a:custGeom>
            <a:rect b="b" l="l" r="r" t="t"/>
            <a:pathLst>
              <a:path extrusionOk="0" h="335400" w="335700">
                <a:moveTo>
                  <a:pt x="0" y="0"/>
                </a:moveTo>
                <a:lnTo>
                  <a:pt x="335700" y="0"/>
                </a:lnTo>
                <a:lnTo>
                  <a:pt x="3357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2"/>
          <p:cNvSpPr txBox="1"/>
          <p:nvPr/>
        </p:nvSpPr>
        <p:spPr>
          <a:xfrm>
            <a:off x="226700" y="133350"/>
            <a:ext cx="518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TABLA DE CONTENIDO</a:t>
            </a:r>
            <a:endParaRPr b="1" sz="2400">
              <a:solidFill>
                <a:schemeClr val="accent5"/>
              </a:solidFill>
              <a:latin typeface="Calibri"/>
              <a:ea typeface="Calibri"/>
              <a:cs typeface="Calibri"/>
              <a:sym typeface="Calibri"/>
            </a:endParaRPr>
          </a:p>
        </p:txBody>
      </p:sp>
      <p:sp>
        <p:nvSpPr>
          <p:cNvPr id="59" name="Google Shape;59;p2"/>
          <p:cNvSpPr/>
          <p:nvPr/>
        </p:nvSpPr>
        <p:spPr>
          <a:xfrm>
            <a:off x="3220023" y="156188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9</a:t>
            </a:r>
            <a:endParaRPr b="1" sz="1800">
              <a:solidFill>
                <a:schemeClr val="lt1"/>
              </a:solidFill>
              <a:latin typeface="Calibri"/>
              <a:ea typeface="Calibri"/>
              <a:cs typeface="Calibri"/>
              <a:sym typeface="Calibri"/>
            </a:endParaRPr>
          </a:p>
        </p:txBody>
      </p:sp>
      <p:sp>
        <p:nvSpPr>
          <p:cNvPr id="60" name="Google Shape;60;p2"/>
          <p:cNvSpPr/>
          <p:nvPr/>
        </p:nvSpPr>
        <p:spPr>
          <a:xfrm>
            <a:off x="3220023" y="19639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2"/>
          <p:cNvSpPr/>
          <p:nvPr/>
        </p:nvSpPr>
        <p:spPr>
          <a:xfrm>
            <a:off x="3215898" y="2341304"/>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2"/>
          <p:cNvSpPr/>
          <p:nvPr/>
        </p:nvSpPr>
        <p:spPr>
          <a:xfrm>
            <a:off x="262157" y="820543"/>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1</a:t>
            </a:r>
            <a:endParaRPr b="1" sz="1800">
              <a:solidFill>
                <a:schemeClr val="lt1"/>
              </a:solidFill>
              <a:latin typeface="Calibri"/>
              <a:ea typeface="Calibri"/>
              <a:cs typeface="Calibri"/>
              <a:sym typeface="Calibri"/>
            </a:endParaRPr>
          </a:p>
        </p:txBody>
      </p:sp>
      <p:sp>
        <p:nvSpPr>
          <p:cNvPr id="63" name="Google Shape;63;p2"/>
          <p:cNvSpPr/>
          <p:nvPr/>
        </p:nvSpPr>
        <p:spPr>
          <a:xfrm>
            <a:off x="262157" y="11870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2</a:t>
            </a:r>
            <a:endParaRPr b="1" sz="1800">
              <a:solidFill>
                <a:schemeClr val="lt1"/>
              </a:solidFill>
              <a:latin typeface="Calibri"/>
              <a:ea typeface="Calibri"/>
              <a:cs typeface="Calibri"/>
              <a:sym typeface="Calibri"/>
            </a:endParaRPr>
          </a:p>
        </p:txBody>
      </p:sp>
      <p:sp>
        <p:nvSpPr>
          <p:cNvPr id="64" name="Google Shape;64;p2"/>
          <p:cNvSpPr/>
          <p:nvPr/>
        </p:nvSpPr>
        <p:spPr>
          <a:xfrm>
            <a:off x="267230" y="1555535"/>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3</a:t>
            </a:r>
            <a:endParaRPr b="1" sz="1800">
              <a:solidFill>
                <a:schemeClr val="lt1"/>
              </a:solidFill>
              <a:latin typeface="Calibri"/>
              <a:ea typeface="Calibri"/>
              <a:cs typeface="Calibri"/>
              <a:sym typeface="Calibri"/>
            </a:endParaRPr>
          </a:p>
        </p:txBody>
      </p:sp>
      <p:sp>
        <p:nvSpPr>
          <p:cNvPr id="65" name="Google Shape;65;p2"/>
          <p:cNvSpPr/>
          <p:nvPr/>
        </p:nvSpPr>
        <p:spPr>
          <a:xfrm>
            <a:off x="267293" y="19639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4</a:t>
            </a:r>
            <a:endParaRPr b="1" sz="1800">
              <a:solidFill>
                <a:schemeClr val="lt1"/>
              </a:solidFill>
              <a:latin typeface="Calibri"/>
              <a:ea typeface="Calibri"/>
              <a:cs typeface="Calibri"/>
              <a:sym typeface="Calibri"/>
            </a:endParaRPr>
          </a:p>
        </p:txBody>
      </p:sp>
      <p:sp>
        <p:nvSpPr>
          <p:cNvPr id="66" name="Google Shape;66;p2"/>
          <p:cNvSpPr/>
          <p:nvPr/>
        </p:nvSpPr>
        <p:spPr>
          <a:xfrm>
            <a:off x="3225685" y="274024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2"/>
          <p:cNvSpPr/>
          <p:nvPr/>
        </p:nvSpPr>
        <p:spPr>
          <a:xfrm>
            <a:off x="3220180" y="11870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8</a:t>
            </a:r>
            <a:endParaRPr b="1" sz="1800">
              <a:solidFill>
                <a:schemeClr val="lt1"/>
              </a:solidFill>
              <a:latin typeface="Calibri"/>
              <a:ea typeface="Calibri"/>
              <a:cs typeface="Calibri"/>
              <a:sym typeface="Calibri"/>
            </a:endParaRPr>
          </a:p>
        </p:txBody>
      </p:sp>
      <p:sp>
        <p:nvSpPr>
          <p:cNvPr id="68" name="Google Shape;68;p2"/>
          <p:cNvSpPr/>
          <p:nvPr/>
        </p:nvSpPr>
        <p:spPr>
          <a:xfrm>
            <a:off x="5803157" y="156640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 name="Google Shape;69;p2"/>
          <p:cNvSpPr/>
          <p:nvPr/>
        </p:nvSpPr>
        <p:spPr>
          <a:xfrm>
            <a:off x="5803157" y="118464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 name="Google Shape;70;p2"/>
          <p:cNvSpPr/>
          <p:nvPr/>
        </p:nvSpPr>
        <p:spPr>
          <a:xfrm>
            <a:off x="5808199" y="195932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 name="Google Shape;71;p2"/>
          <p:cNvSpPr/>
          <p:nvPr/>
        </p:nvSpPr>
        <p:spPr>
          <a:xfrm>
            <a:off x="5803157" y="820222"/>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 name="Google Shape;72;p2"/>
          <p:cNvSpPr/>
          <p:nvPr/>
        </p:nvSpPr>
        <p:spPr>
          <a:xfrm>
            <a:off x="5797355" y="233861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 name="Google Shape;73;p2"/>
          <p:cNvSpPr/>
          <p:nvPr/>
        </p:nvSpPr>
        <p:spPr>
          <a:xfrm>
            <a:off x="5808199" y="274852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2"/>
          <p:cNvSpPr/>
          <p:nvPr/>
        </p:nvSpPr>
        <p:spPr>
          <a:xfrm>
            <a:off x="3220023" y="82689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7</a:t>
            </a:r>
            <a:endParaRPr b="1" sz="1800">
              <a:solidFill>
                <a:schemeClr val="lt1"/>
              </a:solidFill>
              <a:latin typeface="Calibri"/>
              <a:ea typeface="Calibri"/>
              <a:cs typeface="Calibri"/>
              <a:sym typeface="Calibri"/>
            </a:endParaRPr>
          </a:p>
        </p:txBody>
      </p:sp>
      <p:sp>
        <p:nvSpPr>
          <p:cNvPr id="75" name="Google Shape;75;p2"/>
          <p:cNvSpPr/>
          <p:nvPr/>
        </p:nvSpPr>
        <p:spPr>
          <a:xfrm>
            <a:off x="261724" y="2341304"/>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5</a:t>
            </a:r>
            <a:endParaRPr b="1" sz="1800">
              <a:solidFill>
                <a:schemeClr val="lt1"/>
              </a:solidFill>
              <a:latin typeface="Calibri"/>
              <a:ea typeface="Calibri"/>
              <a:cs typeface="Calibri"/>
              <a:sym typeface="Calibri"/>
            </a:endParaRPr>
          </a:p>
        </p:txBody>
      </p:sp>
      <p:sp>
        <p:nvSpPr>
          <p:cNvPr id="76" name="Google Shape;76;p2"/>
          <p:cNvSpPr/>
          <p:nvPr/>
        </p:nvSpPr>
        <p:spPr>
          <a:xfrm>
            <a:off x="261724" y="2742850"/>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6</a:t>
            </a:r>
            <a:endParaRPr b="1" sz="1800">
              <a:solidFill>
                <a:schemeClr val="lt1"/>
              </a:solidFill>
              <a:latin typeface="Calibri"/>
              <a:ea typeface="Calibri"/>
              <a:cs typeface="Calibri"/>
              <a:sym typeface="Calibri"/>
            </a:endParaRPr>
          </a:p>
        </p:txBody>
      </p:sp>
      <p:sp>
        <p:nvSpPr>
          <p:cNvPr id="77" name="Google Shape;77;p2"/>
          <p:cNvSpPr txBox="1"/>
          <p:nvPr/>
        </p:nvSpPr>
        <p:spPr>
          <a:xfrm>
            <a:off x="597890" y="750843"/>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Contexto</a:t>
            </a:r>
            <a:endParaRPr b="1" sz="1800">
              <a:solidFill>
                <a:schemeClr val="dk1"/>
              </a:solidFill>
              <a:latin typeface="Calibri"/>
              <a:ea typeface="Calibri"/>
              <a:cs typeface="Calibri"/>
              <a:sym typeface="Calibri"/>
            </a:endParaRPr>
          </a:p>
        </p:txBody>
      </p:sp>
      <p:sp>
        <p:nvSpPr>
          <p:cNvPr id="78" name="Google Shape;78;p2"/>
          <p:cNvSpPr txBox="1"/>
          <p:nvPr/>
        </p:nvSpPr>
        <p:spPr>
          <a:xfrm>
            <a:off x="577795" y="2302324"/>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Solución</a:t>
            </a:r>
            <a:endParaRPr b="1" sz="1800">
              <a:solidFill>
                <a:schemeClr val="dk1"/>
              </a:solidFill>
              <a:latin typeface="Calibri"/>
              <a:ea typeface="Calibri"/>
              <a:cs typeface="Calibri"/>
              <a:sym typeface="Calibri"/>
            </a:endParaRPr>
          </a:p>
        </p:txBody>
      </p:sp>
      <p:sp>
        <p:nvSpPr>
          <p:cNvPr id="79" name="Google Shape;79;p2"/>
          <p:cNvSpPr txBox="1"/>
          <p:nvPr/>
        </p:nvSpPr>
        <p:spPr>
          <a:xfrm>
            <a:off x="572492" y="1137032"/>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Problema</a:t>
            </a:r>
            <a:endParaRPr b="1" sz="1800">
              <a:solidFill>
                <a:schemeClr val="dk1"/>
              </a:solidFill>
              <a:latin typeface="Calibri"/>
              <a:ea typeface="Calibri"/>
              <a:cs typeface="Calibri"/>
              <a:sym typeface="Calibri"/>
            </a:endParaRPr>
          </a:p>
        </p:txBody>
      </p:sp>
      <p:sp>
        <p:nvSpPr>
          <p:cNvPr id="80" name="Google Shape;80;p2"/>
          <p:cNvSpPr txBox="1"/>
          <p:nvPr/>
        </p:nvSpPr>
        <p:spPr>
          <a:xfrm>
            <a:off x="563166" y="1510102"/>
            <a:ext cx="2298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Diagrama de proceso</a:t>
            </a:r>
            <a:endParaRPr b="1" sz="1800">
              <a:solidFill>
                <a:schemeClr val="dk1"/>
              </a:solidFill>
              <a:latin typeface="Calibri"/>
              <a:ea typeface="Calibri"/>
              <a:cs typeface="Calibri"/>
              <a:sym typeface="Calibri"/>
            </a:endParaRPr>
          </a:p>
        </p:txBody>
      </p:sp>
      <p:sp>
        <p:nvSpPr>
          <p:cNvPr id="81" name="Google Shape;81;p2"/>
          <p:cNvSpPr txBox="1"/>
          <p:nvPr/>
        </p:nvSpPr>
        <p:spPr>
          <a:xfrm>
            <a:off x="568641" y="1915288"/>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Necesidad</a:t>
            </a:r>
            <a:endParaRPr b="1" sz="1800">
              <a:solidFill>
                <a:schemeClr val="dk1"/>
              </a:solidFill>
              <a:latin typeface="Calibri"/>
              <a:ea typeface="Calibri"/>
              <a:cs typeface="Calibri"/>
              <a:sym typeface="Calibri"/>
            </a:endParaRPr>
          </a:p>
        </p:txBody>
      </p:sp>
      <p:sp>
        <p:nvSpPr>
          <p:cNvPr id="82" name="Google Shape;82;p2"/>
          <p:cNvSpPr txBox="1"/>
          <p:nvPr/>
        </p:nvSpPr>
        <p:spPr>
          <a:xfrm>
            <a:off x="3498576" y="2324810"/>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Evidencias</a:t>
            </a:r>
            <a:endParaRPr b="1" sz="1800">
              <a:solidFill>
                <a:schemeClr val="dk1"/>
              </a:solidFill>
              <a:latin typeface="Calibri"/>
              <a:ea typeface="Calibri"/>
              <a:cs typeface="Calibri"/>
              <a:sym typeface="Calibri"/>
            </a:endParaRPr>
          </a:p>
        </p:txBody>
      </p:sp>
      <p:sp>
        <p:nvSpPr>
          <p:cNvPr id="83" name="Google Shape;83;p2"/>
          <p:cNvSpPr txBox="1"/>
          <p:nvPr/>
        </p:nvSpPr>
        <p:spPr>
          <a:xfrm>
            <a:off x="3510308" y="1931306"/>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Roles</a:t>
            </a:r>
            <a:endParaRPr b="1" sz="1800">
              <a:solidFill>
                <a:schemeClr val="dk1"/>
              </a:solidFill>
              <a:latin typeface="Calibri"/>
              <a:ea typeface="Calibri"/>
              <a:cs typeface="Calibri"/>
              <a:sym typeface="Calibri"/>
            </a:endParaRPr>
          </a:p>
        </p:txBody>
      </p:sp>
      <p:sp>
        <p:nvSpPr>
          <p:cNvPr id="84" name="Google Shape;84;p2"/>
          <p:cNvSpPr txBox="1"/>
          <p:nvPr/>
        </p:nvSpPr>
        <p:spPr>
          <a:xfrm>
            <a:off x="3503780" y="1525736"/>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Metodología</a:t>
            </a:r>
            <a:endParaRPr b="1" sz="1800">
              <a:solidFill>
                <a:schemeClr val="dk1"/>
              </a:solidFill>
              <a:latin typeface="Calibri"/>
              <a:ea typeface="Calibri"/>
              <a:cs typeface="Calibri"/>
              <a:sym typeface="Calibri"/>
            </a:endParaRPr>
          </a:p>
        </p:txBody>
      </p:sp>
      <p:sp>
        <p:nvSpPr>
          <p:cNvPr id="85" name="Google Shape;85;p2"/>
          <p:cNvSpPr txBox="1"/>
          <p:nvPr/>
        </p:nvSpPr>
        <p:spPr>
          <a:xfrm>
            <a:off x="3501415" y="1139987"/>
            <a:ext cx="20723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Modelo de datos</a:t>
            </a:r>
            <a:endParaRPr b="1" sz="1800">
              <a:solidFill>
                <a:schemeClr val="dk1"/>
              </a:solidFill>
              <a:latin typeface="Calibri"/>
              <a:ea typeface="Calibri"/>
              <a:cs typeface="Calibri"/>
              <a:sym typeface="Calibri"/>
            </a:endParaRPr>
          </a:p>
        </p:txBody>
      </p:sp>
      <p:sp>
        <p:nvSpPr>
          <p:cNvPr id="86" name="Google Shape;86;p2"/>
          <p:cNvSpPr txBox="1"/>
          <p:nvPr/>
        </p:nvSpPr>
        <p:spPr>
          <a:xfrm>
            <a:off x="3503780" y="767700"/>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Herramientas</a:t>
            </a:r>
            <a:endParaRPr b="1" sz="1800">
              <a:solidFill>
                <a:schemeClr val="dk1"/>
              </a:solidFill>
              <a:latin typeface="Calibri"/>
              <a:ea typeface="Calibri"/>
              <a:cs typeface="Calibri"/>
              <a:sym typeface="Calibri"/>
            </a:endParaRPr>
          </a:p>
        </p:txBody>
      </p:sp>
      <p:sp>
        <p:nvSpPr>
          <p:cNvPr id="87" name="Google Shape;87;p2"/>
          <p:cNvSpPr txBox="1"/>
          <p:nvPr/>
        </p:nvSpPr>
        <p:spPr>
          <a:xfrm>
            <a:off x="6091013" y="2704241"/>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Conclusiones</a:t>
            </a:r>
            <a:endParaRPr b="1" sz="1800">
              <a:solidFill>
                <a:schemeClr val="dk1"/>
              </a:solidFill>
              <a:latin typeface="Calibri"/>
              <a:ea typeface="Calibri"/>
              <a:cs typeface="Calibri"/>
              <a:sym typeface="Calibri"/>
            </a:endParaRPr>
          </a:p>
        </p:txBody>
      </p:sp>
      <p:sp>
        <p:nvSpPr>
          <p:cNvPr id="88" name="Google Shape;88;p2"/>
          <p:cNvSpPr txBox="1"/>
          <p:nvPr/>
        </p:nvSpPr>
        <p:spPr>
          <a:xfrm>
            <a:off x="6108594" y="1882380"/>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Sprints</a:t>
            </a:r>
            <a:endParaRPr b="1" sz="1800">
              <a:solidFill>
                <a:schemeClr val="dk1"/>
              </a:solidFill>
              <a:latin typeface="Calibri"/>
              <a:ea typeface="Calibri"/>
              <a:cs typeface="Calibri"/>
              <a:sym typeface="Calibri"/>
            </a:endParaRPr>
          </a:p>
        </p:txBody>
      </p:sp>
      <p:sp>
        <p:nvSpPr>
          <p:cNvPr id="89" name="Google Shape;89;p2"/>
          <p:cNvSpPr txBox="1"/>
          <p:nvPr/>
        </p:nvSpPr>
        <p:spPr>
          <a:xfrm>
            <a:off x="6058421" y="1503460"/>
            <a:ext cx="21307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Tablero Kanban</a:t>
            </a:r>
            <a:endParaRPr b="1" sz="1800">
              <a:solidFill>
                <a:schemeClr val="dk1"/>
              </a:solidFill>
              <a:latin typeface="Calibri"/>
              <a:ea typeface="Calibri"/>
              <a:cs typeface="Calibri"/>
              <a:sym typeface="Calibri"/>
            </a:endParaRPr>
          </a:p>
        </p:txBody>
      </p:sp>
      <p:sp>
        <p:nvSpPr>
          <p:cNvPr id="90" name="Google Shape;90;p2"/>
          <p:cNvSpPr txBox="1"/>
          <p:nvPr/>
        </p:nvSpPr>
        <p:spPr>
          <a:xfrm>
            <a:off x="6059784" y="1156494"/>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Carta Gantt</a:t>
            </a:r>
            <a:endParaRPr b="1" sz="1800">
              <a:solidFill>
                <a:schemeClr val="dk1"/>
              </a:solidFill>
              <a:latin typeface="Calibri"/>
              <a:ea typeface="Calibri"/>
              <a:cs typeface="Calibri"/>
              <a:sym typeface="Calibri"/>
            </a:endParaRPr>
          </a:p>
        </p:txBody>
      </p:sp>
      <p:sp>
        <p:nvSpPr>
          <p:cNvPr id="91" name="Google Shape;91;p2"/>
          <p:cNvSpPr txBox="1"/>
          <p:nvPr/>
        </p:nvSpPr>
        <p:spPr>
          <a:xfrm>
            <a:off x="6059784" y="782879"/>
            <a:ext cx="1854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Product backlog</a:t>
            </a:r>
            <a:endParaRPr b="1" sz="1800">
              <a:solidFill>
                <a:schemeClr val="dk1"/>
              </a:solidFill>
              <a:latin typeface="Calibri"/>
              <a:ea typeface="Calibri"/>
              <a:cs typeface="Calibri"/>
              <a:sym typeface="Calibri"/>
            </a:endParaRPr>
          </a:p>
        </p:txBody>
      </p:sp>
      <p:sp>
        <p:nvSpPr>
          <p:cNvPr id="92" name="Google Shape;92;p2"/>
          <p:cNvSpPr txBox="1"/>
          <p:nvPr/>
        </p:nvSpPr>
        <p:spPr>
          <a:xfrm>
            <a:off x="568640" y="2722553"/>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Arquitectura</a:t>
            </a:r>
            <a:endParaRPr b="1" sz="1800">
              <a:solidFill>
                <a:schemeClr val="dk1"/>
              </a:solidFill>
              <a:latin typeface="Calibri"/>
              <a:ea typeface="Calibri"/>
              <a:cs typeface="Calibri"/>
              <a:sym typeface="Calibri"/>
            </a:endParaRPr>
          </a:p>
        </p:txBody>
      </p:sp>
      <p:sp>
        <p:nvSpPr>
          <p:cNvPr id="93" name="Google Shape;93;p2"/>
          <p:cNvSpPr txBox="1"/>
          <p:nvPr/>
        </p:nvSpPr>
        <p:spPr>
          <a:xfrm>
            <a:off x="6096199" y="2280345"/>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Demostración</a:t>
            </a:r>
            <a:endParaRPr b="1" sz="1800">
              <a:solidFill>
                <a:schemeClr val="dk1"/>
              </a:solidFill>
              <a:latin typeface="Calibri"/>
              <a:ea typeface="Calibri"/>
              <a:cs typeface="Calibri"/>
              <a:sym typeface="Calibri"/>
            </a:endParaRPr>
          </a:p>
        </p:txBody>
      </p:sp>
      <p:sp>
        <p:nvSpPr>
          <p:cNvPr id="94" name="Google Shape;94;p2"/>
          <p:cNvSpPr txBox="1"/>
          <p:nvPr/>
        </p:nvSpPr>
        <p:spPr>
          <a:xfrm>
            <a:off x="3503780" y="2715649"/>
            <a:ext cx="16032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dk1"/>
                </a:solidFill>
                <a:latin typeface="Calibri"/>
                <a:ea typeface="Calibri"/>
                <a:cs typeface="Calibri"/>
                <a:sym typeface="Calibri"/>
              </a:rPr>
              <a:t>Épicas</a:t>
            </a:r>
            <a:endParaRPr b="1" sz="1800">
              <a:solidFill>
                <a:schemeClr val="dk1"/>
              </a:solidFill>
              <a:latin typeface="Calibri"/>
              <a:ea typeface="Calibri"/>
              <a:cs typeface="Calibri"/>
              <a:sym typeface="Calibri"/>
            </a:endParaRPr>
          </a:p>
        </p:txBody>
      </p:sp>
      <p:sp>
        <p:nvSpPr>
          <p:cNvPr id="95" name="Google Shape;95;p2"/>
          <p:cNvSpPr txBox="1"/>
          <p:nvPr/>
        </p:nvSpPr>
        <p:spPr>
          <a:xfrm>
            <a:off x="3168603" y="2699575"/>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12</a:t>
            </a:r>
            <a:endParaRPr b="1" sz="1800">
              <a:solidFill>
                <a:schemeClr val="lt1"/>
              </a:solidFill>
              <a:latin typeface="Calibri"/>
              <a:ea typeface="Calibri"/>
              <a:cs typeface="Calibri"/>
              <a:sym typeface="Calibri"/>
            </a:endParaRPr>
          </a:p>
        </p:txBody>
      </p:sp>
      <p:sp>
        <p:nvSpPr>
          <p:cNvPr id="96" name="Google Shape;96;p2"/>
          <p:cNvSpPr txBox="1"/>
          <p:nvPr/>
        </p:nvSpPr>
        <p:spPr>
          <a:xfrm>
            <a:off x="3147094" y="1933982"/>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10</a:t>
            </a:r>
            <a:endParaRPr b="1" sz="1800">
              <a:solidFill>
                <a:schemeClr val="lt1"/>
              </a:solidFill>
              <a:latin typeface="Calibri"/>
              <a:ea typeface="Calibri"/>
              <a:cs typeface="Calibri"/>
              <a:sym typeface="Calibri"/>
            </a:endParaRPr>
          </a:p>
        </p:txBody>
      </p:sp>
      <p:sp>
        <p:nvSpPr>
          <p:cNvPr id="97" name="Google Shape;97;p2"/>
          <p:cNvSpPr txBox="1"/>
          <p:nvPr/>
        </p:nvSpPr>
        <p:spPr>
          <a:xfrm>
            <a:off x="3159115" y="2308810"/>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11</a:t>
            </a:r>
            <a:endParaRPr b="1" sz="1800">
              <a:solidFill>
                <a:schemeClr val="lt1"/>
              </a:solidFill>
              <a:latin typeface="Calibri"/>
              <a:ea typeface="Calibri"/>
              <a:cs typeface="Calibri"/>
              <a:sym typeface="Calibri"/>
            </a:endParaRPr>
          </a:p>
        </p:txBody>
      </p:sp>
      <p:sp>
        <p:nvSpPr>
          <p:cNvPr id="98" name="Google Shape;98;p2"/>
          <p:cNvSpPr txBox="1"/>
          <p:nvPr/>
        </p:nvSpPr>
        <p:spPr>
          <a:xfrm>
            <a:off x="5743285" y="782555"/>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13</a:t>
            </a:r>
            <a:endParaRPr b="1" sz="1800">
              <a:solidFill>
                <a:schemeClr val="lt1"/>
              </a:solidFill>
              <a:latin typeface="Calibri"/>
              <a:ea typeface="Calibri"/>
              <a:cs typeface="Calibri"/>
              <a:sym typeface="Calibri"/>
            </a:endParaRPr>
          </a:p>
        </p:txBody>
      </p:sp>
      <p:sp>
        <p:nvSpPr>
          <p:cNvPr id="99" name="Google Shape;99;p2"/>
          <p:cNvSpPr txBox="1"/>
          <p:nvPr/>
        </p:nvSpPr>
        <p:spPr>
          <a:xfrm>
            <a:off x="5732925" y="1134308"/>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14</a:t>
            </a:r>
            <a:endParaRPr b="1" sz="1800">
              <a:solidFill>
                <a:schemeClr val="lt1"/>
              </a:solidFill>
              <a:latin typeface="Calibri"/>
              <a:ea typeface="Calibri"/>
              <a:cs typeface="Calibri"/>
              <a:sym typeface="Calibri"/>
            </a:endParaRPr>
          </a:p>
        </p:txBody>
      </p:sp>
      <p:sp>
        <p:nvSpPr>
          <p:cNvPr id="100" name="Google Shape;100;p2"/>
          <p:cNvSpPr txBox="1"/>
          <p:nvPr/>
        </p:nvSpPr>
        <p:spPr>
          <a:xfrm>
            <a:off x="5734616" y="1541861"/>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15</a:t>
            </a:r>
            <a:endParaRPr b="1" sz="1800">
              <a:solidFill>
                <a:schemeClr val="lt1"/>
              </a:solidFill>
              <a:latin typeface="Calibri"/>
              <a:ea typeface="Calibri"/>
              <a:cs typeface="Calibri"/>
              <a:sym typeface="Calibri"/>
            </a:endParaRPr>
          </a:p>
        </p:txBody>
      </p:sp>
      <p:sp>
        <p:nvSpPr>
          <p:cNvPr id="101" name="Google Shape;101;p2"/>
          <p:cNvSpPr txBox="1"/>
          <p:nvPr/>
        </p:nvSpPr>
        <p:spPr>
          <a:xfrm>
            <a:off x="5732186" y="2293199"/>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17</a:t>
            </a:r>
            <a:endParaRPr b="1" sz="1800">
              <a:solidFill>
                <a:schemeClr val="lt1"/>
              </a:solidFill>
              <a:latin typeface="Calibri"/>
              <a:ea typeface="Calibri"/>
              <a:cs typeface="Calibri"/>
              <a:sym typeface="Calibri"/>
            </a:endParaRPr>
          </a:p>
        </p:txBody>
      </p:sp>
      <p:sp>
        <p:nvSpPr>
          <p:cNvPr id="102" name="Google Shape;102;p2"/>
          <p:cNvSpPr txBox="1"/>
          <p:nvPr/>
        </p:nvSpPr>
        <p:spPr>
          <a:xfrm>
            <a:off x="5743285" y="1913680"/>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16</a:t>
            </a:r>
            <a:endParaRPr b="1" sz="1800">
              <a:solidFill>
                <a:schemeClr val="lt1"/>
              </a:solidFill>
              <a:latin typeface="Calibri"/>
              <a:ea typeface="Calibri"/>
              <a:cs typeface="Calibri"/>
              <a:sym typeface="Calibri"/>
            </a:endParaRPr>
          </a:p>
        </p:txBody>
      </p:sp>
      <p:sp>
        <p:nvSpPr>
          <p:cNvPr id="103" name="Google Shape;103;p2"/>
          <p:cNvSpPr txBox="1"/>
          <p:nvPr/>
        </p:nvSpPr>
        <p:spPr>
          <a:xfrm>
            <a:off x="5745246" y="2702103"/>
            <a:ext cx="4178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chemeClr val="lt1"/>
                </a:solidFill>
                <a:latin typeface="Calibri"/>
                <a:ea typeface="Calibri"/>
                <a:cs typeface="Calibri"/>
                <a:sym typeface="Calibri"/>
              </a:rPr>
              <a:t>18</a:t>
            </a:r>
            <a:endParaRPr b="1"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nvSpPr>
        <p:spPr>
          <a:xfrm>
            <a:off x="911331" y="1071980"/>
            <a:ext cx="1429255" cy="1437795"/>
          </a:xfrm>
          <a:prstGeom prst="rect">
            <a:avLst/>
          </a:prstGeom>
          <a:noFill/>
          <a:ln>
            <a:noFill/>
          </a:ln>
        </p:spPr>
        <p:txBody>
          <a:bodyPr anchorCtr="0" anchor="t" bIns="0" lIns="0" spcFirstLastPara="1" rIns="0" wrap="square" tIns="5900">
            <a:noAutofit/>
          </a:bodyPr>
          <a:lstStyle/>
          <a:p>
            <a:pPr indent="0" lvl="0" marL="0" marR="0" rtl="0" algn="l">
              <a:lnSpc>
                <a:spcPct val="97894"/>
              </a:lnSpc>
              <a:spcBef>
                <a:spcPts val="0"/>
              </a:spcBef>
              <a:spcAft>
                <a:spcPts val="0"/>
              </a:spcAft>
              <a:buNone/>
            </a:pPr>
            <a:r>
              <a:rPr lang="es-ES" sz="950">
                <a:solidFill>
                  <a:srgbClr val="1F1F1F"/>
                </a:solidFill>
                <a:latin typeface="Times New Roman"/>
                <a:ea typeface="Times New Roman"/>
                <a:cs typeface="Times New Roman"/>
                <a:sym typeface="Times New Roman"/>
              </a:rPr>
              <a:t>canales:</a:t>
            </a:r>
            <a:endParaRPr sz="950">
              <a:solidFill>
                <a:schemeClr val="dk1"/>
              </a:solidFill>
              <a:latin typeface="Times New Roman"/>
              <a:ea typeface="Times New Roman"/>
              <a:cs typeface="Times New Roman"/>
              <a:sym typeface="Times New Roman"/>
            </a:endParaRPr>
          </a:p>
        </p:txBody>
      </p:sp>
      <p:sp>
        <p:nvSpPr>
          <p:cNvPr id="109" name="Google Shape;109;p3"/>
          <p:cNvSpPr txBox="1"/>
          <p:nvPr/>
        </p:nvSpPr>
        <p:spPr>
          <a:xfrm>
            <a:off x="6286662" y="1042963"/>
            <a:ext cx="2303401" cy="159476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340714" marR="0" rtl="0" algn="l">
              <a:lnSpc>
                <a:spcPct val="95825"/>
              </a:lnSpc>
              <a:spcBef>
                <a:spcPts val="10444"/>
              </a:spcBef>
              <a:spcAft>
                <a:spcPts val="0"/>
              </a:spcAft>
              <a:buNone/>
            </a:pPr>
            <a:r>
              <a:rPr b="1" lang="es-ES" sz="950">
                <a:solidFill>
                  <a:srgbClr val="1F1F1F"/>
                </a:solidFill>
                <a:latin typeface="Times New Roman"/>
                <a:ea typeface="Times New Roman"/>
                <a:cs typeface="Times New Roman"/>
                <a:sym typeface="Times New Roman"/>
              </a:rPr>
              <a:t>Aprovechar las agencias de</a:t>
            </a:r>
            <a:endParaRPr sz="950">
              <a:solidFill>
                <a:schemeClr val="dk1"/>
              </a:solidFill>
              <a:latin typeface="Times New Roman"/>
              <a:ea typeface="Times New Roman"/>
              <a:cs typeface="Times New Roman"/>
              <a:sym typeface="Times New Roman"/>
            </a:endParaRPr>
          </a:p>
        </p:txBody>
      </p:sp>
      <p:sp>
        <p:nvSpPr>
          <p:cNvPr id="110" name="Google Shape;110;p3"/>
          <p:cNvSpPr txBox="1"/>
          <p:nvPr/>
        </p:nvSpPr>
        <p:spPr>
          <a:xfrm>
            <a:off x="568900" y="2809635"/>
            <a:ext cx="2091300" cy="1512664"/>
          </a:xfrm>
          <a:prstGeom prst="rect">
            <a:avLst/>
          </a:prstGeom>
          <a:noFill/>
          <a:ln>
            <a:noFill/>
          </a:ln>
        </p:spPr>
        <p:txBody>
          <a:bodyPr anchorCtr="0" anchor="t" bIns="0" lIns="0" spcFirstLastPara="1" rIns="0" wrap="square" tIns="5900">
            <a:noAutofit/>
          </a:bodyPr>
          <a:lstStyle/>
          <a:p>
            <a:pPr indent="0" lvl="0" marL="549470" marR="0" rtl="0" algn="l">
              <a:lnSpc>
                <a:spcPct val="97894"/>
              </a:lnSpc>
              <a:spcBef>
                <a:spcPts val="0"/>
              </a:spcBef>
              <a:spcAft>
                <a:spcPts val="0"/>
              </a:spcAft>
              <a:buNone/>
            </a:pPr>
            <a:r>
              <a:rPr b="1" lang="es-ES" sz="950">
                <a:solidFill>
                  <a:srgbClr val="1F1F1F"/>
                </a:solidFill>
                <a:latin typeface="Times New Roman"/>
                <a:ea typeface="Times New Roman"/>
                <a:cs typeface="Times New Roman"/>
                <a:sym typeface="Times New Roman"/>
              </a:rPr>
              <a:t>objetivo especíﬁcos</a:t>
            </a:r>
            <a:endParaRPr sz="950">
              <a:solidFill>
                <a:schemeClr val="dk1"/>
              </a:solidFill>
              <a:latin typeface="Times New Roman"/>
              <a:ea typeface="Times New Roman"/>
              <a:cs typeface="Times New Roman"/>
              <a:sym typeface="Times New Roman"/>
            </a:endParaRPr>
          </a:p>
        </p:txBody>
      </p:sp>
      <p:sp>
        <p:nvSpPr>
          <p:cNvPr id="111" name="Google Shape;111;p3"/>
          <p:cNvSpPr txBox="1"/>
          <p:nvPr/>
        </p:nvSpPr>
        <p:spPr>
          <a:xfrm>
            <a:off x="4002850" y="3051250"/>
            <a:ext cx="1225675" cy="1225700"/>
          </a:xfrm>
          <a:prstGeom prst="rect">
            <a:avLst/>
          </a:prstGeom>
          <a:noFill/>
          <a:ln>
            <a:noFill/>
          </a:ln>
        </p:spPr>
        <p:txBody>
          <a:bodyPr anchorCtr="0" anchor="t" bIns="0" lIns="0" spcFirstLastPara="1" rIns="0" wrap="square" tIns="27300">
            <a:noAutofit/>
          </a:bodyPr>
          <a:lstStyle/>
          <a:p>
            <a:pPr indent="0" lvl="0" marL="286114" marR="0" rtl="0" algn="l">
              <a:lnSpc>
                <a:spcPct val="95825"/>
              </a:lnSpc>
              <a:spcBef>
                <a:spcPts val="0"/>
              </a:spcBef>
              <a:spcAft>
                <a:spcPts val="0"/>
              </a:spcAft>
              <a:buNone/>
            </a:pPr>
            <a:r>
              <a:rPr b="1" lang="es-ES" sz="950">
                <a:solidFill>
                  <a:srgbClr val="1F1F1F"/>
                </a:solidFill>
                <a:latin typeface="Times New Roman"/>
                <a:ea typeface="Times New Roman"/>
                <a:cs typeface="Times New Roman"/>
                <a:sym typeface="Times New Roman"/>
              </a:rPr>
              <a:t>servicio.</a:t>
            </a:r>
            <a:endParaRPr sz="950">
              <a:solidFill>
                <a:schemeClr val="dk1"/>
              </a:solidFill>
              <a:latin typeface="Times New Roman"/>
              <a:ea typeface="Times New Roman"/>
              <a:cs typeface="Times New Roman"/>
              <a:sym typeface="Times New Roman"/>
            </a:endParaRPr>
          </a:p>
        </p:txBody>
      </p:sp>
      <p:sp>
        <p:nvSpPr>
          <p:cNvPr id="112" name="Google Shape;112;p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3"/>
          <p:cNvSpPr/>
          <p:nvPr/>
        </p:nvSpPr>
        <p:spPr>
          <a:xfrm>
            <a:off x="-7366"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114" name="Google Shape;114;p3"/>
          <p:cNvSpPr/>
          <p:nvPr/>
        </p:nvSpPr>
        <p:spPr>
          <a:xfrm>
            <a:off x="108776" y="79325"/>
            <a:ext cx="3177775" cy="725425"/>
          </a:xfrm>
          <a:custGeom>
            <a:rect b="b" l="l" r="r" t="t"/>
            <a:pathLst>
              <a:path extrusionOk="0" h="725425" w="3177775">
                <a:moveTo>
                  <a:pt x="0" y="0"/>
                </a:moveTo>
                <a:lnTo>
                  <a:pt x="3177775" y="0"/>
                </a:lnTo>
                <a:lnTo>
                  <a:pt x="3177775"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3"/>
          <p:cNvSpPr/>
          <p:nvPr/>
        </p:nvSpPr>
        <p:spPr>
          <a:xfrm>
            <a:off x="5288102" y="4803200"/>
            <a:ext cx="3372423" cy="0"/>
          </a:xfrm>
          <a:custGeom>
            <a:rect b="b" l="l" r="r" t="t"/>
            <a:pathLst>
              <a:path extrusionOk="0" h="120000" w="3372423">
                <a:moveTo>
                  <a:pt x="0" y="0"/>
                </a:moveTo>
                <a:lnTo>
                  <a:pt x="3372423"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3"/>
          <p:cNvSpPr/>
          <p:nvPr/>
        </p:nvSpPr>
        <p:spPr>
          <a:xfrm>
            <a:off x="2810800" y="4803200"/>
            <a:ext cx="1045102" cy="0"/>
          </a:xfrm>
          <a:custGeom>
            <a:rect b="b" l="l" r="r" t="t"/>
            <a:pathLst>
              <a:path extrusionOk="0" h="120000" w="1045102">
                <a:moveTo>
                  <a:pt x="0" y="0"/>
                </a:moveTo>
                <a:lnTo>
                  <a:pt x="1045102"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3"/>
          <p:cNvSpPr/>
          <p:nvPr/>
        </p:nvSpPr>
        <p:spPr>
          <a:xfrm>
            <a:off x="5288102" y="4803200"/>
            <a:ext cx="3377185" cy="0"/>
          </a:xfrm>
          <a:custGeom>
            <a:rect b="b" l="l" r="r" t="t"/>
            <a:pathLst>
              <a:path extrusionOk="0" h="120000" w="3377185">
                <a:moveTo>
                  <a:pt x="0" y="0"/>
                </a:moveTo>
                <a:lnTo>
                  <a:pt x="337718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3"/>
          <p:cNvSpPr/>
          <p:nvPr/>
        </p:nvSpPr>
        <p:spPr>
          <a:xfrm>
            <a:off x="2810800" y="4803200"/>
            <a:ext cx="1045102" cy="0"/>
          </a:xfrm>
          <a:custGeom>
            <a:rect b="b" l="l" r="r" t="t"/>
            <a:pathLst>
              <a:path extrusionOk="0" h="120000" w="1045102">
                <a:moveTo>
                  <a:pt x="0" y="0"/>
                </a:moveTo>
                <a:lnTo>
                  <a:pt x="1045102"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3"/>
          <p:cNvSpPr/>
          <p:nvPr/>
        </p:nvSpPr>
        <p:spPr>
          <a:xfrm>
            <a:off x="226700" y="817575"/>
            <a:ext cx="4629900" cy="477000"/>
          </a:xfrm>
          <a:custGeom>
            <a:rect b="b" l="l" r="r" t="t"/>
            <a:pathLst>
              <a:path extrusionOk="0" h="477000" w="4629900">
                <a:moveTo>
                  <a:pt x="0" y="0"/>
                </a:moveTo>
                <a:lnTo>
                  <a:pt x="4629900" y="0"/>
                </a:lnTo>
                <a:lnTo>
                  <a:pt x="4629900" y="477000"/>
                </a:lnTo>
                <a:lnTo>
                  <a:pt x="0" y="4770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3"/>
          <p:cNvSpPr/>
          <p:nvPr/>
        </p:nvSpPr>
        <p:spPr>
          <a:xfrm>
            <a:off x="613450" y="2410450"/>
            <a:ext cx="2197500" cy="623400"/>
          </a:xfrm>
          <a:custGeom>
            <a:rect b="b" l="l" r="r" t="t"/>
            <a:pathLst>
              <a:path extrusionOk="0" h="623400" w="2197500">
                <a:moveTo>
                  <a:pt x="0" y="0"/>
                </a:moveTo>
                <a:lnTo>
                  <a:pt x="2197500" y="0"/>
                </a:lnTo>
                <a:lnTo>
                  <a:pt x="21975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p:nvPr/>
        </p:nvSpPr>
        <p:spPr>
          <a:xfrm>
            <a:off x="507400" y="4211800"/>
            <a:ext cx="2303400" cy="623400"/>
          </a:xfrm>
          <a:custGeom>
            <a:rect b="b" l="l" r="r" t="t"/>
            <a:pathLst>
              <a:path extrusionOk="0" h="623400" w="2303400">
                <a:moveTo>
                  <a:pt x="0" y="0"/>
                </a:moveTo>
                <a:lnTo>
                  <a:pt x="2303400" y="0"/>
                </a:lnTo>
                <a:lnTo>
                  <a:pt x="2303400" y="623400"/>
                </a:lnTo>
                <a:lnTo>
                  <a:pt x="0" y="623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3"/>
          <p:cNvSpPr/>
          <p:nvPr/>
        </p:nvSpPr>
        <p:spPr>
          <a:xfrm>
            <a:off x="3473350" y="2410450"/>
            <a:ext cx="2128500" cy="915900"/>
          </a:xfrm>
          <a:custGeom>
            <a:rect b="b" l="l" r="r" t="t"/>
            <a:pathLst>
              <a:path extrusionOk="0" h="915900" w="2128500">
                <a:moveTo>
                  <a:pt x="0" y="0"/>
                </a:moveTo>
                <a:lnTo>
                  <a:pt x="2128500" y="0"/>
                </a:lnTo>
                <a:lnTo>
                  <a:pt x="2128500" y="915900"/>
                </a:lnTo>
                <a:lnTo>
                  <a:pt x="0" y="915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3"/>
          <p:cNvSpPr/>
          <p:nvPr/>
        </p:nvSpPr>
        <p:spPr>
          <a:xfrm>
            <a:off x="6483792" y="4211800"/>
            <a:ext cx="1907700" cy="477000"/>
          </a:xfrm>
          <a:custGeom>
            <a:rect b="b" l="l" r="r" t="t"/>
            <a:pathLst>
              <a:path extrusionOk="0" h="477000" w="1907700">
                <a:moveTo>
                  <a:pt x="0" y="0"/>
                </a:moveTo>
                <a:lnTo>
                  <a:pt x="1907700" y="0"/>
                </a:lnTo>
                <a:lnTo>
                  <a:pt x="1907700" y="477000"/>
                </a:lnTo>
                <a:lnTo>
                  <a:pt x="0" y="4770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3"/>
          <p:cNvSpPr/>
          <p:nvPr/>
        </p:nvSpPr>
        <p:spPr>
          <a:xfrm>
            <a:off x="3795800" y="1120175"/>
            <a:ext cx="1471550" cy="1354500"/>
          </a:xfrm>
          <a:custGeom>
            <a:rect b="b" l="l" r="r" t="t"/>
            <a:pathLst>
              <a:path extrusionOk="0" h="1354500" w="1471550">
                <a:moveTo>
                  <a:pt x="0" y="0"/>
                </a:moveTo>
                <a:lnTo>
                  <a:pt x="1471550" y="0"/>
                </a:lnTo>
                <a:lnTo>
                  <a:pt x="1471550" y="1354500"/>
                </a:lnTo>
                <a:lnTo>
                  <a:pt x="0" y="13545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p:nvPr/>
        </p:nvSpPr>
        <p:spPr>
          <a:xfrm>
            <a:off x="977613" y="1085050"/>
            <a:ext cx="1362974" cy="1424726"/>
          </a:xfrm>
          <a:custGeom>
            <a:rect b="b" l="l" r="r" t="t"/>
            <a:pathLst>
              <a:path extrusionOk="0" h="1424726" w="1362974">
                <a:moveTo>
                  <a:pt x="0" y="0"/>
                </a:moveTo>
                <a:lnTo>
                  <a:pt x="1362974" y="0"/>
                </a:lnTo>
                <a:lnTo>
                  <a:pt x="1362974" y="1424726"/>
                </a:lnTo>
                <a:lnTo>
                  <a:pt x="0" y="1424726"/>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3"/>
          <p:cNvSpPr/>
          <p:nvPr/>
        </p:nvSpPr>
        <p:spPr>
          <a:xfrm>
            <a:off x="6286662" y="1042963"/>
            <a:ext cx="2303401" cy="1565600"/>
          </a:xfrm>
          <a:custGeom>
            <a:rect b="b" l="l" r="r" t="t"/>
            <a:pathLst>
              <a:path extrusionOk="0" h="1565600" w="2303401">
                <a:moveTo>
                  <a:pt x="0" y="0"/>
                </a:moveTo>
                <a:lnTo>
                  <a:pt x="2303401" y="0"/>
                </a:lnTo>
                <a:lnTo>
                  <a:pt x="2303401" y="1565600"/>
                </a:lnTo>
                <a:lnTo>
                  <a:pt x="0" y="1565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3"/>
          <p:cNvSpPr/>
          <p:nvPr/>
        </p:nvSpPr>
        <p:spPr>
          <a:xfrm>
            <a:off x="6701875" y="3179953"/>
            <a:ext cx="1471550" cy="1089660"/>
          </a:xfrm>
          <a:custGeom>
            <a:rect b="b" l="l" r="r" t="t"/>
            <a:pathLst>
              <a:path extrusionOk="0" h="1089660" w="1471550">
                <a:moveTo>
                  <a:pt x="0" y="0"/>
                </a:moveTo>
                <a:lnTo>
                  <a:pt x="1471550" y="0"/>
                </a:lnTo>
                <a:lnTo>
                  <a:pt x="1471550" y="1089660"/>
                </a:lnTo>
                <a:lnTo>
                  <a:pt x="0" y="108966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p:nvPr/>
        </p:nvSpPr>
        <p:spPr>
          <a:xfrm>
            <a:off x="8683025" y="4635500"/>
            <a:ext cx="335700" cy="335400"/>
          </a:xfrm>
          <a:custGeom>
            <a:rect b="b" l="l" r="r" t="t"/>
            <a:pathLst>
              <a:path extrusionOk="0" h="335400" w="335700">
                <a:moveTo>
                  <a:pt x="0" y="0"/>
                </a:moveTo>
                <a:lnTo>
                  <a:pt x="335700" y="0"/>
                </a:lnTo>
                <a:lnTo>
                  <a:pt x="3357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3"/>
          <p:cNvSpPr txBox="1"/>
          <p:nvPr/>
        </p:nvSpPr>
        <p:spPr>
          <a:xfrm>
            <a:off x="226700" y="133350"/>
            <a:ext cx="518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EQUIPO DE TRABAJO - ROLES</a:t>
            </a:r>
            <a:endParaRPr b="1" sz="2400">
              <a:solidFill>
                <a:schemeClr val="accent5"/>
              </a:solidFill>
              <a:latin typeface="Calibri"/>
              <a:ea typeface="Calibri"/>
              <a:cs typeface="Calibri"/>
              <a:sym typeface="Calibri"/>
            </a:endParaRPr>
          </a:p>
        </p:txBody>
      </p:sp>
      <p:pic>
        <p:nvPicPr>
          <p:cNvPr id="132" name="Google Shape;132;p3" title="Diseño sin título-12.png"/>
          <p:cNvPicPr preferRelativeResize="0"/>
          <p:nvPr/>
        </p:nvPicPr>
        <p:blipFill>
          <a:blip r:embed="rId5">
            <a:alphaModFix/>
          </a:blip>
          <a:stretch>
            <a:fillRect/>
          </a:stretch>
        </p:blipFill>
        <p:spPr>
          <a:xfrm>
            <a:off x="5131060" y="2301731"/>
            <a:ext cx="2816900" cy="2816900"/>
          </a:xfrm>
          <a:prstGeom prst="rect">
            <a:avLst/>
          </a:prstGeom>
          <a:noFill/>
          <a:ln>
            <a:noFill/>
          </a:ln>
        </p:spPr>
      </p:pic>
      <p:pic>
        <p:nvPicPr>
          <p:cNvPr id="133" name="Google Shape;133;p3" title="Diseño sin título-11.png"/>
          <p:cNvPicPr preferRelativeResize="0"/>
          <p:nvPr/>
        </p:nvPicPr>
        <p:blipFill>
          <a:blip r:embed="rId6">
            <a:alphaModFix/>
          </a:blip>
          <a:stretch>
            <a:fillRect/>
          </a:stretch>
        </p:blipFill>
        <p:spPr>
          <a:xfrm>
            <a:off x="1130413" y="2301728"/>
            <a:ext cx="2816900" cy="2816900"/>
          </a:xfrm>
          <a:prstGeom prst="rect">
            <a:avLst/>
          </a:prstGeom>
          <a:noFill/>
          <a:ln>
            <a:noFill/>
          </a:ln>
        </p:spPr>
      </p:pic>
      <p:pic>
        <p:nvPicPr>
          <p:cNvPr id="134" name="Google Shape;134;p3" title="Diseño sin título-4.png"/>
          <p:cNvPicPr preferRelativeResize="0"/>
          <p:nvPr/>
        </p:nvPicPr>
        <p:blipFill rotWithShape="1">
          <a:blip r:embed="rId7">
            <a:alphaModFix/>
          </a:blip>
          <a:srcRect b="6681" l="0" r="0" t="0"/>
          <a:stretch/>
        </p:blipFill>
        <p:spPr>
          <a:xfrm>
            <a:off x="432865" y="677613"/>
            <a:ext cx="1841495" cy="1718363"/>
          </a:xfrm>
          <a:prstGeom prst="rect">
            <a:avLst/>
          </a:prstGeom>
          <a:noFill/>
          <a:ln>
            <a:noFill/>
          </a:ln>
        </p:spPr>
      </p:pic>
      <p:pic>
        <p:nvPicPr>
          <p:cNvPr id="135" name="Google Shape;135;p3" title="Diseño sin título-8.png"/>
          <p:cNvPicPr preferRelativeResize="0"/>
          <p:nvPr/>
        </p:nvPicPr>
        <p:blipFill>
          <a:blip r:embed="rId8">
            <a:alphaModFix/>
          </a:blip>
          <a:stretch>
            <a:fillRect/>
          </a:stretch>
        </p:blipFill>
        <p:spPr>
          <a:xfrm>
            <a:off x="6668984" y="712221"/>
            <a:ext cx="1874219" cy="1874219"/>
          </a:xfrm>
          <a:prstGeom prst="rect">
            <a:avLst/>
          </a:prstGeom>
          <a:noFill/>
          <a:ln>
            <a:noFill/>
          </a:ln>
        </p:spPr>
      </p:pic>
      <p:pic>
        <p:nvPicPr>
          <p:cNvPr id="136" name="Google Shape;136;p3" title="Diseño sin título-9.png"/>
          <p:cNvPicPr preferRelativeResize="0"/>
          <p:nvPr/>
        </p:nvPicPr>
        <p:blipFill rotWithShape="1">
          <a:blip r:embed="rId9">
            <a:alphaModFix/>
          </a:blip>
          <a:srcRect b="9090" l="0" r="0" t="0"/>
          <a:stretch/>
        </p:blipFill>
        <p:spPr>
          <a:xfrm>
            <a:off x="4609636" y="715567"/>
            <a:ext cx="1841495" cy="1673985"/>
          </a:xfrm>
          <a:prstGeom prst="rect">
            <a:avLst/>
          </a:prstGeom>
          <a:noFill/>
          <a:ln>
            <a:noFill/>
          </a:ln>
        </p:spPr>
      </p:pic>
      <p:pic>
        <p:nvPicPr>
          <p:cNvPr id="137" name="Google Shape;137;p3" title="Diseño sin título-10.png"/>
          <p:cNvPicPr preferRelativeResize="0"/>
          <p:nvPr/>
        </p:nvPicPr>
        <p:blipFill>
          <a:blip r:embed="rId10">
            <a:alphaModFix/>
          </a:blip>
          <a:stretch>
            <a:fillRect/>
          </a:stretch>
        </p:blipFill>
        <p:spPr>
          <a:xfrm>
            <a:off x="2375800" y="625088"/>
            <a:ext cx="1934975" cy="1934975"/>
          </a:xfrm>
          <a:prstGeom prst="rect">
            <a:avLst/>
          </a:prstGeom>
          <a:noFill/>
          <a:ln>
            <a:noFill/>
          </a:ln>
        </p:spPr>
      </p:pic>
      <p:sp>
        <p:nvSpPr>
          <p:cNvPr id="138" name="Google Shape;138;p3"/>
          <p:cNvSpPr txBox="1"/>
          <p:nvPr/>
        </p:nvSpPr>
        <p:spPr>
          <a:xfrm>
            <a:off x="5395147" y="430922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2D3239"/>
                </a:solidFill>
                <a:latin typeface="Catamaran"/>
                <a:ea typeface="Catamaran"/>
                <a:cs typeface="Catamaran"/>
                <a:sym typeface="Catamaran"/>
              </a:rPr>
              <a:t>Eduardo Villegas</a:t>
            </a:r>
            <a:endParaRPr b="1">
              <a:solidFill>
                <a:srgbClr val="2D3239"/>
              </a:solidFill>
              <a:latin typeface="Catamaran"/>
              <a:ea typeface="Catamaran"/>
              <a:cs typeface="Catamaran"/>
              <a:sym typeface="Catamaran"/>
            </a:endParaRPr>
          </a:p>
          <a:p>
            <a:pPr indent="0" lvl="0" marL="0" rtl="0" algn="l">
              <a:spcBef>
                <a:spcPts val="0"/>
              </a:spcBef>
              <a:spcAft>
                <a:spcPts val="0"/>
              </a:spcAft>
              <a:buNone/>
            </a:pPr>
            <a:r>
              <a:t/>
            </a:r>
            <a:endParaRPr b="1">
              <a:solidFill>
                <a:srgbClr val="2D3239"/>
              </a:solidFill>
              <a:latin typeface="Catamaran"/>
              <a:ea typeface="Catamaran"/>
              <a:cs typeface="Catamaran"/>
              <a:sym typeface="Catamaran"/>
            </a:endParaRPr>
          </a:p>
        </p:txBody>
      </p:sp>
      <p:sp>
        <p:nvSpPr>
          <p:cNvPr id="139" name="Google Shape;139;p3"/>
          <p:cNvSpPr txBox="1"/>
          <p:nvPr/>
        </p:nvSpPr>
        <p:spPr>
          <a:xfrm>
            <a:off x="365413" y="2393700"/>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ES">
                <a:solidFill>
                  <a:schemeClr val="dk1"/>
                </a:solidFill>
                <a:latin typeface="Catamaran"/>
                <a:ea typeface="Catamaran"/>
                <a:cs typeface="Catamaran"/>
                <a:sym typeface="Catamaran"/>
              </a:rPr>
              <a:t>Claudio Valdivia</a:t>
            </a:r>
            <a:endParaRPr b="1">
              <a:solidFill>
                <a:schemeClr val="dk1"/>
              </a:solidFill>
              <a:latin typeface="Catamaran"/>
              <a:ea typeface="Catamaran"/>
              <a:cs typeface="Catamaran"/>
              <a:sym typeface="Catamaran"/>
            </a:endParaRPr>
          </a:p>
          <a:p>
            <a:pPr indent="0" lvl="0" marL="0" rtl="0" algn="l">
              <a:spcBef>
                <a:spcPts val="0"/>
              </a:spcBef>
              <a:spcAft>
                <a:spcPts val="0"/>
              </a:spcAft>
              <a:buNone/>
            </a:pPr>
            <a:r>
              <a:t/>
            </a:r>
            <a:endParaRPr sz="1200">
              <a:solidFill>
                <a:schemeClr val="dk1"/>
              </a:solidFill>
            </a:endParaRPr>
          </a:p>
        </p:txBody>
      </p:sp>
      <p:sp>
        <p:nvSpPr>
          <p:cNvPr id="140" name="Google Shape;140;p3"/>
          <p:cNvSpPr txBox="1"/>
          <p:nvPr/>
        </p:nvSpPr>
        <p:spPr>
          <a:xfrm>
            <a:off x="1389456" y="425207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191919"/>
                </a:solidFill>
                <a:latin typeface="Catamaran"/>
                <a:ea typeface="Catamaran"/>
                <a:cs typeface="Catamaran"/>
                <a:sym typeface="Catamaran"/>
              </a:rPr>
              <a:t>Percy Santibañez</a:t>
            </a:r>
            <a:endParaRPr b="1">
              <a:solidFill>
                <a:srgbClr val="191919"/>
              </a:solidFill>
              <a:latin typeface="Catamaran"/>
              <a:ea typeface="Catamaran"/>
              <a:cs typeface="Catamaran"/>
              <a:sym typeface="Catamaran"/>
            </a:endParaRPr>
          </a:p>
          <a:p>
            <a:pPr indent="0" lvl="0" marL="0" rtl="0" algn="l">
              <a:spcBef>
                <a:spcPts val="0"/>
              </a:spcBef>
              <a:spcAft>
                <a:spcPts val="0"/>
              </a:spcAft>
              <a:buNone/>
            </a:pPr>
            <a:r>
              <a:t/>
            </a:r>
            <a:endParaRPr b="1">
              <a:solidFill>
                <a:srgbClr val="2D3239"/>
              </a:solidFill>
              <a:latin typeface="Catamaran"/>
              <a:ea typeface="Catamaran"/>
              <a:cs typeface="Catamaran"/>
              <a:sym typeface="Catamaran"/>
            </a:endParaRPr>
          </a:p>
        </p:txBody>
      </p:sp>
      <p:sp>
        <p:nvSpPr>
          <p:cNvPr id="141" name="Google Shape;141;p3"/>
          <p:cNvSpPr txBox="1"/>
          <p:nvPr/>
        </p:nvSpPr>
        <p:spPr>
          <a:xfrm>
            <a:off x="2312675" y="239007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2D3239"/>
                </a:solidFill>
                <a:latin typeface="Catamaran"/>
                <a:ea typeface="Catamaran"/>
                <a:cs typeface="Catamaran"/>
                <a:sym typeface="Catamaran"/>
              </a:rPr>
              <a:t>Francisco Salvado</a:t>
            </a:r>
            <a:endParaRPr b="1">
              <a:solidFill>
                <a:srgbClr val="2D3239"/>
              </a:solidFill>
              <a:latin typeface="Catamaran"/>
              <a:ea typeface="Catamaran"/>
              <a:cs typeface="Catamaran"/>
              <a:sym typeface="Catamaran"/>
            </a:endParaRPr>
          </a:p>
          <a:p>
            <a:pPr indent="0" lvl="0" marL="0" rtl="0" algn="l">
              <a:spcBef>
                <a:spcPts val="0"/>
              </a:spcBef>
              <a:spcAft>
                <a:spcPts val="0"/>
              </a:spcAft>
              <a:buNone/>
            </a:pPr>
            <a:r>
              <a:t/>
            </a:r>
            <a:endParaRPr b="1">
              <a:solidFill>
                <a:srgbClr val="191919"/>
              </a:solidFill>
              <a:latin typeface="Catamaran"/>
              <a:ea typeface="Catamaran"/>
              <a:cs typeface="Catamaran"/>
              <a:sym typeface="Catamaran"/>
            </a:endParaRPr>
          </a:p>
        </p:txBody>
      </p:sp>
      <p:sp>
        <p:nvSpPr>
          <p:cNvPr id="142" name="Google Shape;142;p3"/>
          <p:cNvSpPr txBox="1"/>
          <p:nvPr/>
        </p:nvSpPr>
        <p:spPr>
          <a:xfrm>
            <a:off x="6617875" y="2393700"/>
            <a:ext cx="1976400" cy="46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ES">
                <a:solidFill>
                  <a:srgbClr val="191919"/>
                </a:solidFill>
              </a:rPr>
              <a:t>Kimberly  Villalobos</a:t>
            </a:r>
            <a:endParaRPr b="1">
              <a:solidFill>
                <a:srgbClr val="191919"/>
              </a:solidFill>
            </a:endParaRPr>
          </a:p>
          <a:p>
            <a:pPr indent="0" lvl="0" marL="0" rtl="0" algn="l">
              <a:spcBef>
                <a:spcPts val="0"/>
              </a:spcBef>
              <a:spcAft>
                <a:spcPts val="0"/>
              </a:spcAft>
              <a:buNone/>
            </a:pPr>
            <a:r>
              <a:t/>
            </a:r>
            <a:endParaRPr b="1">
              <a:solidFill>
                <a:srgbClr val="2D3239"/>
              </a:solidFill>
              <a:latin typeface="Catamaran"/>
              <a:ea typeface="Catamaran"/>
              <a:cs typeface="Catamaran"/>
              <a:sym typeface="Catamaran"/>
            </a:endParaRPr>
          </a:p>
        </p:txBody>
      </p:sp>
      <p:sp>
        <p:nvSpPr>
          <p:cNvPr id="143" name="Google Shape;143;p3"/>
          <p:cNvSpPr txBox="1"/>
          <p:nvPr/>
        </p:nvSpPr>
        <p:spPr>
          <a:xfrm>
            <a:off x="4542175" y="239007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191919"/>
                </a:solidFill>
                <a:latin typeface="Catamaran"/>
                <a:ea typeface="Catamaran"/>
                <a:cs typeface="Catamaran"/>
                <a:sym typeface="Catamaran"/>
              </a:rPr>
              <a:t>Isis Maldonado</a:t>
            </a:r>
            <a:endParaRPr b="1">
              <a:solidFill>
                <a:srgbClr val="191919"/>
              </a:solidFill>
              <a:latin typeface="Catamaran"/>
              <a:ea typeface="Catamaran"/>
              <a:cs typeface="Catamaran"/>
              <a:sym typeface="Catamaran"/>
            </a:endParaRPr>
          </a:p>
          <a:p>
            <a:pPr indent="0" lvl="0" marL="0" rtl="0" algn="l">
              <a:spcBef>
                <a:spcPts val="0"/>
              </a:spcBef>
              <a:spcAft>
                <a:spcPts val="0"/>
              </a:spcAft>
              <a:buNone/>
            </a:pPr>
            <a:r>
              <a:t/>
            </a:r>
            <a:endParaRPr b="1">
              <a:solidFill>
                <a:srgbClr val="2D3239"/>
              </a:solidFill>
              <a:latin typeface="Catamaran"/>
              <a:ea typeface="Catamaran"/>
              <a:cs typeface="Catamaran"/>
              <a:sym typeface="Catamaran"/>
            </a:endParaRPr>
          </a:p>
        </p:txBody>
      </p:sp>
      <p:sp>
        <p:nvSpPr>
          <p:cNvPr id="144" name="Google Shape;144;p3"/>
          <p:cNvSpPr txBox="1"/>
          <p:nvPr/>
        </p:nvSpPr>
        <p:spPr>
          <a:xfrm>
            <a:off x="365413" y="2586450"/>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ES">
                <a:solidFill>
                  <a:srgbClr val="666666"/>
                </a:solidFill>
                <a:latin typeface="Catamaran"/>
                <a:ea typeface="Catamaran"/>
                <a:cs typeface="Catamaran"/>
                <a:sym typeface="Catamaran"/>
              </a:rPr>
              <a:t>Product Owner</a:t>
            </a:r>
            <a:endParaRPr b="1">
              <a:solidFill>
                <a:srgbClr val="666666"/>
              </a:solidFill>
              <a:latin typeface="Catamaran"/>
              <a:ea typeface="Catamaran"/>
              <a:cs typeface="Catamaran"/>
              <a:sym typeface="Catamaran"/>
            </a:endParaRPr>
          </a:p>
          <a:p>
            <a:pPr indent="0" lvl="0" marL="0" rtl="0" algn="l">
              <a:spcBef>
                <a:spcPts val="0"/>
              </a:spcBef>
              <a:spcAft>
                <a:spcPts val="0"/>
              </a:spcAft>
              <a:buNone/>
            </a:pPr>
            <a:r>
              <a:t/>
            </a:r>
            <a:endParaRPr b="1" sz="1200">
              <a:solidFill>
                <a:srgbClr val="666666"/>
              </a:solidFill>
            </a:endParaRPr>
          </a:p>
        </p:txBody>
      </p:sp>
      <p:sp>
        <p:nvSpPr>
          <p:cNvPr id="145" name="Google Shape;145;p3"/>
          <p:cNvSpPr txBox="1"/>
          <p:nvPr/>
        </p:nvSpPr>
        <p:spPr>
          <a:xfrm>
            <a:off x="4550982" y="2615147"/>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666666"/>
                </a:solidFill>
                <a:latin typeface="Catamaran"/>
                <a:ea typeface="Catamaran"/>
                <a:cs typeface="Catamaran"/>
                <a:sym typeface="Catamaran"/>
              </a:rPr>
              <a:t>Product Owner</a:t>
            </a:r>
            <a:endParaRPr b="1">
              <a:solidFill>
                <a:srgbClr val="666666"/>
              </a:solidFill>
              <a:latin typeface="Catamaran"/>
              <a:ea typeface="Catamaran"/>
              <a:cs typeface="Catamaran"/>
              <a:sym typeface="Catamaran"/>
            </a:endParaRPr>
          </a:p>
          <a:p>
            <a:pPr indent="0" lvl="0" marL="0" rtl="0" algn="l">
              <a:spcBef>
                <a:spcPts val="0"/>
              </a:spcBef>
              <a:spcAft>
                <a:spcPts val="0"/>
              </a:spcAft>
              <a:buNone/>
            </a:pPr>
            <a:r>
              <a:t/>
            </a:r>
            <a:endParaRPr b="1" sz="1200">
              <a:solidFill>
                <a:srgbClr val="666666"/>
              </a:solidFill>
            </a:endParaRPr>
          </a:p>
        </p:txBody>
      </p:sp>
      <p:sp>
        <p:nvSpPr>
          <p:cNvPr id="146" name="Google Shape;146;p3"/>
          <p:cNvSpPr txBox="1"/>
          <p:nvPr/>
        </p:nvSpPr>
        <p:spPr>
          <a:xfrm>
            <a:off x="2748243" y="2574824"/>
            <a:ext cx="19764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a:solidFill>
                  <a:srgbClr val="666666"/>
                </a:solidFill>
                <a:latin typeface="Catamaran"/>
                <a:ea typeface="Catamaran"/>
                <a:cs typeface="Catamaran"/>
                <a:sym typeface="Catamaran"/>
              </a:rPr>
              <a:t>Stakeholder</a:t>
            </a:r>
            <a:endParaRPr b="1" sz="1200">
              <a:solidFill>
                <a:srgbClr val="666666"/>
              </a:solidFill>
            </a:endParaRPr>
          </a:p>
        </p:txBody>
      </p:sp>
      <p:sp>
        <p:nvSpPr>
          <p:cNvPr id="147" name="Google Shape;147;p3"/>
          <p:cNvSpPr txBox="1"/>
          <p:nvPr/>
        </p:nvSpPr>
        <p:spPr>
          <a:xfrm>
            <a:off x="1729838" y="4442225"/>
            <a:ext cx="19764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a:solidFill>
                  <a:srgbClr val="666666"/>
                </a:solidFill>
                <a:latin typeface="Catamaran"/>
                <a:ea typeface="Catamaran"/>
                <a:cs typeface="Catamaran"/>
                <a:sym typeface="Catamaran"/>
              </a:rPr>
              <a:t>Scrum teams</a:t>
            </a:r>
            <a:endParaRPr b="1" sz="1200">
              <a:solidFill>
                <a:srgbClr val="666666"/>
              </a:solidFill>
            </a:endParaRPr>
          </a:p>
        </p:txBody>
      </p:sp>
      <p:sp>
        <p:nvSpPr>
          <p:cNvPr id="148" name="Google Shape;148;p3"/>
          <p:cNvSpPr txBox="1"/>
          <p:nvPr/>
        </p:nvSpPr>
        <p:spPr>
          <a:xfrm>
            <a:off x="5344601" y="4463172"/>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ES">
                <a:solidFill>
                  <a:srgbClr val="666666"/>
                </a:solidFill>
                <a:latin typeface="Catamaran"/>
                <a:ea typeface="Catamaran"/>
                <a:cs typeface="Catamaran"/>
                <a:sym typeface="Catamaran"/>
              </a:rPr>
              <a:t>Scrum Master</a:t>
            </a:r>
            <a:endParaRPr b="1">
              <a:solidFill>
                <a:srgbClr val="666666"/>
              </a:solidFill>
              <a:latin typeface="Catamaran"/>
              <a:ea typeface="Catamaran"/>
              <a:cs typeface="Catamaran"/>
              <a:sym typeface="Catamaran"/>
            </a:endParaRPr>
          </a:p>
          <a:p>
            <a:pPr indent="0" lvl="0" marL="0" rtl="0" algn="l">
              <a:spcBef>
                <a:spcPts val="0"/>
              </a:spcBef>
              <a:spcAft>
                <a:spcPts val="0"/>
              </a:spcAft>
              <a:buNone/>
            </a:pPr>
            <a:r>
              <a:t/>
            </a:r>
            <a:endParaRPr b="1" sz="1200">
              <a:solidFill>
                <a:srgbClr val="666666"/>
              </a:solidFill>
            </a:endParaRPr>
          </a:p>
        </p:txBody>
      </p:sp>
      <p:sp>
        <p:nvSpPr>
          <p:cNvPr id="149" name="Google Shape;149;p3"/>
          <p:cNvSpPr txBox="1"/>
          <p:nvPr/>
        </p:nvSpPr>
        <p:spPr>
          <a:xfrm>
            <a:off x="6571163" y="2568799"/>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666666"/>
                </a:solidFill>
                <a:latin typeface="Catamaran"/>
                <a:ea typeface="Catamaran"/>
                <a:cs typeface="Catamaran"/>
                <a:sym typeface="Catamaran"/>
              </a:rPr>
              <a:t>Product Owner</a:t>
            </a:r>
            <a:endParaRPr b="1">
              <a:solidFill>
                <a:srgbClr val="666666"/>
              </a:solidFill>
              <a:latin typeface="Catamaran"/>
              <a:ea typeface="Catamaran"/>
              <a:cs typeface="Catamaran"/>
              <a:sym typeface="Catamaran"/>
            </a:endParaRPr>
          </a:p>
          <a:p>
            <a:pPr indent="0" lvl="0" marL="0" rtl="0" algn="l">
              <a:spcBef>
                <a:spcPts val="0"/>
              </a:spcBef>
              <a:spcAft>
                <a:spcPts val="0"/>
              </a:spcAft>
              <a:buNone/>
            </a:pPr>
            <a:r>
              <a:t/>
            </a:r>
            <a:endParaRPr b="1" sz="1200">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4"/>
          <p:cNvSpPr/>
          <p:nvPr/>
        </p:nvSpPr>
        <p:spPr>
          <a:xfrm>
            <a:off x="775" y="0"/>
            <a:ext cx="4717650" cy="5143499"/>
          </a:xfrm>
          <a:custGeom>
            <a:rect b="b" l="l" r="r" t="t"/>
            <a:pathLst>
              <a:path extrusionOk="0" h="5143499" w="4717650">
                <a:moveTo>
                  <a:pt x="4717650" y="0"/>
                </a:moveTo>
                <a:lnTo>
                  <a:pt x="0" y="0"/>
                </a:lnTo>
                <a:lnTo>
                  <a:pt x="0" y="5143499"/>
                </a:lnTo>
                <a:lnTo>
                  <a:pt x="4717650" y="5143499"/>
                </a:lnTo>
                <a:lnTo>
                  <a:pt x="471765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4"/>
          <p:cNvSpPr/>
          <p:nvPr/>
        </p:nvSpPr>
        <p:spPr>
          <a:xfrm>
            <a:off x="108778" y="85475"/>
            <a:ext cx="2035651" cy="713125"/>
          </a:xfrm>
          <a:custGeom>
            <a:rect b="b" l="l" r="r" t="t"/>
            <a:pathLst>
              <a:path extrusionOk="0" h="713125" w="2035651">
                <a:moveTo>
                  <a:pt x="0" y="0"/>
                </a:moveTo>
                <a:lnTo>
                  <a:pt x="2035651" y="0"/>
                </a:lnTo>
                <a:lnTo>
                  <a:pt x="2035651"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4"/>
          <p:cNvSpPr/>
          <p:nvPr/>
        </p:nvSpPr>
        <p:spPr>
          <a:xfrm>
            <a:off x="1790225" y="3093624"/>
            <a:ext cx="1138049" cy="1201551"/>
          </a:xfrm>
          <a:custGeom>
            <a:rect b="b" l="l" r="r" t="t"/>
            <a:pathLst>
              <a:path extrusionOk="0" h="1201551" w="1138049">
                <a:moveTo>
                  <a:pt x="0" y="0"/>
                </a:moveTo>
                <a:lnTo>
                  <a:pt x="1138049" y="0"/>
                </a:lnTo>
                <a:lnTo>
                  <a:pt x="1138049" y="1201551"/>
                </a:lnTo>
                <a:lnTo>
                  <a:pt x="0" y="120155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4"/>
          <p:cNvSpPr/>
          <p:nvPr/>
        </p:nvSpPr>
        <p:spPr>
          <a:xfrm>
            <a:off x="1697825" y="3417611"/>
            <a:ext cx="1138049" cy="127774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4"/>
          <p:cNvSpPr/>
          <p:nvPr/>
        </p:nvSpPr>
        <p:spPr>
          <a:xfrm>
            <a:off x="226700" y="968200"/>
            <a:ext cx="4265100" cy="1860300"/>
          </a:xfrm>
          <a:custGeom>
            <a:rect b="b" l="l" r="r" t="t"/>
            <a:pathLst>
              <a:path extrusionOk="0" h="1860300" w="4265100">
                <a:moveTo>
                  <a:pt x="0" y="0"/>
                </a:moveTo>
                <a:lnTo>
                  <a:pt x="4265100" y="0"/>
                </a:lnTo>
                <a:lnTo>
                  <a:pt x="4265100" y="1860300"/>
                </a:lnTo>
                <a:lnTo>
                  <a:pt x="0" y="18603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4"/>
          <p:cNvSpPr/>
          <p:nvPr/>
        </p:nvSpPr>
        <p:spPr>
          <a:xfrm>
            <a:off x="1443688" y="4411172"/>
            <a:ext cx="1846200" cy="260700"/>
          </a:xfrm>
          <a:custGeom>
            <a:rect b="b" l="l" r="r" t="t"/>
            <a:pathLst>
              <a:path extrusionOk="0" h="260700" w="1846200">
                <a:moveTo>
                  <a:pt x="0" y="0"/>
                </a:moveTo>
                <a:lnTo>
                  <a:pt x="1846200" y="0"/>
                </a:lnTo>
                <a:lnTo>
                  <a:pt x="1846200" y="260700"/>
                </a:lnTo>
                <a:lnTo>
                  <a:pt x="0" y="26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4"/>
          <p:cNvSpPr/>
          <p:nvPr/>
        </p:nvSpPr>
        <p:spPr>
          <a:xfrm>
            <a:off x="4718425" y="0"/>
            <a:ext cx="4425574" cy="5143499"/>
          </a:xfrm>
          <a:custGeom>
            <a:rect b="b" l="l" r="r" t="t"/>
            <a:pathLst>
              <a:path extrusionOk="0" h="5143499" w="4425574">
                <a:moveTo>
                  <a:pt x="4425574" y="0"/>
                </a:moveTo>
                <a:lnTo>
                  <a:pt x="4425574" y="5143499"/>
                </a:lnTo>
                <a:lnTo>
                  <a:pt x="0" y="5143499"/>
                </a:lnTo>
                <a:lnTo>
                  <a:pt x="0" y="0"/>
                </a:lnTo>
                <a:lnTo>
                  <a:pt x="44255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4"/>
          <p:cNvSpPr/>
          <p:nvPr/>
        </p:nvSpPr>
        <p:spPr>
          <a:xfrm>
            <a:off x="4718425" y="0"/>
            <a:ext cx="4425574" cy="51435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4"/>
          <p:cNvSpPr/>
          <p:nvPr/>
        </p:nvSpPr>
        <p:spPr>
          <a:xfrm>
            <a:off x="193067" y="4643876"/>
            <a:ext cx="372243" cy="41796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4"/>
          <p:cNvSpPr txBox="1"/>
          <p:nvPr/>
        </p:nvSpPr>
        <p:spPr>
          <a:xfrm>
            <a:off x="8765581" y="4733180"/>
            <a:ext cx="89372" cy="149860"/>
          </a:xfrm>
          <a:prstGeom prst="rect">
            <a:avLst/>
          </a:prstGeom>
          <a:noFill/>
          <a:ln>
            <a:noFill/>
          </a:ln>
        </p:spPr>
        <p:txBody>
          <a:bodyPr anchorCtr="0" anchor="t" bIns="0" lIns="0" spcFirstLastPara="1" rIns="0" wrap="square" tIns="6650">
            <a:noAutofit/>
          </a:bodyPr>
          <a:lstStyle/>
          <a:p>
            <a:pPr indent="0" lvl="0" marL="12700" marR="0" rtl="0" algn="l">
              <a:lnSpc>
                <a:spcPct val="104999"/>
              </a:lnSpc>
              <a:spcBef>
                <a:spcPts val="0"/>
              </a:spcBef>
              <a:spcAft>
                <a:spcPts val="0"/>
              </a:spcAft>
              <a:buNone/>
            </a:pPr>
            <a:r>
              <a:rPr b="1" lang="es-ES" sz="1000">
                <a:solidFill>
                  <a:srgbClr val="FFFFFF"/>
                </a:solidFill>
                <a:latin typeface="Times New Roman"/>
                <a:ea typeface="Times New Roman"/>
                <a:cs typeface="Times New Roman"/>
                <a:sym typeface="Times New Roman"/>
              </a:rPr>
              <a:t>1</a:t>
            </a:r>
            <a:endParaRPr sz="1000">
              <a:solidFill>
                <a:schemeClr val="dk1"/>
              </a:solidFill>
              <a:latin typeface="Times New Roman"/>
              <a:ea typeface="Times New Roman"/>
              <a:cs typeface="Times New Roman"/>
              <a:sym typeface="Times New Roman"/>
            </a:endParaRPr>
          </a:p>
        </p:txBody>
      </p:sp>
      <p:sp>
        <p:nvSpPr>
          <p:cNvPr id="169" name="Google Shape;169;p4"/>
          <p:cNvSpPr txBox="1"/>
          <p:nvPr/>
        </p:nvSpPr>
        <p:spPr>
          <a:xfrm>
            <a:off x="193067" y="73871"/>
            <a:ext cx="518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CONTEXTO</a:t>
            </a:r>
            <a:endParaRPr b="1" sz="2400">
              <a:solidFill>
                <a:schemeClr val="accent5"/>
              </a:solidFill>
              <a:latin typeface="Calibri"/>
              <a:ea typeface="Calibri"/>
              <a:cs typeface="Calibri"/>
              <a:sym typeface="Calibri"/>
            </a:endParaRPr>
          </a:p>
        </p:txBody>
      </p:sp>
      <p:sp>
        <p:nvSpPr>
          <p:cNvPr id="170" name="Google Shape;170;p4"/>
          <p:cNvSpPr txBox="1"/>
          <p:nvPr/>
        </p:nvSpPr>
        <p:spPr>
          <a:xfrm>
            <a:off x="137780" y="663004"/>
            <a:ext cx="473206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Calibri"/>
                <a:ea typeface="Calibri"/>
                <a:cs typeface="Calibri"/>
                <a:sym typeface="Calibri"/>
              </a:rPr>
              <a:t>La comuna de Valparaíso se ha consolidado como uno de los destinos turísticos más emblemáticos de Chile y del mundo, destacando por su patrimonio cultural, arquitectónico y artístico, declarado además Patrimonio de la Humanidad por la UNESCO</a:t>
            </a:r>
            <a:r>
              <a:rPr lang="es-E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71" name="Google Shape;171;p4"/>
          <p:cNvSpPr txBox="1"/>
          <p:nvPr/>
        </p:nvSpPr>
        <p:spPr>
          <a:xfrm>
            <a:off x="130194" y="1537683"/>
            <a:ext cx="451800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Calibri"/>
                <a:ea typeface="Calibri"/>
                <a:cs typeface="Calibri"/>
                <a:sym typeface="Calibri"/>
              </a:rPr>
              <a:t>Cada año, el Puerto de Valparaíso recibe entre 40 y 50 cruceros internacionales, lo que representa la llegada de cerca de 100.000 a 150.000 visitantes provenientes de distintas partes del mundo durante la temporada alta.</a:t>
            </a:r>
            <a:endParaRPr sz="1800">
              <a:solidFill>
                <a:schemeClr val="dk1"/>
              </a:solidFill>
              <a:latin typeface="Calibri"/>
              <a:ea typeface="Calibri"/>
              <a:cs typeface="Calibri"/>
              <a:sym typeface="Calibri"/>
            </a:endParaRPr>
          </a:p>
        </p:txBody>
      </p:sp>
      <p:sp>
        <p:nvSpPr>
          <p:cNvPr id="172" name="Google Shape;172;p4"/>
          <p:cNvSpPr txBox="1"/>
          <p:nvPr/>
        </p:nvSpPr>
        <p:spPr>
          <a:xfrm>
            <a:off x="129217" y="2348259"/>
            <a:ext cx="458843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Calibri"/>
                <a:ea typeface="Calibri"/>
                <a:cs typeface="Calibri"/>
                <a:sym typeface="Calibri"/>
              </a:rPr>
              <a:t>En enero de 2025, el gasto individual promedio de los turistas alcanzó los USD 544 generando una inyección superior a los 100 millones de dólares en la economía regional solo en ese mes. A nivel global, se estima que más de 4 millones de turistas visitan la ciudad anualmente.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5"/>
          <p:cNvSpPr/>
          <p:nvPr/>
        </p:nvSpPr>
        <p:spPr>
          <a:xfrm>
            <a:off x="775" y="-19787"/>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5"/>
          <p:cNvSpPr/>
          <p:nvPr/>
        </p:nvSpPr>
        <p:spPr>
          <a:xfrm>
            <a:off x="226700" y="933488"/>
            <a:ext cx="4265100" cy="1391400"/>
          </a:xfrm>
          <a:custGeom>
            <a:rect b="b" l="l" r="r" t="t"/>
            <a:pathLst>
              <a:path extrusionOk="0" h="1391400" w="4265100">
                <a:moveTo>
                  <a:pt x="0" y="0"/>
                </a:moveTo>
                <a:lnTo>
                  <a:pt x="4265100" y="0"/>
                </a:lnTo>
                <a:lnTo>
                  <a:pt x="4265100" y="1391400"/>
                </a:lnTo>
                <a:lnTo>
                  <a:pt x="0" y="1391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5"/>
          <p:cNvSpPr/>
          <p:nvPr/>
        </p:nvSpPr>
        <p:spPr>
          <a:xfrm>
            <a:off x="108778" y="85475"/>
            <a:ext cx="2525124" cy="713125"/>
          </a:xfrm>
          <a:custGeom>
            <a:rect b="b" l="l" r="r" t="t"/>
            <a:pathLst>
              <a:path extrusionOk="0" h="713125" w="2525124">
                <a:moveTo>
                  <a:pt x="0" y="0"/>
                </a:moveTo>
                <a:lnTo>
                  <a:pt x="2525124" y="0"/>
                </a:lnTo>
                <a:lnTo>
                  <a:pt x="2525124"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5"/>
          <p:cNvSpPr/>
          <p:nvPr/>
        </p:nvSpPr>
        <p:spPr>
          <a:xfrm>
            <a:off x="226625" y="2357563"/>
            <a:ext cx="4264800" cy="388800"/>
          </a:xfrm>
          <a:custGeom>
            <a:rect b="b" l="l" r="r" t="t"/>
            <a:pathLst>
              <a:path extrusionOk="0" h="388800" w="4264800">
                <a:moveTo>
                  <a:pt x="0" y="64801"/>
                </a:moveTo>
                <a:lnTo>
                  <a:pt x="1612" y="50371"/>
                </a:lnTo>
                <a:lnTo>
                  <a:pt x="6212" y="37078"/>
                </a:lnTo>
                <a:lnTo>
                  <a:pt x="34390" y="7564"/>
                </a:lnTo>
                <a:lnTo>
                  <a:pt x="64801" y="0"/>
                </a:lnTo>
                <a:lnTo>
                  <a:pt x="4199998" y="0"/>
                </a:lnTo>
                <a:lnTo>
                  <a:pt x="4236716" y="11405"/>
                </a:lnTo>
                <a:lnTo>
                  <a:pt x="4263718" y="53008"/>
                </a:lnTo>
                <a:lnTo>
                  <a:pt x="4264800" y="64801"/>
                </a:lnTo>
                <a:lnTo>
                  <a:pt x="4264800" y="323998"/>
                </a:lnTo>
                <a:lnTo>
                  <a:pt x="4251354" y="363524"/>
                </a:lnTo>
                <a:lnTo>
                  <a:pt x="4217407" y="386434"/>
                </a:lnTo>
                <a:lnTo>
                  <a:pt x="4199998" y="388800"/>
                </a:lnTo>
                <a:lnTo>
                  <a:pt x="64801" y="388800"/>
                </a:lnTo>
                <a:lnTo>
                  <a:pt x="25275" y="375353"/>
                </a:lnTo>
                <a:lnTo>
                  <a:pt x="2365" y="341407"/>
                </a:lnTo>
                <a:lnTo>
                  <a:pt x="0" y="323998"/>
                </a:lnTo>
                <a:lnTo>
                  <a:pt x="0" y="64801"/>
                </a:lnTo>
                <a:close/>
              </a:path>
            </a:pathLst>
          </a:custGeom>
          <a:solidFill>
            <a:srgbClr val="F9CB9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5"/>
          <p:cNvSpPr/>
          <p:nvPr/>
        </p:nvSpPr>
        <p:spPr>
          <a:xfrm>
            <a:off x="226625" y="2844388"/>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2" y="0"/>
                </a:lnTo>
                <a:lnTo>
                  <a:pt x="1287260" y="7974"/>
                </a:lnTo>
                <a:lnTo>
                  <a:pt x="1324650" y="37545"/>
                </a:lnTo>
                <a:lnTo>
                  <a:pt x="1341124" y="72514"/>
                </a:lnTo>
                <a:lnTo>
                  <a:pt x="1343700" y="94417"/>
                </a:lnTo>
                <a:lnTo>
                  <a:pt x="1343700" y="1164982"/>
                </a:lnTo>
                <a:lnTo>
                  <a:pt x="1334127" y="1206455"/>
                </a:lnTo>
                <a:lnTo>
                  <a:pt x="1308421" y="1238589"/>
                </a:lnTo>
                <a:lnTo>
                  <a:pt x="1271096" y="1256867"/>
                </a:lnTo>
                <a:lnTo>
                  <a:pt x="1249282"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5"/>
          <p:cNvSpPr/>
          <p:nvPr/>
        </p:nvSpPr>
        <p:spPr>
          <a:xfrm>
            <a:off x="1711634" y="2844388"/>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2" y="0"/>
                </a:lnTo>
                <a:lnTo>
                  <a:pt x="1287260" y="7974"/>
                </a:lnTo>
                <a:lnTo>
                  <a:pt x="1324650" y="37545"/>
                </a:lnTo>
                <a:lnTo>
                  <a:pt x="1341124" y="72514"/>
                </a:lnTo>
                <a:lnTo>
                  <a:pt x="1343700" y="94417"/>
                </a:lnTo>
                <a:lnTo>
                  <a:pt x="1343700" y="1164982"/>
                </a:lnTo>
                <a:lnTo>
                  <a:pt x="1334127" y="1206455"/>
                </a:lnTo>
                <a:lnTo>
                  <a:pt x="1308421" y="1238589"/>
                </a:lnTo>
                <a:lnTo>
                  <a:pt x="1271096" y="1256867"/>
                </a:lnTo>
                <a:lnTo>
                  <a:pt x="1249282"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5"/>
          <p:cNvSpPr/>
          <p:nvPr/>
        </p:nvSpPr>
        <p:spPr>
          <a:xfrm>
            <a:off x="3148169" y="2843563"/>
            <a:ext cx="1343700" cy="1259400"/>
          </a:xfrm>
          <a:custGeom>
            <a:rect b="b" l="l" r="r" t="t"/>
            <a:pathLst>
              <a:path extrusionOk="0" h="1259400" w="1343700">
                <a:moveTo>
                  <a:pt x="0" y="94417"/>
                </a:moveTo>
                <a:lnTo>
                  <a:pt x="1119" y="79834"/>
                </a:lnTo>
                <a:lnTo>
                  <a:pt x="4365" y="65954"/>
                </a:lnTo>
                <a:lnTo>
                  <a:pt x="25196" y="30205"/>
                </a:lnTo>
                <a:lnTo>
                  <a:pt x="59149" y="6807"/>
                </a:lnTo>
                <a:lnTo>
                  <a:pt x="94417" y="0"/>
                </a:lnTo>
                <a:lnTo>
                  <a:pt x="1249283" y="0"/>
                </a:lnTo>
                <a:lnTo>
                  <a:pt x="1287260" y="7974"/>
                </a:lnTo>
                <a:lnTo>
                  <a:pt x="1324650" y="37545"/>
                </a:lnTo>
                <a:lnTo>
                  <a:pt x="1341124" y="72514"/>
                </a:lnTo>
                <a:lnTo>
                  <a:pt x="1343700" y="94417"/>
                </a:lnTo>
                <a:lnTo>
                  <a:pt x="1343700" y="1164982"/>
                </a:lnTo>
                <a:lnTo>
                  <a:pt x="1334127" y="1206455"/>
                </a:lnTo>
                <a:lnTo>
                  <a:pt x="1308421" y="1238589"/>
                </a:lnTo>
                <a:lnTo>
                  <a:pt x="1271097" y="1256867"/>
                </a:lnTo>
                <a:lnTo>
                  <a:pt x="1249283" y="1259400"/>
                </a:lnTo>
                <a:lnTo>
                  <a:pt x="94417" y="1259400"/>
                </a:lnTo>
                <a:lnTo>
                  <a:pt x="52944" y="1249827"/>
                </a:lnTo>
                <a:lnTo>
                  <a:pt x="20810" y="1224121"/>
                </a:lnTo>
                <a:lnTo>
                  <a:pt x="2532" y="1186796"/>
                </a:lnTo>
                <a:lnTo>
                  <a:pt x="0" y="1164982"/>
                </a:lnTo>
                <a:lnTo>
                  <a:pt x="0" y="94417"/>
                </a:lnTo>
                <a:close/>
              </a:path>
            </a:pathLst>
          </a:custGeom>
          <a:solidFill>
            <a:srgbClr val="FCE4C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5"/>
          <p:cNvSpPr/>
          <p:nvPr/>
        </p:nvSpPr>
        <p:spPr>
          <a:xfrm>
            <a:off x="8683025" y="4792100"/>
            <a:ext cx="235800" cy="178800"/>
          </a:xfrm>
          <a:custGeom>
            <a:rect b="b" l="l" r="r" t="t"/>
            <a:pathLst>
              <a:path extrusionOk="0" h="178800" w="235800">
                <a:moveTo>
                  <a:pt x="0" y="0"/>
                </a:moveTo>
                <a:lnTo>
                  <a:pt x="235800" y="0"/>
                </a:lnTo>
                <a:lnTo>
                  <a:pt x="235800" y="178800"/>
                </a:lnTo>
                <a:lnTo>
                  <a:pt x="0" y="178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5"/>
          <p:cNvSpPr/>
          <p:nvPr/>
        </p:nvSpPr>
        <p:spPr>
          <a:xfrm>
            <a:off x="4704228" y="914263"/>
            <a:ext cx="4200300" cy="3858600"/>
          </a:xfrm>
          <a:custGeom>
            <a:rect b="b" l="l" r="r" t="t"/>
            <a:pathLst>
              <a:path extrusionOk="0" h="3858600" w="4200300">
                <a:moveTo>
                  <a:pt x="0" y="0"/>
                </a:moveTo>
                <a:lnTo>
                  <a:pt x="4200300" y="0"/>
                </a:lnTo>
                <a:lnTo>
                  <a:pt x="4200300" y="3858600"/>
                </a:lnTo>
                <a:lnTo>
                  <a:pt x="0" y="38586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5"/>
          <p:cNvSpPr/>
          <p:nvPr/>
        </p:nvSpPr>
        <p:spPr>
          <a:xfrm>
            <a:off x="226700" y="4083475"/>
            <a:ext cx="2153400" cy="388800"/>
          </a:xfrm>
          <a:custGeom>
            <a:rect b="b" l="l" r="r" t="t"/>
            <a:pathLst>
              <a:path extrusionOk="0" h="388800" w="2153400">
                <a:moveTo>
                  <a:pt x="0" y="0"/>
                </a:moveTo>
                <a:lnTo>
                  <a:pt x="2153400" y="0"/>
                </a:lnTo>
                <a:lnTo>
                  <a:pt x="2153400" y="388800"/>
                </a:lnTo>
                <a:lnTo>
                  <a:pt x="0" y="388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5"/>
          <p:cNvSpPr/>
          <p:nvPr/>
        </p:nvSpPr>
        <p:spPr>
          <a:xfrm>
            <a:off x="4900350" y="2357575"/>
            <a:ext cx="978648" cy="978648"/>
          </a:xfrm>
          <a:custGeom>
            <a:rect b="b" l="l" r="r" t="t"/>
            <a:pathLst>
              <a:path extrusionOk="0" h="978648" w="978648">
                <a:moveTo>
                  <a:pt x="0" y="0"/>
                </a:moveTo>
                <a:lnTo>
                  <a:pt x="978648" y="0"/>
                </a:lnTo>
                <a:lnTo>
                  <a:pt x="978648" y="978648"/>
                </a:lnTo>
                <a:lnTo>
                  <a:pt x="0" y="97864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5"/>
          <p:cNvSpPr/>
          <p:nvPr/>
        </p:nvSpPr>
        <p:spPr>
          <a:xfrm>
            <a:off x="4876671" y="3109955"/>
            <a:ext cx="978648" cy="9786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5"/>
          <p:cNvSpPr/>
          <p:nvPr/>
        </p:nvSpPr>
        <p:spPr>
          <a:xfrm>
            <a:off x="4929625" y="3664200"/>
            <a:ext cx="978648" cy="849807"/>
          </a:xfrm>
          <a:custGeom>
            <a:rect b="b" l="l" r="r" t="t"/>
            <a:pathLst>
              <a:path extrusionOk="0" h="849807" w="978648">
                <a:moveTo>
                  <a:pt x="0" y="0"/>
                </a:moveTo>
                <a:lnTo>
                  <a:pt x="978648" y="0"/>
                </a:lnTo>
                <a:lnTo>
                  <a:pt x="978648" y="849807"/>
                </a:lnTo>
                <a:lnTo>
                  <a:pt x="0" y="849807"/>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5"/>
          <p:cNvSpPr txBox="1"/>
          <p:nvPr/>
        </p:nvSpPr>
        <p:spPr>
          <a:xfrm>
            <a:off x="631642" y="2448611"/>
            <a:ext cx="3447907" cy="181884"/>
          </a:xfrm>
          <a:prstGeom prst="rect">
            <a:avLst/>
          </a:prstGeom>
          <a:noFill/>
          <a:ln>
            <a:noFill/>
          </a:ln>
        </p:spPr>
        <p:txBody>
          <a:bodyPr anchorCtr="0" anchor="t" bIns="0" lIns="0" spcFirstLastPara="1" rIns="0" wrap="square" tIns="8525">
            <a:noAutofit/>
          </a:bodyPr>
          <a:lstStyle/>
          <a:p>
            <a:pPr indent="0" lvl="0" marL="12700" marR="0" rtl="0" algn="l">
              <a:lnSpc>
                <a:spcPct val="96071"/>
              </a:lnSpc>
              <a:spcBef>
                <a:spcPts val="0"/>
              </a:spcBef>
              <a:spcAft>
                <a:spcPts val="0"/>
              </a:spcAft>
              <a:buNone/>
            </a:pPr>
            <a:r>
              <a:rPr b="1" lang="es-ES" sz="1400">
                <a:solidFill>
                  <a:schemeClr val="dk1"/>
                </a:solidFill>
                <a:latin typeface="Calibri"/>
                <a:ea typeface="Calibri"/>
                <a:cs typeface="Calibri"/>
                <a:sym typeface="Calibri"/>
              </a:rPr>
              <a:t>Factores que facilitan el sobre turismo</a:t>
            </a:r>
            <a:endParaRPr sz="1400">
              <a:solidFill>
                <a:schemeClr val="dk1"/>
              </a:solidFill>
              <a:latin typeface="Calibri"/>
              <a:ea typeface="Calibri"/>
              <a:cs typeface="Calibri"/>
              <a:sym typeface="Calibri"/>
            </a:endParaRPr>
          </a:p>
        </p:txBody>
      </p:sp>
      <p:sp>
        <p:nvSpPr>
          <p:cNvPr id="196" name="Google Shape;196;p5"/>
          <p:cNvSpPr txBox="1"/>
          <p:nvPr/>
        </p:nvSpPr>
        <p:spPr>
          <a:xfrm>
            <a:off x="54133" y="3156504"/>
            <a:ext cx="1688700" cy="1103700"/>
          </a:xfrm>
          <a:prstGeom prst="rect">
            <a:avLst/>
          </a:prstGeom>
          <a:noFill/>
          <a:ln>
            <a:noFill/>
          </a:ln>
        </p:spPr>
        <p:txBody>
          <a:bodyPr anchorCtr="0" anchor="t" bIns="0" lIns="0" spcFirstLastPara="1" rIns="0" wrap="square" tIns="6650">
            <a:noAutofit/>
          </a:bodyPr>
          <a:lstStyle/>
          <a:p>
            <a:pPr indent="0" lvl="0" marL="195460" marR="195591" rtl="0" algn="ctr">
              <a:lnSpc>
                <a:spcPct val="43750"/>
              </a:lnSpc>
              <a:spcBef>
                <a:spcPts val="0"/>
              </a:spcBef>
              <a:spcAft>
                <a:spcPts val="0"/>
              </a:spcAft>
              <a:buNone/>
            </a:pPr>
            <a:r>
              <a:rPr b="1" lang="es-ES" sz="2400">
                <a:solidFill>
                  <a:schemeClr val="dk1"/>
                </a:solidFill>
                <a:latin typeface="Calibri"/>
                <a:ea typeface="Calibri"/>
                <a:cs typeface="Calibri"/>
                <a:sym typeface="Calibri"/>
              </a:rPr>
              <a:t>55 %</a:t>
            </a:r>
            <a:r>
              <a:rPr b="1" lang="es-ES" sz="1000">
                <a:solidFill>
                  <a:schemeClr val="dk1"/>
                </a:solidFill>
                <a:latin typeface="Calibri"/>
                <a:ea typeface="Calibri"/>
                <a:cs typeface="Calibri"/>
                <a:sym typeface="Calibri"/>
              </a:rPr>
              <a:t> </a:t>
            </a:r>
            <a:endParaRPr b="1" sz="1000">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None/>
            </a:pPr>
            <a:br>
              <a:rPr b="1" lang="es-ES" sz="1000">
                <a:solidFill>
                  <a:schemeClr val="dk1"/>
                </a:solidFill>
                <a:latin typeface="Calibri"/>
                <a:ea typeface="Calibri"/>
                <a:cs typeface="Calibri"/>
                <a:sym typeface="Calibri"/>
              </a:rPr>
            </a:br>
            <a:r>
              <a:rPr b="1" lang="es-ES" sz="1000">
                <a:solidFill>
                  <a:schemeClr val="dk1"/>
                </a:solidFill>
                <a:latin typeface="Calibri"/>
                <a:ea typeface="Calibri"/>
                <a:cs typeface="Calibri"/>
                <a:sym typeface="Calibri"/>
              </a:rPr>
              <a:t>de  turistas no conoce</a:t>
            </a:r>
            <a:endParaRPr b="1" sz="1000">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None/>
            </a:pPr>
            <a:r>
              <a:t/>
            </a:r>
            <a:endParaRPr b="1" sz="1000">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None/>
            </a:pPr>
            <a:r>
              <a:rPr b="1" lang="es-ES" sz="1000">
                <a:solidFill>
                  <a:schemeClr val="dk1"/>
                </a:solidFill>
                <a:latin typeface="Calibri"/>
                <a:ea typeface="Calibri"/>
                <a:cs typeface="Calibri"/>
                <a:sym typeface="Calibri"/>
              </a:rPr>
              <a:t> los riesgos de seguridad</a:t>
            </a:r>
            <a:endParaRPr b="1" sz="1000">
              <a:solidFill>
                <a:schemeClr val="dk1"/>
              </a:solidFill>
              <a:latin typeface="Calibri"/>
              <a:ea typeface="Calibri"/>
              <a:cs typeface="Calibri"/>
              <a:sym typeface="Calibri"/>
            </a:endParaRPr>
          </a:p>
          <a:p>
            <a:pPr indent="0" lvl="0" marL="195460" marR="195591" rtl="0" algn="ctr">
              <a:lnSpc>
                <a:spcPct val="43750"/>
              </a:lnSpc>
              <a:spcBef>
                <a:spcPts val="0"/>
              </a:spcBef>
              <a:spcAft>
                <a:spcPts val="0"/>
              </a:spcAft>
              <a:buNone/>
            </a:pPr>
            <a:r>
              <a:t/>
            </a:r>
            <a:endParaRPr b="1" sz="1000">
              <a:solidFill>
                <a:schemeClr val="dk1"/>
              </a:solidFill>
              <a:latin typeface="Calibri"/>
              <a:ea typeface="Calibri"/>
              <a:cs typeface="Calibri"/>
              <a:sym typeface="Calibri"/>
            </a:endParaRPr>
          </a:p>
          <a:p>
            <a:pPr indent="0" lvl="0" marL="195461" marR="195592" rtl="0" algn="ctr">
              <a:lnSpc>
                <a:spcPct val="43750"/>
              </a:lnSpc>
              <a:spcBef>
                <a:spcPts val="0"/>
              </a:spcBef>
              <a:spcAft>
                <a:spcPts val="0"/>
              </a:spcAft>
              <a:buNone/>
            </a:pPr>
            <a:r>
              <a:rPr b="1" lang="es-ES" sz="1000">
                <a:solidFill>
                  <a:schemeClr val="dk1"/>
                </a:solidFill>
                <a:latin typeface="Calibri"/>
                <a:ea typeface="Calibri"/>
                <a:cs typeface="Calibri"/>
                <a:sym typeface="Calibri"/>
              </a:rPr>
              <a:t> en zonas turísticas.</a:t>
            </a:r>
            <a:endParaRPr sz="1000">
              <a:solidFill>
                <a:schemeClr val="dk1"/>
              </a:solidFill>
              <a:latin typeface="Calibri"/>
              <a:ea typeface="Calibri"/>
              <a:cs typeface="Calibri"/>
              <a:sym typeface="Calibri"/>
            </a:endParaRPr>
          </a:p>
        </p:txBody>
      </p:sp>
      <p:sp>
        <p:nvSpPr>
          <p:cNvPr id="197" name="Google Shape;197;p5"/>
          <p:cNvSpPr txBox="1"/>
          <p:nvPr/>
        </p:nvSpPr>
        <p:spPr>
          <a:xfrm>
            <a:off x="3126384" y="3137250"/>
            <a:ext cx="1343625" cy="747268"/>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None/>
            </a:pPr>
            <a:r>
              <a:rPr b="1" lang="es-ES" sz="2400">
                <a:solidFill>
                  <a:schemeClr val="dk1"/>
                </a:solidFill>
                <a:latin typeface="Calibri"/>
                <a:ea typeface="Calibri"/>
                <a:cs typeface="Calibri"/>
                <a:sym typeface="Calibri"/>
              </a:rPr>
              <a:t>82 %</a:t>
            </a:r>
            <a:r>
              <a:rPr b="1" lang="es-ES" sz="1000">
                <a:solidFill>
                  <a:schemeClr val="dk1"/>
                </a:solidFill>
                <a:latin typeface="Calibri"/>
                <a:ea typeface="Calibri"/>
                <a:cs typeface="Calibri"/>
                <a:sym typeface="Calibri"/>
              </a:rPr>
              <a:t> </a:t>
            </a:r>
            <a:endParaRPr b="1" sz="1000">
              <a:solidFill>
                <a:schemeClr val="dk1"/>
              </a:solidFill>
              <a:latin typeface="Calibri"/>
              <a:ea typeface="Calibri"/>
              <a:cs typeface="Calibri"/>
              <a:sym typeface="Calibri"/>
            </a:endParaRPr>
          </a:p>
          <a:p>
            <a:pPr indent="0" lvl="0" marL="0" marR="0" rtl="0" algn="ctr">
              <a:lnSpc>
                <a:spcPct val="104999"/>
              </a:lnSpc>
              <a:spcBef>
                <a:spcPts val="0"/>
              </a:spcBef>
              <a:spcAft>
                <a:spcPts val="0"/>
              </a:spcAft>
              <a:buNone/>
            </a:pPr>
            <a:r>
              <a:rPr b="1" lang="es-ES" sz="1000">
                <a:solidFill>
                  <a:schemeClr val="dk1"/>
                </a:solidFill>
                <a:latin typeface="Calibri"/>
                <a:ea typeface="Calibri"/>
                <a:cs typeface="Calibri"/>
                <a:sym typeface="Calibri"/>
              </a:rPr>
              <a:t>de los turistas ignoran los horarios recomendados de visita.</a:t>
            </a:r>
            <a:endParaRPr sz="1000">
              <a:solidFill>
                <a:schemeClr val="dk1"/>
              </a:solidFill>
              <a:latin typeface="Calibri"/>
              <a:ea typeface="Calibri"/>
              <a:cs typeface="Calibri"/>
              <a:sym typeface="Calibri"/>
            </a:endParaRPr>
          </a:p>
        </p:txBody>
      </p:sp>
      <p:sp>
        <p:nvSpPr>
          <p:cNvPr id="198" name="Google Shape;198;p5"/>
          <p:cNvSpPr txBox="1"/>
          <p:nvPr/>
        </p:nvSpPr>
        <p:spPr>
          <a:xfrm>
            <a:off x="1625514" y="3149333"/>
            <a:ext cx="1541700" cy="1058400"/>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None/>
            </a:pPr>
            <a:r>
              <a:rPr b="1" lang="es-ES" sz="2400">
                <a:solidFill>
                  <a:schemeClr val="dk1"/>
                </a:solidFill>
                <a:latin typeface="Calibri"/>
                <a:ea typeface="Calibri"/>
                <a:cs typeface="Calibri"/>
                <a:sym typeface="Calibri"/>
              </a:rPr>
              <a:t>68 %</a:t>
            </a:r>
            <a:r>
              <a:rPr b="1" lang="es-ES" sz="1000">
                <a:solidFill>
                  <a:schemeClr val="dk1"/>
                </a:solidFill>
                <a:latin typeface="Calibri"/>
                <a:ea typeface="Calibri"/>
                <a:cs typeface="Calibri"/>
                <a:sym typeface="Calibri"/>
              </a:rPr>
              <a:t> </a:t>
            </a:r>
            <a:endParaRPr b="1" sz="1000">
              <a:solidFill>
                <a:schemeClr val="dk1"/>
              </a:solidFill>
              <a:latin typeface="Calibri"/>
              <a:ea typeface="Calibri"/>
              <a:cs typeface="Calibri"/>
              <a:sym typeface="Calibri"/>
            </a:endParaRPr>
          </a:p>
          <a:p>
            <a:pPr indent="0" lvl="0" marL="0" marR="0" rtl="0" algn="ctr">
              <a:lnSpc>
                <a:spcPct val="43750"/>
              </a:lnSpc>
              <a:spcBef>
                <a:spcPts val="0"/>
              </a:spcBef>
              <a:spcAft>
                <a:spcPts val="0"/>
              </a:spcAft>
              <a:buNone/>
            </a:pPr>
            <a:r>
              <a:t/>
            </a:r>
            <a:endParaRPr b="1" sz="1000">
              <a:solidFill>
                <a:schemeClr val="dk1"/>
              </a:solidFill>
              <a:latin typeface="Calibri"/>
              <a:ea typeface="Calibri"/>
              <a:cs typeface="Calibri"/>
              <a:sym typeface="Calibri"/>
            </a:endParaRPr>
          </a:p>
          <a:p>
            <a:pPr indent="0" lvl="0" marL="0" marR="0" rtl="0" algn="ctr">
              <a:lnSpc>
                <a:spcPct val="104999"/>
              </a:lnSpc>
              <a:spcBef>
                <a:spcPts val="0"/>
              </a:spcBef>
              <a:spcAft>
                <a:spcPts val="0"/>
              </a:spcAft>
              <a:buNone/>
            </a:pPr>
            <a:r>
              <a:rPr b="1" lang="es-ES" sz="1000">
                <a:solidFill>
                  <a:schemeClr val="dk1"/>
                </a:solidFill>
                <a:latin typeface="Calibri"/>
                <a:ea typeface="Calibri"/>
                <a:cs typeface="Calibri"/>
                <a:sym typeface="Calibri"/>
              </a:rPr>
              <a:t>de los turistas no conoce sobre rutas alternativas.</a:t>
            </a:r>
            <a:endParaRPr sz="1000">
              <a:solidFill>
                <a:schemeClr val="dk1"/>
              </a:solidFill>
              <a:latin typeface="Calibri"/>
              <a:ea typeface="Calibri"/>
              <a:cs typeface="Calibri"/>
              <a:sym typeface="Calibri"/>
            </a:endParaRPr>
          </a:p>
        </p:txBody>
      </p:sp>
      <p:sp>
        <p:nvSpPr>
          <p:cNvPr id="199" name="Google Shape;199;p5"/>
          <p:cNvSpPr txBox="1"/>
          <p:nvPr/>
        </p:nvSpPr>
        <p:spPr>
          <a:xfrm>
            <a:off x="193067" y="73871"/>
            <a:ext cx="51835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PROBLEMA</a:t>
            </a:r>
            <a:endParaRPr b="1" sz="2400">
              <a:solidFill>
                <a:schemeClr val="accent5"/>
              </a:solidFill>
              <a:latin typeface="Calibri"/>
              <a:ea typeface="Calibri"/>
              <a:cs typeface="Calibri"/>
              <a:sym typeface="Calibri"/>
            </a:endParaRPr>
          </a:p>
        </p:txBody>
      </p:sp>
      <p:sp>
        <p:nvSpPr>
          <p:cNvPr id="200" name="Google Shape;200;p5"/>
          <p:cNvSpPr txBox="1"/>
          <p:nvPr/>
        </p:nvSpPr>
        <p:spPr>
          <a:xfrm>
            <a:off x="226625" y="690996"/>
            <a:ext cx="4040575"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400">
                <a:solidFill>
                  <a:schemeClr val="dk1"/>
                </a:solidFill>
                <a:latin typeface="Calibri"/>
                <a:ea typeface="Calibri"/>
                <a:cs typeface="Calibri"/>
                <a:sym typeface="Calibri"/>
              </a:rPr>
              <a:t>El overturismo se produce cuando la comuna de Valparaíso recibe un volumen de visitantes superior a su capacidad de gestión, provocando la saturación de la infraestructura urbana y generando impactos negativos en el medio ambiente, la economía local, el patrimonio cultural y la calidad de vida de los residentes.</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Inédito estudio muestra cómo la bahía de Valparaíso acumula microplásticos  hace casi un siglo - La Tercera" id="201" name="Google Shape;201;p5"/>
          <p:cNvPicPr preferRelativeResize="0"/>
          <p:nvPr/>
        </p:nvPicPr>
        <p:blipFill rotWithShape="1">
          <a:blip r:embed="rId6">
            <a:alphaModFix/>
          </a:blip>
          <a:srcRect b="0" l="0" r="0" t="0"/>
          <a:stretch/>
        </p:blipFill>
        <p:spPr>
          <a:xfrm>
            <a:off x="4704159" y="672334"/>
            <a:ext cx="2173061" cy="1616898"/>
          </a:xfrm>
          <a:prstGeom prst="roundRect">
            <a:avLst>
              <a:gd fmla="val 4167" name="adj"/>
            </a:avLst>
          </a:prstGeom>
          <a:solidFill>
            <a:srgbClr val="FFFFFF"/>
          </a:solidFill>
          <a:ln cap="sq" cmpd="sng" w="76200">
            <a:solidFill>
              <a:srgbClr val="292929"/>
            </a:solidFill>
            <a:prstDash val="solid"/>
            <a:miter lim="800000"/>
            <a:headEnd len="sm" w="sm" type="none"/>
            <a:tailEnd len="sm" w="sm" type="none"/>
          </a:ln>
          <a:effectLst>
            <a:reflection blurRad="0" dir="5400000" dist="5000" endA="0" endPos="28000" kx="0" rotWithShape="0" algn="bl" stA="28000" stPos="0" sy="-100000" ky="0"/>
          </a:effectLst>
        </p:spPr>
      </p:pic>
      <p:sp>
        <p:nvSpPr>
          <p:cNvPr id="202" name="Google Shape;202;p5"/>
          <p:cNvSpPr txBox="1"/>
          <p:nvPr/>
        </p:nvSpPr>
        <p:spPr>
          <a:xfrm>
            <a:off x="6064714" y="3174420"/>
            <a:ext cx="2683372" cy="1463318"/>
          </a:xfrm>
          <a:prstGeom prst="rect">
            <a:avLst/>
          </a:prstGeom>
          <a:noFill/>
          <a:ln>
            <a:noFill/>
          </a:ln>
        </p:spPr>
        <p:txBody>
          <a:bodyPr anchorCtr="0" anchor="t" bIns="0" lIns="0" spcFirstLastPara="1" rIns="0" wrap="square" tIns="6650">
            <a:noAutofit/>
          </a:bodyPr>
          <a:lstStyle/>
          <a:p>
            <a:pPr indent="0" lvl="0" marL="0" marR="0" rtl="0" algn="ctr">
              <a:lnSpc>
                <a:spcPct val="43750"/>
              </a:lnSpc>
              <a:spcBef>
                <a:spcPts val="0"/>
              </a:spcBef>
              <a:spcAft>
                <a:spcPts val="0"/>
              </a:spcAft>
              <a:buNone/>
            </a:pPr>
            <a:r>
              <a:rPr b="1" lang="es-ES" sz="2400">
                <a:solidFill>
                  <a:schemeClr val="dk1"/>
                </a:solidFill>
                <a:latin typeface="Calibri"/>
                <a:ea typeface="Calibri"/>
                <a:cs typeface="Calibri"/>
                <a:sym typeface="Calibri"/>
              </a:rPr>
              <a:t>34%</a:t>
            </a:r>
            <a:endParaRPr b="1" sz="1000">
              <a:solidFill>
                <a:schemeClr val="dk1"/>
              </a:solidFill>
              <a:latin typeface="Calibri"/>
              <a:ea typeface="Calibri"/>
              <a:cs typeface="Calibri"/>
              <a:sym typeface="Calibri"/>
            </a:endParaRPr>
          </a:p>
          <a:p>
            <a:pPr indent="0" lvl="0" marL="0" marR="0" rtl="0" algn="ctr">
              <a:lnSpc>
                <a:spcPct val="104999"/>
              </a:lnSpc>
              <a:spcBef>
                <a:spcPts val="0"/>
              </a:spcBef>
              <a:spcAft>
                <a:spcPts val="0"/>
              </a:spcAft>
              <a:buNone/>
            </a:pPr>
            <a:r>
              <a:rPr b="1" lang="es-ES" sz="1000">
                <a:solidFill>
                  <a:schemeClr val="dk1"/>
                </a:solidFill>
                <a:latin typeface="Calibri"/>
                <a:ea typeface="Calibri"/>
                <a:cs typeface="Calibri"/>
                <a:sym typeface="Calibri"/>
              </a:rPr>
              <a:t>de basura corresponde a residuos plásticos en playas locales.</a:t>
            </a:r>
            <a:endParaRPr sz="1000">
              <a:solidFill>
                <a:schemeClr val="dk1"/>
              </a:solidFill>
              <a:latin typeface="Calibri"/>
              <a:ea typeface="Calibri"/>
              <a:cs typeface="Calibri"/>
              <a:sym typeface="Calibri"/>
            </a:endParaRPr>
          </a:p>
        </p:txBody>
      </p:sp>
      <p:sp>
        <p:nvSpPr>
          <p:cNvPr id="203" name="Google Shape;203;p5"/>
          <p:cNvSpPr/>
          <p:nvPr/>
        </p:nvSpPr>
        <p:spPr>
          <a:xfrm>
            <a:off x="5970914" y="2961566"/>
            <a:ext cx="2870972" cy="897854"/>
          </a:xfrm>
          <a:prstGeom prst="ellipse">
            <a:avLst/>
          </a:prstGeom>
          <a:solidFill>
            <a:srgbClr val="B7DEE8">
              <a:alpha val="9803"/>
            </a:srgbClr>
          </a:solidFill>
          <a:ln cap="flat" cmpd="sng" w="25400">
            <a:solidFill>
              <a:srgbClr val="B6DD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p:nvPr/>
        </p:nvSpPr>
        <p:spPr>
          <a:xfrm>
            <a:off x="775" y="0"/>
            <a:ext cx="4717650" cy="5143499"/>
          </a:xfrm>
          <a:custGeom>
            <a:rect b="b" l="l" r="r" t="t"/>
            <a:pathLst>
              <a:path extrusionOk="0" h="5143499" w="4717650">
                <a:moveTo>
                  <a:pt x="4717650" y="0"/>
                </a:moveTo>
                <a:lnTo>
                  <a:pt x="0" y="0"/>
                </a:lnTo>
                <a:lnTo>
                  <a:pt x="0" y="5143499"/>
                </a:lnTo>
                <a:lnTo>
                  <a:pt x="4717650" y="5143499"/>
                </a:lnTo>
                <a:lnTo>
                  <a:pt x="471765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7"/>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7"/>
          <p:cNvSpPr/>
          <p:nvPr/>
        </p:nvSpPr>
        <p:spPr>
          <a:xfrm>
            <a:off x="4718425" y="0"/>
            <a:ext cx="4425574" cy="5143499"/>
          </a:xfrm>
          <a:custGeom>
            <a:rect b="b" l="l" r="r" t="t"/>
            <a:pathLst>
              <a:path extrusionOk="0" h="5143499" w="4425574">
                <a:moveTo>
                  <a:pt x="4425574" y="0"/>
                </a:moveTo>
                <a:lnTo>
                  <a:pt x="0" y="0"/>
                </a:lnTo>
                <a:lnTo>
                  <a:pt x="0" y="5143499"/>
                </a:lnTo>
                <a:lnTo>
                  <a:pt x="4425574" y="5143499"/>
                </a:lnTo>
                <a:lnTo>
                  <a:pt x="442557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7"/>
          <p:cNvSpPr/>
          <p:nvPr/>
        </p:nvSpPr>
        <p:spPr>
          <a:xfrm>
            <a:off x="4718425" y="0"/>
            <a:ext cx="4425574" cy="5143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7"/>
          <p:cNvSpPr/>
          <p:nvPr/>
        </p:nvSpPr>
        <p:spPr>
          <a:xfrm>
            <a:off x="226700" y="859325"/>
            <a:ext cx="4395000" cy="387300"/>
          </a:xfrm>
          <a:custGeom>
            <a:rect b="b" l="l" r="r" t="t"/>
            <a:pathLst>
              <a:path extrusionOk="0" h="387300" w="4395000">
                <a:moveTo>
                  <a:pt x="0" y="0"/>
                </a:moveTo>
                <a:lnTo>
                  <a:pt x="4395000" y="0"/>
                </a:lnTo>
                <a:lnTo>
                  <a:pt x="4395000" y="387300"/>
                </a:lnTo>
                <a:lnTo>
                  <a:pt x="0" y="3873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7"/>
          <p:cNvSpPr/>
          <p:nvPr/>
        </p:nvSpPr>
        <p:spPr>
          <a:xfrm>
            <a:off x="226700" y="1231150"/>
            <a:ext cx="4265100" cy="3050700"/>
          </a:xfrm>
          <a:custGeom>
            <a:rect b="b" l="l" r="r" t="t"/>
            <a:pathLst>
              <a:path extrusionOk="0" h="3050700" w="4265100">
                <a:moveTo>
                  <a:pt x="0" y="0"/>
                </a:moveTo>
                <a:lnTo>
                  <a:pt x="4265100" y="0"/>
                </a:lnTo>
                <a:lnTo>
                  <a:pt x="4265100" y="3050700"/>
                </a:lnTo>
                <a:lnTo>
                  <a:pt x="0" y="30507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7"/>
          <p:cNvSpPr/>
          <p:nvPr/>
        </p:nvSpPr>
        <p:spPr>
          <a:xfrm>
            <a:off x="108778" y="85475"/>
            <a:ext cx="2509600" cy="713125"/>
          </a:xfrm>
          <a:custGeom>
            <a:rect b="b" l="l" r="r" t="t"/>
            <a:pathLst>
              <a:path extrusionOk="0" h="713125" w="2509600">
                <a:moveTo>
                  <a:pt x="0" y="0"/>
                </a:moveTo>
                <a:lnTo>
                  <a:pt x="2509600" y="0"/>
                </a:lnTo>
                <a:lnTo>
                  <a:pt x="2509600" y="713125"/>
                </a:lnTo>
                <a:lnTo>
                  <a:pt x="0" y="7131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7"/>
          <p:cNvSpPr/>
          <p:nvPr/>
        </p:nvSpPr>
        <p:spPr>
          <a:xfrm>
            <a:off x="193067" y="4643876"/>
            <a:ext cx="372243" cy="41796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7"/>
          <p:cNvSpPr/>
          <p:nvPr/>
        </p:nvSpPr>
        <p:spPr>
          <a:xfrm>
            <a:off x="5022623" y="1106925"/>
            <a:ext cx="1641273" cy="1617350"/>
          </a:xfrm>
          <a:custGeom>
            <a:rect b="b" l="l" r="r" t="t"/>
            <a:pathLst>
              <a:path extrusionOk="0" h="1617350" w="1641273">
                <a:moveTo>
                  <a:pt x="0" y="0"/>
                </a:moveTo>
                <a:lnTo>
                  <a:pt x="1641273" y="0"/>
                </a:lnTo>
                <a:lnTo>
                  <a:pt x="1641273" y="1617350"/>
                </a:lnTo>
                <a:lnTo>
                  <a:pt x="0" y="161735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p:nvPr/>
        </p:nvSpPr>
        <p:spPr>
          <a:xfrm>
            <a:off x="1395578" y="3217774"/>
            <a:ext cx="1641274" cy="161735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7"/>
          <p:cNvSpPr txBox="1"/>
          <p:nvPr/>
        </p:nvSpPr>
        <p:spPr>
          <a:xfrm>
            <a:off x="8756050" y="4733180"/>
            <a:ext cx="124968" cy="149860"/>
          </a:xfrm>
          <a:prstGeom prst="rect">
            <a:avLst/>
          </a:prstGeom>
          <a:noFill/>
          <a:ln>
            <a:noFill/>
          </a:ln>
        </p:spPr>
        <p:txBody>
          <a:bodyPr anchorCtr="0" anchor="t" bIns="0" lIns="0" spcFirstLastPara="1" rIns="0" wrap="square" tIns="6650">
            <a:noAutofit/>
          </a:bodyPr>
          <a:lstStyle/>
          <a:p>
            <a:pPr indent="0" lvl="0" marL="12700" marR="0" rtl="0" algn="l">
              <a:lnSpc>
                <a:spcPct val="104999"/>
              </a:lnSpc>
              <a:spcBef>
                <a:spcPts val="0"/>
              </a:spcBef>
              <a:spcAft>
                <a:spcPts val="0"/>
              </a:spcAft>
              <a:buNone/>
            </a:pPr>
            <a:r>
              <a:rPr b="1" lang="es-ES" sz="1000">
                <a:solidFill>
                  <a:srgbClr val="FFFFFF"/>
                </a:solidFill>
                <a:latin typeface="Times New Roman"/>
                <a:ea typeface="Times New Roman"/>
                <a:cs typeface="Times New Roman"/>
                <a:sym typeface="Times New Roman"/>
              </a:rPr>
              <a:t>4</a:t>
            </a:r>
            <a:endParaRPr sz="1000">
              <a:solidFill>
                <a:schemeClr val="dk1"/>
              </a:solidFill>
              <a:latin typeface="Times New Roman"/>
              <a:ea typeface="Times New Roman"/>
              <a:cs typeface="Times New Roman"/>
              <a:sym typeface="Times New Roman"/>
            </a:endParaRPr>
          </a:p>
        </p:txBody>
      </p:sp>
      <p:sp>
        <p:nvSpPr>
          <p:cNvPr id="223" name="Google Shape;223;p7"/>
          <p:cNvSpPr txBox="1"/>
          <p:nvPr/>
        </p:nvSpPr>
        <p:spPr>
          <a:xfrm>
            <a:off x="193066" y="73871"/>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NECESIDAD</a:t>
            </a:r>
            <a:endParaRPr b="1" sz="2400">
              <a:solidFill>
                <a:schemeClr val="accent5"/>
              </a:solidFill>
              <a:latin typeface="Calibri"/>
              <a:ea typeface="Calibri"/>
              <a:cs typeface="Calibri"/>
              <a:sym typeface="Calibri"/>
            </a:endParaRPr>
          </a:p>
        </p:txBody>
      </p:sp>
      <p:sp>
        <p:nvSpPr>
          <p:cNvPr id="224" name="Google Shape;224;p7"/>
          <p:cNvSpPr txBox="1"/>
          <p:nvPr/>
        </p:nvSpPr>
        <p:spPr>
          <a:xfrm>
            <a:off x="173775" y="695152"/>
            <a:ext cx="4428634"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400">
                <a:solidFill>
                  <a:schemeClr val="dk1"/>
                </a:solidFill>
                <a:latin typeface="Calibri"/>
                <a:ea typeface="Calibri"/>
                <a:cs typeface="Calibri"/>
                <a:sym typeface="Calibri"/>
              </a:rPr>
              <a:t>Valparaíso al recibir 4.000.000 de visitantes al año requiere una gestión más eficiente y sostenible del turismo, que permita controlar la afluencia de visitantes, reducir el impacto ambiental, preservar la identidad cultural y económica de la ciudad.</a:t>
            </a:r>
            <a:endParaRPr sz="1400">
              <a:solidFill>
                <a:schemeClr val="dk1"/>
              </a:solidFill>
              <a:latin typeface="Calibri"/>
              <a:ea typeface="Calibri"/>
              <a:cs typeface="Calibri"/>
              <a:sym typeface="Calibri"/>
            </a:endParaRPr>
          </a:p>
        </p:txBody>
      </p:sp>
      <p:sp>
        <p:nvSpPr>
          <p:cNvPr id="225" name="Google Shape;225;p7"/>
          <p:cNvSpPr txBox="1"/>
          <p:nvPr/>
        </p:nvSpPr>
        <p:spPr>
          <a:xfrm>
            <a:off x="144141" y="1864703"/>
            <a:ext cx="4428634"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400">
                <a:solidFill>
                  <a:schemeClr val="dk1"/>
                </a:solidFill>
                <a:latin typeface="Calibri"/>
                <a:ea typeface="Calibri"/>
                <a:cs typeface="Calibri"/>
                <a:sym typeface="Calibri"/>
              </a:rPr>
              <a:t>La ciudad necesita una herramienta capaz de mantener la calidad de vida de los residentes y la experiencia auténtica de los visitantes.</a:t>
            </a:r>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Es urgente Monitorear a los turistas para evitar el overturismo en la comuna de Valparaíso.</a:t>
            </a:r>
            <a:endParaRPr sz="1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8"/>
          <p:cNvSpPr/>
          <p:nvPr/>
        </p:nvSpPr>
        <p:spPr>
          <a:xfrm>
            <a:off x="388"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8"/>
          <p:cNvSpPr/>
          <p:nvPr/>
        </p:nvSpPr>
        <p:spPr>
          <a:xfrm>
            <a:off x="4788313" y="276118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8"/>
          <p:cNvSpPr/>
          <p:nvPr/>
        </p:nvSpPr>
        <p:spPr>
          <a:xfrm>
            <a:off x="5463814" y="805462"/>
            <a:ext cx="766300" cy="79961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8"/>
          <p:cNvSpPr/>
          <p:nvPr/>
        </p:nvSpPr>
        <p:spPr>
          <a:xfrm>
            <a:off x="3017990" y="3442703"/>
            <a:ext cx="688135" cy="596335"/>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8"/>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8"/>
          <p:cNvSpPr/>
          <p:nvPr/>
        </p:nvSpPr>
        <p:spPr>
          <a:xfrm>
            <a:off x="5503132" y="2593848"/>
            <a:ext cx="688200" cy="6882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8"/>
          <p:cNvSpPr/>
          <p:nvPr/>
        </p:nvSpPr>
        <p:spPr>
          <a:xfrm>
            <a:off x="7492538" y="877248"/>
            <a:ext cx="732576" cy="724428"/>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8"/>
          <p:cNvSpPr/>
          <p:nvPr/>
        </p:nvSpPr>
        <p:spPr>
          <a:xfrm>
            <a:off x="5480688" y="3346662"/>
            <a:ext cx="688123" cy="688099"/>
          </a:xfrm>
          <a:custGeom>
            <a:rect b="b" l="l" r="r" t="t"/>
            <a:pathLst>
              <a:path extrusionOk="0" h="688099" w="688123">
                <a:moveTo>
                  <a:pt x="0" y="0"/>
                </a:moveTo>
                <a:lnTo>
                  <a:pt x="688123" y="0"/>
                </a:lnTo>
                <a:lnTo>
                  <a:pt x="688123" y="688099"/>
                </a:lnTo>
                <a:lnTo>
                  <a:pt x="0" y="688099"/>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8"/>
          <p:cNvSpPr/>
          <p:nvPr/>
        </p:nvSpPr>
        <p:spPr>
          <a:xfrm>
            <a:off x="1022110" y="3396837"/>
            <a:ext cx="688200" cy="68820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8"/>
          <p:cNvSpPr/>
          <p:nvPr/>
        </p:nvSpPr>
        <p:spPr>
          <a:xfrm>
            <a:off x="4824775" y="294413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8"/>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8"/>
          <p:cNvSpPr/>
          <p:nvPr/>
        </p:nvSpPr>
        <p:spPr>
          <a:xfrm>
            <a:off x="6745330" y="4224206"/>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8"/>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8"/>
          <p:cNvSpPr txBox="1"/>
          <p:nvPr/>
        </p:nvSpPr>
        <p:spPr>
          <a:xfrm>
            <a:off x="5024585" y="1687991"/>
            <a:ext cx="1656842" cy="246808"/>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None/>
            </a:pPr>
            <a:r>
              <a:rPr b="1" lang="es-ES" sz="1000">
                <a:solidFill>
                  <a:srgbClr val="434343"/>
                </a:solidFill>
                <a:latin typeface="Calibri"/>
                <a:ea typeface="Calibri"/>
                <a:cs typeface="Calibri"/>
                <a:sym typeface="Calibri"/>
              </a:rPr>
              <a:t>Mapa de densidad en vivo</a:t>
            </a:r>
            <a:endParaRPr sz="1000">
              <a:solidFill>
                <a:schemeClr val="dk1"/>
              </a:solidFill>
              <a:latin typeface="Calibri"/>
              <a:ea typeface="Calibri"/>
              <a:cs typeface="Calibri"/>
              <a:sym typeface="Calibri"/>
            </a:endParaRPr>
          </a:p>
        </p:txBody>
      </p:sp>
      <p:sp>
        <p:nvSpPr>
          <p:cNvPr id="267" name="Google Shape;267;p8"/>
          <p:cNvSpPr txBox="1"/>
          <p:nvPr/>
        </p:nvSpPr>
        <p:spPr>
          <a:xfrm>
            <a:off x="7172741" y="1716686"/>
            <a:ext cx="1366393"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None/>
            </a:pPr>
            <a:r>
              <a:rPr b="1" lang="es-ES" sz="1000">
                <a:solidFill>
                  <a:srgbClr val="434343"/>
                </a:solidFill>
                <a:latin typeface="Calibri"/>
                <a:ea typeface="Calibri"/>
                <a:cs typeface="Calibri"/>
                <a:sym typeface="Calibri"/>
              </a:rPr>
              <a:t>Sugerencias de visita</a:t>
            </a:r>
            <a:endParaRPr sz="1000">
              <a:solidFill>
                <a:schemeClr val="dk1"/>
              </a:solidFill>
              <a:latin typeface="Calibri"/>
              <a:ea typeface="Calibri"/>
              <a:cs typeface="Calibri"/>
              <a:sym typeface="Calibri"/>
            </a:endParaRPr>
          </a:p>
        </p:txBody>
      </p:sp>
      <p:sp>
        <p:nvSpPr>
          <p:cNvPr id="268" name="Google Shape;268;p8"/>
          <p:cNvSpPr txBox="1"/>
          <p:nvPr/>
        </p:nvSpPr>
        <p:spPr>
          <a:xfrm>
            <a:off x="5006847" y="1842859"/>
            <a:ext cx="2031752" cy="233922"/>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None/>
            </a:pPr>
            <a:r>
              <a:rPr lang="es-ES" sz="800">
                <a:solidFill>
                  <a:srgbClr val="434343"/>
                </a:solidFill>
                <a:latin typeface="Calibri"/>
                <a:ea typeface="Calibri"/>
                <a:cs typeface="Calibri"/>
                <a:sym typeface="Calibri"/>
              </a:rPr>
              <a:t>Monitoreamos el ﬂujo de gente de forma</a:t>
            </a:r>
            <a:endParaRPr sz="800">
              <a:solidFill>
                <a:schemeClr val="dk1"/>
              </a:solidFill>
              <a:latin typeface="Calibri"/>
              <a:ea typeface="Calibri"/>
              <a:cs typeface="Calibri"/>
              <a:sym typeface="Calibri"/>
            </a:endParaRPr>
          </a:p>
        </p:txBody>
      </p:sp>
      <p:sp>
        <p:nvSpPr>
          <p:cNvPr id="269" name="Google Shape;269;p8"/>
          <p:cNvSpPr txBox="1"/>
          <p:nvPr/>
        </p:nvSpPr>
        <p:spPr>
          <a:xfrm>
            <a:off x="7040334" y="1890713"/>
            <a:ext cx="1637957" cy="327659"/>
          </a:xfrm>
          <a:prstGeom prst="rect">
            <a:avLst/>
          </a:prstGeom>
          <a:noFill/>
          <a:ln>
            <a:noFill/>
          </a:ln>
        </p:spPr>
        <p:txBody>
          <a:bodyPr anchorCtr="0" anchor="t" bIns="0" lIns="0" spcFirstLastPara="1" rIns="0" wrap="square" tIns="4975">
            <a:noAutofit/>
          </a:bodyPr>
          <a:lstStyle/>
          <a:p>
            <a:pPr indent="0" lvl="0" marL="69832" marR="69917" rtl="0" algn="ctr">
              <a:lnSpc>
                <a:spcPct val="98125"/>
              </a:lnSpc>
              <a:spcBef>
                <a:spcPts val="0"/>
              </a:spcBef>
              <a:spcAft>
                <a:spcPts val="0"/>
              </a:spcAft>
              <a:buNone/>
            </a:pPr>
            <a:r>
              <a:rPr lang="es-ES" sz="800">
                <a:solidFill>
                  <a:srgbClr val="434343"/>
                </a:solidFill>
                <a:latin typeface="Calibri"/>
                <a:ea typeface="Calibri"/>
                <a:cs typeface="Calibri"/>
                <a:sym typeface="Calibri"/>
              </a:rPr>
              <a:t>La app crea sugerencias dinámicas,</a:t>
            </a:r>
            <a:endParaRPr sz="800">
              <a:solidFill>
                <a:schemeClr val="dk1"/>
              </a:solidFill>
              <a:latin typeface="Calibri"/>
              <a:ea typeface="Calibri"/>
              <a:cs typeface="Calibri"/>
              <a:sym typeface="Calibri"/>
            </a:endParaRPr>
          </a:p>
          <a:p>
            <a:pPr indent="0" lvl="0" marL="5033" marR="5033" rtl="0" algn="ctr">
              <a:lnSpc>
                <a:spcPct val="100041"/>
              </a:lnSpc>
              <a:spcBef>
                <a:spcPts val="0"/>
              </a:spcBef>
              <a:spcAft>
                <a:spcPts val="0"/>
              </a:spcAft>
              <a:buNone/>
            </a:pPr>
            <a:r>
              <a:rPr lang="es-ES" sz="800">
                <a:solidFill>
                  <a:srgbClr val="434343"/>
                </a:solidFill>
                <a:latin typeface="Calibri"/>
                <a:ea typeface="Calibri"/>
                <a:cs typeface="Calibri"/>
                <a:sym typeface="Calibri"/>
              </a:rPr>
              <a:t>basadas en la información en vivo de la densidad en lugares clave</a:t>
            </a:r>
            <a:endParaRPr sz="800">
              <a:solidFill>
                <a:schemeClr val="dk1"/>
              </a:solidFill>
              <a:latin typeface="Calibri"/>
              <a:ea typeface="Calibri"/>
              <a:cs typeface="Calibri"/>
              <a:sym typeface="Calibri"/>
            </a:endParaRPr>
          </a:p>
        </p:txBody>
      </p:sp>
      <p:sp>
        <p:nvSpPr>
          <p:cNvPr id="270" name="Google Shape;270;p8"/>
          <p:cNvSpPr txBox="1"/>
          <p:nvPr/>
        </p:nvSpPr>
        <p:spPr>
          <a:xfrm>
            <a:off x="5003796" y="2012908"/>
            <a:ext cx="1931630" cy="257074"/>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None/>
            </a:pPr>
            <a:r>
              <a:rPr lang="es-ES" sz="800">
                <a:solidFill>
                  <a:srgbClr val="434343"/>
                </a:solidFill>
                <a:latin typeface="Calibri"/>
                <a:ea typeface="Calibri"/>
                <a:cs typeface="Calibri"/>
                <a:sym typeface="Calibri"/>
              </a:rPr>
              <a:t>histórica y en vivo para entregar</a:t>
            </a:r>
            <a:endParaRPr sz="800">
              <a:solidFill>
                <a:schemeClr val="dk1"/>
              </a:solidFill>
              <a:latin typeface="Calibri"/>
              <a:ea typeface="Calibri"/>
              <a:cs typeface="Calibri"/>
              <a:sym typeface="Calibri"/>
            </a:endParaRPr>
          </a:p>
          <a:p>
            <a:pPr indent="0" lvl="0" marL="101773" marR="108652" rtl="0" algn="ctr">
              <a:lnSpc>
                <a:spcPct val="95825"/>
              </a:lnSpc>
              <a:spcBef>
                <a:spcPts val="0"/>
              </a:spcBef>
              <a:spcAft>
                <a:spcPts val="0"/>
              </a:spcAft>
              <a:buNone/>
            </a:pPr>
            <a:r>
              <a:rPr lang="es-ES" sz="800">
                <a:solidFill>
                  <a:srgbClr val="434343"/>
                </a:solidFill>
                <a:latin typeface="Calibri"/>
                <a:ea typeface="Calibri"/>
                <a:cs typeface="Calibri"/>
                <a:sym typeface="Calibri"/>
              </a:rPr>
              <a:t>información en tiempo real</a:t>
            </a:r>
            <a:endParaRPr sz="800">
              <a:solidFill>
                <a:schemeClr val="dk1"/>
              </a:solidFill>
              <a:latin typeface="Calibri"/>
              <a:ea typeface="Calibri"/>
              <a:cs typeface="Calibri"/>
              <a:sym typeface="Calibri"/>
            </a:endParaRPr>
          </a:p>
        </p:txBody>
      </p:sp>
      <p:sp>
        <p:nvSpPr>
          <p:cNvPr id="271" name="Google Shape;271;p8"/>
          <p:cNvSpPr txBox="1"/>
          <p:nvPr/>
        </p:nvSpPr>
        <p:spPr>
          <a:xfrm>
            <a:off x="4976485" y="3380156"/>
            <a:ext cx="1778100"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None/>
            </a:pPr>
            <a:r>
              <a:rPr b="1" lang="es-ES" sz="1000">
                <a:solidFill>
                  <a:srgbClr val="434343"/>
                </a:solidFill>
                <a:latin typeface="Calibri"/>
                <a:ea typeface="Calibri"/>
                <a:cs typeface="Calibri"/>
                <a:sym typeface="Calibri"/>
              </a:rPr>
              <a:t>Reduce el tiempo de espera</a:t>
            </a:r>
            <a:endParaRPr sz="1000">
              <a:solidFill>
                <a:schemeClr val="dk1"/>
              </a:solidFill>
              <a:latin typeface="Calibri"/>
              <a:ea typeface="Calibri"/>
              <a:cs typeface="Calibri"/>
              <a:sym typeface="Calibri"/>
            </a:endParaRPr>
          </a:p>
        </p:txBody>
      </p:sp>
      <p:sp>
        <p:nvSpPr>
          <p:cNvPr id="272" name="Google Shape;272;p8"/>
          <p:cNvSpPr txBox="1"/>
          <p:nvPr/>
        </p:nvSpPr>
        <p:spPr>
          <a:xfrm>
            <a:off x="4960770" y="3562591"/>
            <a:ext cx="1999200" cy="392700"/>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None/>
            </a:pPr>
            <a:r>
              <a:rPr lang="es-ES" sz="800">
                <a:solidFill>
                  <a:srgbClr val="434343"/>
                </a:solidFill>
                <a:latin typeface="Calibri"/>
                <a:ea typeface="Calibri"/>
                <a:cs typeface="Calibri"/>
                <a:sym typeface="Calibri"/>
              </a:rPr>
              <a:t>Migratio  ayuda la planiﬁcación para visitar</a:t>
            </a:r>
            <a:endParaRPr sz="800">
              <a:solidFill>
                <a:schemeClr val="dk1"/>
              </a:solidFill>
              <a:latin typeface="Calibri"/>
              <a:ea typeface="Calibri"/>
              <a:cs typeface="Calibri"/>
              <a:sym typeface="Calibri"/>
            </a:endParaRPr>
          </a:p>
        </p:txBody>
      </p:sp>
      <p:sp>
        <p:nvSpPr>
          <p:cNvPr id="273" name="Google Shape;273;p8"/>
          <p:cNvSpPr txBox="1"/>
          <p:nvPr/>
        </p:nvSpPr>
        <p:spPr>
          <a:xfrm>
            <a:off x="5044248" y="3662239"/>
            <a:ext cx="1668300" cy="198300"/>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None/>
            </a:pPr>
            <a:r>
              <a:rPr lang="es-ES" sz="800">
                <a:solidFill>
                  <a:srgbClr val="434343"/>
                </a:solidFill>
                <a:latin typeface="Calibri"/>
                <a:ea typeface="Calibri"/>
                <a:cs typeface="Calibri"/>
                <a:sym typeface="Calibri"/>
              </a:rPr>
              <a:t>lugares, así mismo como organizar y</a:t>
            </a:r>
            <a:endParaRPr sz="800">
              <a:solidFill>
                <a:schemeClr val="dk1"/>
              </a:solidFill>
              <a:latin typeface="Calibri"/>
              <a:ea typeface="Calibri"/>
              <a:cs typeface="Calibri"/>
              <a:sym typeface="Calibri"/>
            </a:endParaRPr>
          </a:p>
          <a:p>
            <a:pPr indent="0" lvl="0" marL="375255" marR="382350" rtl="0" algn="ctr">
              <a:lnSpc>
                <a:spcPct val="95825"/>
              </a:lnSpc>
              <a:spcBef>
                <a:spcPts val="0"/>
              </a:spcBef>
              <a:spcAft>
                <a:spcPts val="0"/>
              </a:spcAft>
              <a:buNone/>
            </a:pPr>
            <a:r>
              <a:rPr lang="es-ES" sz="800">
                <a:solidFill>
                  <a:srgbClr val="434343"/>
                </a:solidFill>
                <a:latin typeface="Calibri"/>
                <a:ea typeface="Calibri"/>
                <a:cs typeface="Calibri"/>
                <a:sym typeface="Calibri"/>
              </a:rPr>
              <a:t>optimizar su viaje</a:t>
            </a:r>
            <a:endParaRPr sz="800">
              <a:solidFill>
                <a:schemeClr val="dk1"/>
              </a:solidFill>
              <a:latin typeface="Calibri"/>
              <a:ea typeface="Calibri"/>
              <a:cs typeface="Calibri"/>
              <a:sym typeface="Calibri"/>
            </a:endParaRPr>
          </a:p>
        </p:txBody>
      </p:sp>
      <p:sp>
        <p:nvSpPr>
          <p:cNvPr id="274" name="Google Shape;274;p8"/>
          <p:cNvSpPr txBox="1"/>
          <p:nvPr/>
        </p:nvSpPr>
        <p:spPr>
          <a:xfrm>
            <a:off x="441367" y="4137221"/>
            <a:ext cx="1803781"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None/>
            </a:pPr>
            <a:r>
              <a:rPr b="1" lang="es-ES" sz="1000">
                <a:solidFill>
                  <a:srgbClr val="434343"/>
                </a:solidFill>
                <a:latin typeface="Calibri"/>
                <a:ea typeface="Calibri"/>
                <a:cs typeface="Calibri"/>
                <a:sym typeface="Calibri"/>
              </a:rPr>
              <a:t>Reducir la huella del turismo</a:t>
            </a:r>
            <a:endParaRPr sz="1000">
              <a:solidFill>
                <a:schemeClr val="dk1"/>
              </a:solidFill>
              <a:latin typeface="Calibri"/>
              <a:ea typeface="Calibri"/>
              <a:cs typeface="Calibri"/>
              <a:sym typeface="Calibri"/>
            </a:endParaRPr>
          </a:p>
        </p:txBody>
      </p:sp>
      <p:sp>
        <p:nvSpPr>
          <p:cNvPr id="275" name="Google Shape;275;p8"/>
          <p:cNvSpPr txBox="1"/>
          <p:nvPr/>
        </p:nvSpPr>
        <p:spPr>
          <a:xfrm>
            <a:off x="2537411" y="4137221"/>
            <a:ext cx="1643634" cy="152400"/>
          </a:xfrm>
          <a:prstGeom prst="rect">
            <a:avLst/>
          </a:prstGeom>
          <a:noFill/>
          <a:ln>
            <a:noFill/>
          </a:ln>
        </p:spPr>
        <p:txBody>
          <a:bodyPr anchorCtr="0" anchor="t" bIns="0" lIns="0" spcFirstLastPara="1" rIns="0" wrap="square" tIns="6850">
            <a:noAutofit/>
          </a:bodyPr>
          <a:lstStyle/>
          <a:p>
            <a:pPr indent="0" lvl="0" marL="12700" marR="0" rtl="0" algn="l">
              <a:lnSpc>
                <a:spcPct val="108000"/>
              </a:lnSpc>
              <a:spcBef>
                <a:spcPts val="0"/>
              </a:spcBef>
              <a:spcAft>
                <a:spcPts val="0"/>
              </a:spcAft>
              <a:buNone/>
            </a:pPr>
            <a:r>
              <a:rPr b="1" lang="es-ES" sz="1000">
                <a:solidFill>
                  <a:srgbClr val="434343"/>
                </a:solidFill>
                <a:latin typeface="Calibri"/>
                <a:ea typeface="Calibri"/>
                <a:cs typeface="Calibri"/>
                <a:sym typeface="Calibri"/>
              </a:rPr>
              <a:t>Activa comunidad en vivo</a:t>
            </a:r>
            <a:endParaRPr sz="1000">
              <a:solidFill>
                <a:schemeClr val="dk1"/>
              </a:solidFill>
              <a:latin typeface="Calibri"/>
              <a:ea typeface="Calibri"/>
              <a:cs typeface="Calibri"/>
              <a:sym typeface="Calibri"/>
            </a:endParaRPr>
          </a:p>
        </p:txBody>
      </p:sp>
      <p:sp>
        <p:nvSpPr>
          <p:cNvPr id="276" name="Google Shape;276;p8"/>
          <p:cNvSpPr txBox="1"/>
          <p:nvPr/>
        </p:nvSpPr>
        <p:spPr>
          <a:xfrm>
            <a:off x="356588" y="4299820"/>
            <a:ext cx="1982700" cy="239700"/>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None/>
            </a:pPr>
            <a:r>
              <a:rPr lang="es-ES" sz="800">
                <a:solidFill>
                  <a:srgbClr val="434343"/>
                </a:solidFill>
                <a:latin typeface="Calibri"/>
                <a:ea typeface="Calibri"/>
                <a:cs typeface="Calibri"/>
                <a:sym typeface="Calibri"/>
              </a:rPr>
              <a:t>Dinámicamente distribuyendo los turistas</a:t>
            </a:r>
            <a:endParaRPr sz="800">
              <a:solidFill>
                <a:schemeClr val="dk1"/>
              </a:solidFill>
              <a:latin typeface="Calibri"/>
              <a:ea typeface="Calibri"/>
              <a:cs typeface="Calibri"/>
              <a:sym typeface="Calibri"/>
            </a:endParaRPr>
          </a:p>
          <a:p>
            <a:pPr indent="0" lvl="0" marL="13144" marR="444" rtl="0" algn="l">
              <a:lnSpc>
                <a:spcPct val="95825"/>
              </a:lnSpc>
              <a:spcBef>
                <a:spcPts val="0"/>
              </a:spcBef>
              <a:spcAft>
                <a:spcPts val="0"/>
              </a:spcAft>
              <a:buNone/>
            </a:pPr>
            <a:r>
              <a:rPr lang="es-ES" sz="800">
                <a:solidFill>
                  <a:srgbClr val="434343"/>
                </a:solidFill>
                <a:latin typeface="Calibri"/>
                <a:ea typeface="Calibri"/>
                <a:cs typeface="Calibri"/>
                <a:sym typeface="Calibri"/>
              </a:rPr>
              <a:t>en sitios clave.  Migratio  ayuda a reducir el</a:t>
            </a:r>
            <a:endParaRPr sz="800">
              <a:solidFill>
                <a:schemeClr val="dk1"/>
              </a:solidFill>
              <a:latin typeface="Calibri"/>
              <a:ea typeface="Calibri"/>
              <a:cs typeface="Calibri"/>
              <a:sym typeface="Calibri"/>
            </a:endParaRPr>
          </a:p>
        </p:txBody>
      </p:sp>
      <p:sp>
        <p:nvSpPr>
          <p:cNvPr id="277" name="Google Shape;277;p8"/>
          <p:cNvSpPr txBox="1"/>
          <p:nvPr/>
        </p:nvSpPr>
        <p:spPr>
          <a:xfrm>
            <a:off x="2479596" y="4317048"/>
            <a:ext cx="2016256" cy="326827"/>
          </a:xfrm>
          <a:prstGeom prst="rect">
            <a:avLst/>
          </a:prstGeom>
          <a:noFill/>
          <a:ln>
            <a:noFill/>
          </a:ln>
        </p:spPr>
        <p:txBody>
          <a:bodyPr anchorCtr="0" anchor="t" bIns="0" lIns="0" spcFirstLastPara="1" rIns="0" wrap="square" tIns="4975">
            <a:noAutofit/>
          </a:bodyPr>
          <a:lstStyle/>
          <a:p>
            <a:pPr indent="0" lvl="0" marL="0" marR="0" rtl="0" algn="ctr">
              <a:lnSpc>
                <a:spcPct val="98125"/>
              </a:lnSpc>
              <a:spcBef>
                <a:spcPts val="0"/>
              </a:spcBef>
              <a:spcAft>
                <a:spcPts val="0"/>
              </a:spcAft>
              <a:buNone/>
            </a:pPr>
            <a:r>
              <a:rPr lang="es-ES" sz="800">
                <a:solidFill>
                  <a:srgbClr val="434343"/>
                </a:solidFill>
                <a:latin typeface="Calibri"/>
                <a:ea typeface="Calibri"/>
                <a:cs typeface="Calibri"/>
                <a:sym typeface="Calibri"/>
              </a:rPr>
              <a:t>Buscamos crear una  comunidad en donde</a:t>
            </a:r>
            <a:endParaRPr sz="800">
              <a:solidFill>
                <a:schemeClr val="dk1"/>
              </a:solidFill>
              <a:latin typeface="Calibri"/>
              <a:ea typeface="Calibri"/>
              <a:cs typeface="Calibri"/>
              <a:sym typeface="Calibri"/>
            </a:endParaRPr>
          </a:p>
          <a:p>
            <a:pPr indent="0" lvl="0" marL="28312" marR="34826" rtl="0" algn="ctr">
              <a:lnSpc>
                <a:spcPct val="100041"/>
              </a:lnSpc>
              <a:spcBef>
                <a:spcPts val="0"/>
              </a:spcBef>
              <a:spcAft>
                <a:spcPts val="0"/>
              </a:spcAft>
              <a:buNone/>
            </a:pPr>
            <a:r>
              <a:rPr lang="es-ES" sz="800">
                <a:solidFill>
                  <a:srgbClr val="434343"/>
                </a:solidFill>
                <a:latin typeface="Calibri"/>
                <a:ea typeface="Calibri"/>
                <a:cs typeface="Calibri"/>
                <a:sym typeface="Calibri"/>
              </a:rPr>
              <a:t>cada usuario tiene un impacto positivo al momento de viajar.</a:t>
            </a:r>
            <a:endParaRPr sz="800">
              <a:solidFill>
                <a:schemeClr val="dk1"/>
              </a:solidFill>
              <a:latin typeface="Calibri"/>
              <a:ea typeface="Calibri"/>
              <a:cs typeface="Calibri"/>
              <a:sym typeface="Calibri"/>
            </a:endParaRPr>
          </a:p>
        </p:txBody>
      </p:sp>
      <p:sp>
        <p:nvSpPr>
          <p:cNvPr id="278" name="Google Shape;278;p8"/>
          <p:cNvSpPr txBox="1"/>
          <p:nvPr/>
        </p:nvSpPr>
        <p:spPr>
          <a:xfrm>
            <a:off x="933496" y="4531783"/>
            <a:ext cx="973472" cy="103717"/>
          </a:xfrm>
          <a:prstGeom prst="rect">
            <a:avLst/>
          </a:prstGeom>
          <a:noFill/>
          <a:ln>
            <a:noFill/>
          </a:ln>
        </p:spPr>
        <p:txBody>
          <a:bodyPr anchorCtr="0" anchor="t" bIns="0" lIns="0" spcFirstLastPara="1" rIns="0" wrap="square" tIns="4975">
            <a:noAutofit/>
          </a:bodyPr>
          <a:lstStyle/>
          <a:p>
            <a:pPr indent="0" lvl="0" marL="12700" marR="0" rtl="0" algn="l">
              <a:lnSpc>
                <a:spcPct val="98125"/>
              </a:lnSpc>
              <a:spcBef>
                <a:spcPts val="0"/>
              </a:spcBef>
              <a:spcAft>
                <a:spcPts val="0"/>
              </a:spcAft>
              <a:buNone/>
            </a:pPr>
            <a:r>
              <a:rPr lang="es-ES" sz="800">
                <a:solidFill>
                  <a:srgbClr val="434343"/>
                </a:solidFill>
                <a:latin typeface="Calibri"/>
                <a:ea typeface="Calibri"/>
                <a:cs typeface="Calibri"/>
                <a:sym typeface="Calibri"/>
              </a:rPr>
              <a:t>impacto turístico</a:t>
            </a:r>
            <a:r>
              <a:rPr lang="es-ES" sz="700">
                <a:solidFill>
                  <a:srgbClr val="434343"/>
                </a:solidFill>
                <a:latin typeface="Calibri"/>
                <a:ea typeface="Calibri"/>
                <a:cs typeface="Calibri"/>
                <a:sym typeface="Calibri"/>
              </a:rPr>
              <a:t>.</a:t>
            </a:r>
            <a:endParaRPr sz="700">
              <a:solidFill>
                <a:schemeClr val="dk1"/>
              </a:solidFill>
              <a:latin typeface="Calibri"/>
              <a:ea typeface="Calibri"/>
              <a:cs typeface="Calibri"/>
              <a:sym typeface="Calibri"/>
            </a:endParaRPr>
          </a:p>
        </p:txBody>
      </p:sp>
      <p:sp>
        <p:nvSpPr>
          <p:cNvPr id="279" name="Google Shape;279;p8"/>
          <p:cNvSpPr txBox="1"/>
          <p:nvPr/>
        </p:nvSpPr>
        <p:spPr>
          <a:xfrm>
            <a:off x="250814" y="16666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SOLUCIÓN</a:t>
            </a:r>
            <a:endParaRPr b="1" sz="2400">
              <a:solidFill>
                <a:schemeClr val="accent5"/>
              </a:solidFill>
              <a:latin typeface="Calibri"/>
              <a:ea typeface="Calibri"/>
              <a:cs typeface="Calibri"/>
              <a:sym typeface="Calibri"/>
            </a:endParaRPr>
          </a:p>
        </p:txBody>
      </p:sp>
      <p:sp>
        <p:nvSpPr>
          <p:cNvPr id="280" name="Google Shape;280;p8"/>
          <p:cNvSpPr txBox="1"/>
          <p:nvPr/>
        </p:nvSpPr>
        <p:spPr>
          <a:xfrm>
            <a:off x="198679" y="686859"/>
            <a:ext cx="4762021"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400">
                <a:solidFill>
                  <a:schemeClr val="dk1"/>
                </a:solidFill>
                <a:latin typeface="Calibri"/>
                <a:ea typeface="Calibri"/>
                <a:cs typeface="Calibri"/>
                <a:sym typeface="Calibri"/>
              </a:rPr>
              <a:t>Migratio es una innovadora aplicación móvil que combina tecnología avanzada e inteligencia artificial en cámaras de seguridad para enfrentar el overturismo de manera eficiente. Nuestra plataforma no solo monitorea los flujos de visitantes en tiempo real, sino que también ofrece soluciones inteligentes para distribuir la afluencia turística, proteger el patrimonio cultural y natural, y garantizar una experiencia de viaje más sostenible y segura para todos. Con Migratio, transformamos la gestión del turismo en un modelo innovador, responsable y escalable, que beneficia tanto a las comunidades locales como a los turistas.</a:t>
            </a:r>
            <a:endParaRPr sz="1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9"/>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9"/>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ARQUITECTURA</a:t>
            </a:r>
            <a:endParaRPr b="1" sz="2400">
              <a:solidFill>
                <a:schemeClr val="accent5"/>
              </a:solidFill>
              <a:latin typeface="Calibri"/>
              <a:ea typeface="Calibri"/>
              <a:cs typeface="Calibri"/>
              <a:sym typeface="Calibri"/>
            </a:endParaRPr>
          </a:p>
        </p:txBody>
      </p:sp>
      <p:pic>
        <p:nvPicPr>
          <p:cNvPr id="317" name="Google Shape;317;p9" title="Captura de pantalla 2025-10-16 a la(s) 11.56.27 a.m..png"/>
          <p:cNvPicPr preferRelativeResize="0"/>
          <p:nvPr/>
        </p:nvPicPr>
        <p:blipFill rotWithShape="1">
          <a:blip r:embed="rId5">
            <a:alphaModFix/>
          </a:blip>
          <a:srcRect b="11730" l="0" r="0" t="0"/>
          <a:stretch/>
        </p:blipFill>
        <p:spPr>
          <a:xfrm>
            <a:off x="543488" y="538013"/>
            <a:ext cx="8057024" cy="4055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1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0"/>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MODELO DE DATO Modelo Entidad </a:t>
            </a:r>
            <a:r>
              <a:rPr b="1" lang="es-ES" sz="2400">
                <a:solidFill>
                  <a:schemeClr val="accent5"/>
                </a:solidFill>
                <a:latin typeface="Calibri"/>
                <a:ea typeface="Calibri"/>
                <a:cs typeface="Calibri"/>
                <a:sym typeface="Calibri"/>
              </a:rPr>
              <a:t>Relación</a:t>
            </a:r>
            <a:endParaRPr b="1" sz="2400">
              <a:solidFill>
                <a:schemeClr val="accent5"/>
              </a:solidFill>
              <a:latin typeface="Calibri"/>
              <a:ea typeface="Calibri"/>
              <a:cs typeface="Calibri"/>
              <a:sym typeface="Calibri"/>
            </a:endParaRPr>
          </a:p>
        </p:txBody>
      </p:sp>
      <p:pic>
        <p:nvPicPr>
          <p:cNvPr id="354" name="Google Shape;354;p10" title="Captura de pantalla 2025-10-14 a la(s) 8.35.08 p.m..png"/>
          <p:cNvPicPr preferRelativeResize="0"/>
          <p:nvPr/>
        </p:nvPicPr>
        <p:blipFill>
          <a:blip r:embed="rId5">
            <a:alphaModFix/>
          </a:blip>
          <a:stretch>
            <a:fillRect/>
          </a:stretch>
        </p:blipFill>
        <p:spPr>
          <a:xfrm>
            <a:off x="1591151" y="494138"/>
            <a:ext cx="5836692" cy="41552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1"/>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METODOLOGÍA</a:t>
            </a:r>
            <a:endParaRPr b="1" sz="2400">
              <a:solidFill>
                <a:schemeClr val="accent5"/>
              </a:solidFill>
              <a:latin typeface="Calibri"/>
              <a:ea typeface="Calibri"/>
              <a:cs typeface="Calibri"/>
              <a:sym typeface="Calibri"/>
            </a:endParaRPr>
          </a:p>
        </p:txBody>
      </p:sp>
      <p:pic>
        <p:nvPicPr>
          <p:cNvPr descr="Ventajas y desventajas de la metodología Scrum" id="391" name="Google Shape;391;p11"/>
          <p:cNvPicPr preferRelativeResize="0"/>
          <p:nvPr/>
        </p:nvPicPr>
        <p:blipFill rotWithShape="1">
          <a:blip r:embed="rId5">
            <a:alphaModFix/>
          </a:blip>
          <a:srcRect b="0" l="0" r="0" t="0"/>
          <a:stretch/>
        </p:blipFill>
        <p:spPr>
          <a:xfrm>
            <a:off x="1501558" y="721890"/>
            <a:ext cx="6269348" cy="41795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2"/>
          <p:cNvSpPr/>
          <p:nvPr/>
        </p:nvSpPr>
        <p:spPr>
          <a:xfrm>
            <a:off x="32200"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2"/>
          <p:cNvSpPr/>
          <p:nvPr/>
        </p:nvSpPr>
        <p:spPr>
          <a:xfrm>
            <a:off x="4642313" y="1292201"/>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2"/>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2"/>
          <p:cNvSpPr/>
          <p:nvPr/>
        </p:nvSpPr>
        <p:spPr>
          <a:xfrm>
            <a:off x="193077" y="837014"/>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EVIDENCIAS</a:t>
            </a:r>
            <a:endParaRPr b="1" sz="2400">
              <a:solidFill>
                <a:schemeClr val="accent5"/>
              </a:solidFill>
              <a:latin typeface="Calibri"/>
              <a:ea typeface="Calibri"/>
              <a:cs typeface="Calibri"/>
              <a:sym typeface="Calibri"/>
            </a:endParaRPr>
          </a:p>
        </p:txBody>
      </p:sp>
      <p:sp>
        <p:nvSpPr>
          <p:cNvPr id="428" name="Google Shape;428;p12"/>
          <p:cNvSpPr/>
          <p:nvPr/>
        </p:nvSpPr>
        <p:spPr>
          <a:xfrm>
            <a:off x="772056" y="1683724"/>
            <a:ext cx="1820400" cy="670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ES"/>
              <a:t>Modelo Mer</a:t>
            </a:r>
            <a:endParaRPr b="1" i="0" sz="1400" u="none" cap="none" strike="noStrike">
              <a:solidFill>
                <a:srgbClr val="000000"/>
              </a:solidFill>
              <a:latin typeface="Arial"/>
              <a:ea typeface="Arial"/>
              <a:cs typeface="Arial"/>
              <a:sym typeface="Arial"/>
            </a:endParaRPr>
          </a:p>
        </p:txBody>
      </p:sp>
      <p:sp>
        <p:nvSpPr>
          <p:cNvPr id="429" name="Google Shape;429;p12"/>
          <p:cNvSpPr/>
          <p:nvPr/>
        </p:nvSpPr>
        <p:spPr>
          <a:xfrm>
            <a:off x="3601056" y="800724"/>
            <a:ext cx="1820400" cy="6705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Arquitectura</a:t>
            </a:r>
            <a:endParaRPr b="1" i="0" sz="1400" u="none" cap="none" strike="noStrike">
              <a:solidFill>
                <a:srgbClr val="000000"/>
              </a:solidFill>
              <a:latin typeface="Arial"/>
              <a:ea typeface="Arial"/>
              <a:cs typeface="Arial"/>
              <a:sym typeface="Arial"/>
            </a:endParaRPr>
          </a:p>
        </p:txBody>
      </p:sp>
      <p:sp>
        <p:nvSpPr>
          <p:cNvPr id="430" name="Google Shape;430;p12"/>
          <p:cNvSpPr/>
          <p:nvPr/>
        </p:nvSpPr>
        <p:spPr>
          <a:xfrm>
            <a:off x="6167931" y="1624827"/>
            <a:ext cx="1820400" cy="6705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Product Backlog</a:t>
            </a:r>
            <a:endParaRPr b="1" i="0" sz="1400" u="none" cap="none" strike="noStrike">
              <a:solidFill>
                <a:srgbClr val="000000"/>
              </a:solidFill>
              <a:latin typeface="Arial"/>
              <a:ea typeface="Arial"/>
              <a:cs typeface="Arial"/>
              <a:sym typeface="Arial"/>
            </a:endParaRPr>
          </a:p>
        </p:txBody>
      </p:sp>
      <p:sp>
        <p:nvSpPr>
          <p:cNvPr id="431" name="Google Shape;431;p12"/>
          <p:cNvSpPr/>
          <p:nvPr/>
        </p:nvSpPr>
        <p:spPr>
          <a:xfrm>
            <a:off x="3581006" y="2499274"/>
            <a:ext cx="1860600" cy="7101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Épicas e historias de usuario</a:t>
            </a:r>
            <a:endParaRPr b="1" i="0" sz="1400" u="none" cap="none" strike="noStrike">
              <a:solidFill>
                <a:srgbClr val="000000"/>
              </a:solidFill>
              <a:latin typeface="Arial"/>
              <a:ea typeface="Arial"/>
              <a:cs typeface="Arial"/>
              <a:sym typeface="Arial"/>
            </a:endParaRPr>
          </a:p>
        </p:txBody>
      </p:sp>
      <p:sp>
        <p:nvSpPr>
          <p:cNvPr id="432" name="Google Shape;432;p12"/>
          <p:cNvSpPr/>
          <p:nvPr/>
        </p:nvSpPr>
        <p:spPr>
          <a:xfrm>
            <a:off x="3601106" y="1624837"/>
            <a:ext cx="1820400" cy="6705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ES"/>
              <a:t>Riesgos</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1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3"/>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EVIDENCIAS POR SPRINT</a:t>
            </a:r>
            <a:endParaRPr b="1" sz="2400">
              <a:solidFill>
                <a:schemeClr val="accent5"/>
              </a:solidFill>
              <a:latin typeface="Calibri"/>
              <a:ea typeface="Calibri"/>
              <a:cs typeface="Calibri"/>
              <a:sym typeface="Calibri"/>
            </a:endParaRPr>
          </a:p>
        </p:txBody>
      </p:sp>
      <p:sp>
        <p:nvSpPr>
          <p:cNvPr id="469" name="Google Shape;469;p1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470" name="Google Shape;470;p1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471" name="Google Shape;471;p13"/>
          <p:cNvSpPr/>
          <p:nvPr/>
        </p:nvSpPr>
        <p:spPr>
          <a:xfrm>
            <a:off x="456333" y="769236"/>
            <a:ext cx="1394426"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Sprint Backlog</a:t>
            </a:r>
            <a:endParaRPr b="1" i="0" sz="1400" u="none" cap="none" strike="noStrike">
              <a:solidFill>
                <a:srgbClr val="000000"/>
              </a:solidFill>
              <a:latin typeface="Arial"/>
              <a:ea typeface="Arial"/>
              <a:cs typeface="Arial"/>
              <a:sym typeface="Arial"/>
            </a:endParaRPr>
          </a:p>
        </p:txBody>
      </p:sp>
      <p:sp>
        <p:nvSpPr>
          <p:cNvPr id="472" name="Google Shape;472;p13"/>
          <p:cNvSpPr/>
          <p:nvPr/>
        </p:nvSpPr>
        <p:spPr>
          <a:xfrm>
            <a:off x="3747458" y="769224"/>
            <a:ext cx="1394426" cy="761497"/>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Scrum Board</a:t>
            </a:r>
            <a:endParaRPr b="1" i="0" sz="1400" u="none" cap="none" strike="noStrike">
              <a:solidFill>
                <a:srgbClr val="000000"/>
              </a:solidFill>
              <a:latin typeface="Arial"/>
              <a:ea typeface="Arial"/>
              <a:cs typeface="Arial"/>
              <a:sym typeface="Arial"/>
            </a:endParaRPr>
          </a:p>
        </p:txBody>
      </p:sp>
      <p:sp>
        <p:nvSpPr>
          <p:cNvPr id="473" name="Google Shape;473;p13"/>
          <p:cNvSpPr/>
          <p:nvPr/>
        </p:nvSpPr>
        <p:spPr>
          <a:xfrm>
            <a:off x="7038583" y="786751"/>
            <a:ext cx="1394426"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s-ES"/>
              <a:t>daily meeting</a:t>
            </a:r>
            <a:endParaRPr b="1" i="0" sz="1400" u="none" cap="none" strike="noStrike">
              <a:solidFill>
                <a:srgbClr val="000000"/>
              </a:solidFill>
              <a:latin typeface="Arial"/>
              <a:ea typeface="Arial"/>
              <a:cs typeface="Arial"/>
              <a:sym typeface="Arial"/>
            </a:endParaRPr>
          </a:p>
        </p:txBody>
      </p:sp>
      <p:sp>
        <p:nvSpPr>
          <p:cNvPr id="474" name="Google Shape;474;p13"/>
          <p:cNvSpPr/>
          <p:nvPr/>
        </p:nvSpPr>
        <p:spPr>
          <a:xfrm>
            <a:off x="522496" y="2480111"/>
            <a:ext cx="1394426" cy="761497"/>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Impediment Log</a:t>
            </a:r>
            <a:endParaRPr b="1" i="0" sz="1400" u="none" cap="none" strike="noStrike">
              <a:solidFill>
                <a:srgbClr val="000000"/>
              </a:solidFill>
              <a:latin typeface="Arial"/>
              <a:ea typeface="Arial"/>
              <a:cs typeface="Arial"/>
              <a:sym typeface="Arial"/>
            </a:endParaRPr>
          </a:p>
        </p:txBody>
      </p:sp>
      <p:sp>
        <p:nvSpPr>
          <p:cNvPr id="475" name="Google Shape;475;p13"/>
          <p:cNvSpPr/>
          <p:nvPr/>
        </p:nvSpPr>
        <p:spPr>
          <a:xfrm>
            <a:off x="3747458" y="2480111"/>
            <a:ext cx="1461027"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Acta de Sprint Review</a:t>
            </a:r>
            <a:endParaRPr b="1" i="0" sz="1400" u="none" cap="none" strike="noStrike">
              <a:solidFill>
                <a:srgbClr val="000000"/>
              </a:solidFill>
              <a:latin typeface="Arial"/>
              <a:ea typeface="Arial"/>
              <a:cs typeface="Arial"/>
              <a:sym typeface="Arial"/>
            </a:endParaRPr>
          </a:p>
        </p:txBody>
      </p:sp>
      <p:sp>
        <p:nvSpPr>
          <p:cNvPr id="476" name="Google Shape;476;p13"/>
          <p:cNvSpPr/>
          <p:nvPr/>
        </p:nvSpPr>
        <p:spPr>
          <a:xfrm>
            <a:off x="7009933" y="2447261"/>
            <a:ext cx="1425227" cy="80646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Acta de Sprint Retrospective</a:t>
            </a:r>
            <a:endParaRPr b="1" i="0" sz="1400" u="none" cap="none" strike="noStrike">
              <a:solidFill>
                <a:srgbClr val="000000"/>
              </a:solidFill>
              <a:latin typeface="Arial"/>
              <a:ea typeface="Arial"/>
              <a:cs typeface="Arial"/>
              <a:sym typeface="Arial"/>
            </a:endParaRPr>
          </a:p>
        </p:txBody>
      </p:sp>
      <p:sp>
        <p:nvSpPr>
          <p:cNvPr id="477" name="Google Shape;477;p13"/>
          <p:cNvSpPr/>
          <p:nvPr/>
        </p:nvSpPr>
        <p:spPr>
          <a:xfrm>
            <a:off x="2033258" y="3986411"/>
            <a:ext cx="1461027" cy="761497"/>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Burndown Chart</a:t>
            </a:r>
            <a:endParaRPr b="1" i="0" sz="1400" u="none" cap="none" strike="noStrike">
              <a:solidFill>
                <a:srgbClr val="000000"/>
              </a:solidFill>
              <a:latin typeface="Arial"/>
              <a:ea typeface="Arial"/>
              <a:cs typeface="Arial"/>
              <a:sym typeface="Arial"/>
            </a:endParaRPr>
          </a:p>
        </p:txBody>
      </p:sp>
      <p:sp>
        <p:nvSpPr>
          <p:cNvPr id="478" name="Google Shape;478;p13"/>
          <p:cNvSpPr/>
          <p:nvPr/>
        </p:nvSpPr>
        <p:spPr>
          <a:xfrm>
            <a:off x="5352958" y="3953561"/>
            <a:ext cx="1425227" cy="80646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ES" sz="1400" u="none" cap="none" strike="noStrike">
                <a:solidFill>
                  <a:srgbClr val="000000"/>
                </a:solidFill>
                <a:latin typeface="Arial"/>
                <a:ea typeface="Arial"/>
                <a:cs typeface="Arial"/>
                <a:sym typeface="Arial"/>
              </a:rPr>
              <a:t>Incremento</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1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1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4"/>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1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1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1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1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4"/>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4"/>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4"/>
          <p:cNvSpPr txBox="1"/>
          <p:nvPr/>
        </p:nvSpPr>
        <p:spPr>
          <a:xfrm>
            <a:off x="108000" y="39497"/>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ÉPICAS</a:t>
            </a:r>
            <a:endParaRPr b="1" sz="2400">
              <a:solidFill>
                <a:schemeClr val="accent5"/>
              </a:solidFill>
              <a:latin typeface="Calibri"/>
              <a:ea typeface="Calibri"/>
              <a:cs typeface="Calibri"/>
              <a:sym typeface="Calibri"/>
            </a:endParaRPr>
          </a:p>
        </p:txBody>
      </p:sp>
      <p:sp>
        <p:nvSpPr>
          <p:cNvPr id="515" name="Google Shape;515;p1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16" name="Google Shape;516;p1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17" name="Google Shape;517;p14"/>
          <p:cNvSpPr/>
          <p:nvPr/>
        </p:nvSpPr>
        <p:spPr>
          <a:xfrm>
            <a:off x="249678" y="70721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1</a:t>
            </a:r>
            <a:endParaRPr b="1" sz="1800">
              <a:solidFill>
                <a:schemeClr val="lt1"/>
              </a:solidFill>
              <a:latin typeface="Calibri"/>
              <a:ea typeface="Calibri"/>
              <a:cs typeface="Calibri"/>
              <a:sym typeface="Calibri"/>
            </a:endParaRPr>
          </a:p>
        </p:txBody>
      </p:sp>
      <p:sp>
        <p:nvSpPr>
          <p:cNvPr id="518" name="Google Shape;518;p14"/>
          <p:cNvSpPr/>
          <p:nvPr/>
        </p:nvSpPr>
        <p:spPr>
          <a:xfrm>
            <a:off x="239543" y="1360628"/>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2</a:t>
            </a:r>
            <a:endParaRPr b="1" sz="1800">
              <a:solidFill>
                <a:schemeClr val="lt1"/>
              </a:solidFill>
              <a:latin typeface="Calibri"/>
              <a:ea typeface="Calibri"/>
              <a:cs typeface="Calibri"/>
              <a:sym typeface="Calibri"/>
            </a:endParaRPr>
          </a:p>
        </p:txBody>
      </p:sp>
      <p:sp>
        <p:nvSpPr>
          <p:cNvPr id="519" name="Google Shape;519;p14"/>
          <p:cNvSpPr/>
          <p:nvPr/>
        </p:nvSpPr>
        <p:spPr>
          <a:xfrm>
            <a:off x="244957" y="189403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3</a:t>
            </a:r>
            <a:endParaRPr b="1" sz="1800">
              <a:solidFill>
                <a:schemeClr val="lt1"/>
              </a:solidFill>
              <a:latin typeface="Calibri"/>
              <a:ea typeface="Calibri"/>
              <a:cs typeface="Calibri"/>
              <a:sym typeface="Calibri"/>
            </a:endParaRPr>
          </a:p>
        </p:txBody>
      </p:sp>
      <p:sp>
        <p:nvSpPr>
          <p:cNvPr id="520" name="Google Shape;520;p14"/>
          <p:cNvSpPr/>
          <p:nvPr/>
        </p:nvSpPr>
        <p:spPr>
          <a:xfrm>
            <a:off x="249678" y="2498095"/>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4</a:t>
            </a:r>
            <a:endParaRPr b="1" sz="1800">
              <a:solidFill>
                <a:schemeClr val="lt1"/>
              </a:solidFill>
              <a:latin typeface="Calibri"/>
              <a:ea typeface="Calibri"/>
              <a:cs typeface="Calibri"/>
              <a:sym typeface="Calibri"/>
            </a:endParaRPr>
          </a:p>
        </p:txBody>
      </p:sp>
      <p:sp>
        <p:nvSpPr>
          <p:cNvPr id="521" name="Google Shape;521;p14"/>
          <p:cNvSpPr/>
          <p:nvPr/>
        </p:nvSpPr>
        <p:spPr>
          <a:xfrm>
            <a:off x="249678" y="3155249"/>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5</a:t>
            </a:r>
            <a:endParaRPr b="1" sz="1800">
              <a:solidFill>
                <a:schemeClr val="lt1"/>
              </a:solidFill>
              <a:latin typeface="Calibri"/>
              <a:ea typeface="Calibri"/>
              <a:cs typeface="Calibri"/>
              <a:sym typeface="Calibri"/>
            </a:endParaRPr>
          </a:p>
        </p:txBody>
      </p:sp>
      <p:sp>
        <p:nvSpPr>
          <p:cNvPr id="522" name="Google Shape;522;p14"/>
          <p:cNvSpPr/>
          <p:nvPr/>
        </p:nvSpPr>
        <p:spPr>
          <a:xfrm>
            <a:off x="249678" y="3887631"/>
            <a:ext cx="288000" cy="288000"/>
          </a:xfrm>
          <a:prstGeom prst="ellipse">
            <a:avLst/>
          </a:prstGeom>
          <a:solidFill>
            <a:schemeClr val="accent5"/>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s-ES" sz="1800">
                <a:solidFill>
                  <a:schemeClr val="lt1"/>
                </a:solidFill>
                <a:latin typeface="Calibri"/>
                <a:ea typeface="Calibri"/>
                <a:cs typeface="Calibri"/>
                <a:sym typeface="Calibri"/>
              </a:rPr>
              <a:t>6</a:t>
            </a:r>
            <a:endParaRPr b="1" sz="1800">
              <a:solidFill>
                <a:schemeClr val="lt1"/>
              </a:solidFill>
              <a:latin typeface="Calibri"/>
              <a:ea typeface="Calibri"/>
              <a:cs typeface="Calibri"/>
              <a:sym typeface="Calibri"/>
            </a:endParaRPr>
          </a:p>
        </p:txBody>
      </p:sp>
      <p:sp>
        <p:nvSpPr>
          <p:cNvPr id="523" name="Google Shape;523;p14"/>
          <p:cNvSpPr txBox="1"/>
          <p:nvPr/>
        </p:nvSpPr>
        <p:spPr>
          <a:xfrm>
            <a:off x="628993" y="645664"/>
            <a:ext cx="86697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Monitoreo en tiempo real de flujos turísticos</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que la aplicación móvil detecte en tiempo real la densidad de personas en zonas turísticas de Valparaíso, para prevenir aglomeraciones y optimizar la experiencia de los visitantes.</a:t>
            </a:r>
            <a:endParaRPr sz="1200">
              <a:solidFill>
                <a:schemeClr val="dk1"/>
              </a:solidFill>
              <a:latin typeface="Calibri"/>
              <a:ea typeface="Calibri"/>
              <a:cs typeface="Calibri"/>
              <a:sym typeface="Calibri"/>
            </a:endParaRPr>
          </a:p>
        </p:txBody>
      </p:sp>
      <p:sp>
        <p:nvSpPr>
          <p:cNvPr id="524" name="Google Shape;524;p14"/>
          <p:cNvSpPr txBox="1"/>
          <p:nvPr/>
        </p:nvSpPr>
        <p:spPr>
          <a:xfrm>
            <a:off x="628993" y="1295713"/>
            <a:ext cx="8669741"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Visualización inteligente de datos turísticos</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ver mapas de calor y alertas sobre la concentración de personas para tomar decisiones rápidas sobre itinerarios o accesos.</a:t>
            </a:r>
            <a:endParaRPr sz="1200">
              <a:solidFill>
                <a:schemeClr val="dk1"/>
              </a:solidFill>
              <a:latin typeface="Calibri"/>
              <a:ea typeface="Calibri"/>
              <a:cs typeface="Calibri"/>
              <a:sym typeface="Calibri"/>
            </a:endParaRPr>
          </a:p>
        </p:txBody>
      </p:sp>
      <p:sp>
        <p:nvSpPr>
          <p:cNvPr id="525" name="Google Shape;525;p14"/>
          <p:cNvSpPr txBox="1"/>
          <p:nvPr/>
        </p:nvSpPr>
        <p:spPr>
          <a:xfrm>
            <a:off x="628993" y="1831665"/>
            <a:ext cx="86697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Optimización de itinerarios turísticos</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ver en la aplicación móvil las rutas dinámicas según la densidad de visitantes para disfrutar de una experiencia más cómoda y segura sin grandes multitudes.</a:t>
            </a:r>
            <a:endParaRPr sz="1200">
              <a:solidFill>
                <a:schemeClr val="dk1"/>
              </a:solidFill>
              <a:latin typeface="Calibri"/>
              <a:ea typeface="Calibri"/>
              <a:cs typeface="Calibri"/>
              <a:sym typeface="Calibri"/>
            </a:endParaRPr>
          </a:p>
        </p:txBody>
      </p:sp>
      <p:sp>
        <p:nvSpPr>
          <p:cNvPr id="526" name="Google Shape;526;p14"/>
          <p:cNvSpPr txBox="1"/>
          <p:nvPr/>
        </p:nvSpPr>
        <p:spPr>
          <a:xfrm>
            <a:off x="623424" y="3868802"/>
            <a:ext cx="8669741"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Generación de reportes e indicadores turísticos</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contar con métricas sobre la ocupación, flujos y patrones de visitantes para tomar decisiones estratégicas de planificación y sostenibilidad turística.</a:t>
            </a:r>
            <a:endParaRPr sz="1200">
              <a:solidFill>
                <a:schemeClr val="dk1"/>
              </a:solidFill>
              <a:latin typeface="Calibri"/>
              <a:ea typeface="Calibri"/>
              <a:cs typeface="Calibri"/>
              <a:sym typeface="Calibri"/>
            </a:endParaRPr>
          </a:p>
        </p:txBody>
      </p:sp>
      <p:sp>
        <p:nvSpPr>
          <p:cNvPr id="527" name="Google Shape;527;p14"/>
          <p:cNvSpPr txBox="1"/>
          <p:nvPr/>
        </p:nvSpPr>
        <p:spPr>
          <a:xfrm>
            <a:off x="623424" y="2481798"/>
            <a:ext cx="8520575"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Redistribución de flujos turísticos hacia zonas menos saturadas</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promover zonas alternativas cuando los puntos turísticos principales estén saturados para reducir la presión sobre áreas críticas y beneficiar a la comunidad local.</a:t>
            </a:r>
            <a:endParaRPr sz="1200">
              <a:solidFill>
                <a:schemeClr val="dk1"/>
              </a:solidFill>
              <a:latin typeface="Calibri"/>
              <a:ea typeface="Calibri"/>
              <a:cs typeface="Calibri"/>
              <a:sym typeface="Calibri"/>
            </a:endParaRPr>
          </a:p>
        </p:txBody>
      </p:sp>
      <p:sp>
        <p:nvSpPr>
          <p:cNvPr id="528" name="Google Shape;528;p14"/>
          <p:cNvSpPr txBox="1"/>
          <p:nvPr/>
        </p:nvSpPr>
        <p:spPr>
          <a:xfrm>
            <a:off x="628994" y="3177500"/>
            <a:ext cx="8289832"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400">
                <a:solidFill>
                  <a:schemeClr val="dk1"/>
                </a:solidFill>
                <a:latin typeface="Calibri"/>
                <a:ea typeface="Calibri"/>
                <a:cs typeface="Calibri"/>
                <a:sym typeface="Calibri"/>
              </a:rPr>
              <a:t>Integración del MVP completo (dispositivo → backend → app)</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Quiero asegurar que el dispositivo de monitoreo, el backend y la app estén integrados y funcionando, para que la información fluya correctamente y la experiencia del usuario sea consistente.</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5"/>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1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5"/>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1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1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1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1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1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5"/>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5"/>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PRODUCT BACKLOG</a:t>
            </a:r>
            <a:endParaRPr b="1" sz="2400">
              <a:solidFill>
                <a:schemeClr val="accent5"/>
              </a:solidFill>
              <a:latin typeface="Calibri"/>
              <a:ea typeface="Calibri"/>
              <a:cs typeface="Calibri"/>
              <a:sym typeface="Calibri"/>
            </a:endParaRPr>
          </a:p>
        </p:txBody>
      </p:sp>
      <p:sp>
        <p:nvSpPr>
          <p:cNvPr id="565" name="Google Shape;565;p1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566" name="Google Shape;566;p1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567" name="Google Shape;567;p15"/>
          <p:cNvGraphicFramePr/>
          <p:nvPr/>
        </p:nvGraphicFramePr>
        <p:xfrm>
          <a:off x="775" y="603975"/>
          <a:ext cx="3000000" cy="3000000"/>
        </p:xfrm>
        <a:graphic>
          <a:graphicData uri="http://schemas.openxmlformats.org/drawingml/2006/table">
            <a:tbl>
              <a:tblPr>
                <a:noFill/>
                <a:tableStyleId>{A2000AEF-3157-48F0-9CC0-4320655CD2A0}</a:tableStyleId>
              </a:tblPr>
              <a:tblGrid>
                <a:gridCol w="608275"/>
                <a:gridCol w="4505075"/>
                <a:gridCol w="655800"/>
                <a:gridCol w="731850"/>
                <a:gridCol w="598775"/>
                <a:gridCol w="589275"/>
                <a:gridCol w="655800"/>
                <a:gridCol w="798375"/>
              </a:tblGrid>
              <a:tr h="755425">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Identificador (ID) de la Historia</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Enunciado de la Historia</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Alias</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Estado</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Dimensión / Esfuerzo</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Iteración (Sprint)</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Prioridad</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Comentarios</a:t>
                      </a:r>
                      <a:endParaRPr b="1" sz="1000">
                        <a:solidFill>
                          <a:srgbClr val="FFFFFF"/>
                        </a:solidFill>
                        <a:latin typeface="Calibri"/>
                        <a:ea typeface="Calibri"/>
                        <a:cs typeface="Calibri"/>
                        <a:sym typeface="Calibri"/>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F497D"/>
                    </a:solidFill>
                  </a:tcPr>
                </a:tc>
              </a:tr>
              <a:tr h="610000">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HU-01</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un turista, necesito visualizar en la aplicación móvil el nivel de saturación de los puntos turísticos en un mapa, con la finalidad de planificar mis visitas evitando lugares sobrecargados y optimizar mi experiencia.</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Planificada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8</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3</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Media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440025">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HU-02</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un turista, necesito crear itinerarios según mis preferencias, con la finalidad de optimizar mi tiempo y visitar más lugares sin congestión.</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Planificada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8</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4</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Media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440025">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HU-03</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sistema, necesito capturar imágenes desde la cámara, con la finalidad de detectar personas y medir la densidad del lugar.</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FINALIZADA</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3</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1</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Alta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440025">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HU-04</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sistema, necesito procesar las imágenes capturadas por la cámara con el modelo YOLO, con la finalidad de detectar y contar personas para generar métricas turísticas.</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FINALIZADA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3</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1</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Media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610000">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HU-05</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administrador, necesito guardar en la base de datos los registros de densidad de personas obtenidos, con la finalidad de disponer de información histórica y confiable para reportes y visualización en la app.</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FINALIZADA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3</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2</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Media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440025">
                <a:tc>
                  <a:txBody>
                    <a:bodyPr/>
                    <a:lstStyle/>
                    <a:p>
                      <a:pPr indent="0" lvl="0" marL="0" rtl="0" algn="ctr">
                        <a:lnSpc>
                          <a:spcPct val="115000"/>
                        </a:lnSpc>
                        <a:spcBef>
                          <a:spcPts val="0"/>
                        </a:spcBef>
                        <a:spcAft>
                          <a:spcPts val="0"/>
                        </a:spcAft>
                        <a:buNone/>
                      </a:pPr>
                      <a:r>
                        <a:rPr b="1" lang="es-ES" sz="1100">
                          <a:latin typeface="Calibri"/>
                          <a:ea typeface="Calibri"/>
                          <a:cs typeface="Calibri"/>
                          <a:sym typeface="Calibri"/>
                        </a:rPr>
                        <a:t>HU-06</a:t>
                      </a:r>
                      <a:endParaRPr b="1" sz="11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Como administrador, necesito visualizar reportes de densidad de visitantes por lugar y fecha, con la finalidad de planificar medidas de control y gestión turística.</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FINALIZADA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8</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2</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Media</a:t>
                      </a:r>
                      <a:endParaRPr sz="1000">
                        <a:latin typeface="Calibri"/>
                        <a:ea typeface="Calibri"/>
                        <a:cs typeface="Calibri"/>
                        <a:sym typeface="Calibri"/>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 </a:t>
                      </a:r>
                      <a:endParaRPr sz="1000">
                        <a:latin typeface="Calibri"/>
                        <a:ea typeface="Calibri"/>
                        <a:cs typeface="Calibri"/>
                        <a:sym typeface="Calibri"/>
                      </a:endParaRPr>
                    </a:p>
                  </a:txBody>
                  <a:tcPr marT="9525" marB="91425" marR="9525" marL="95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6"/>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6"/>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6"/>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16"/>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16"/>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6"/>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16"/>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16"/>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16"/>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6"/>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6"/>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6"/>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6"/>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6"/>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6"/>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6"/>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16"/>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6"/>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16"/>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6"/>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16"/>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6"/>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16"/>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6"/>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16"/>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6"/>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16"/>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16"/>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16"/>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6"/>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16"/>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16"/>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CRONOGRAMA (CARTA GANTT)</a:t>
            </a:r>
            <a:endParaRPr b="1" sz="2400">
              <a:solidFill>
                <a:schemeClr val="accent5"/>
              </a:solidFill>
              <a:latin typeface="Calibri"/>
              <a:ea typeface="Calibri"/>
              <a:cs typeface="Calibri"/>
              <a:sym typeface="Calibri"/>
            </a:endParaRPr>
          </a:p>
        </p:txBody>
      </p:sp>
      <p:sp>
        <p:nvSpPr>
          <p:cNvPr id="604" name="Google Shape;604;p1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05" name="Google Shape;605;p1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06" name="Google Shape;606;p16" title="Captura de pantalla 2025-10-16 a la(s) 12.54.53 p.m..png"/>
          <p:cNvPicPr preferRelativeResize="0"/>
          <p:nvPr/>
        </p:nvPicPr>
        <p:blipFill>
          <a:blip r:embed="rId5">
            <a:alphaModFix/>
          </a:blip>
          <a:stretch>
            <a:fillRect/>
          </a:stretch>
        </p:blipFill>
        <p:spPr>
          <a:xfrm>
            <a:off x="432999" y="477559"/>
            <a:ext cx="3650801" cy="4346441"/>
          </a:xfrm>
          <a:prstGeom prst="rect">
            <a:avLst/>
          </a:prstGeom>
          <a:noFill/>
          <a:ln>
            <a:noFill/>
          </a:ln>
        </p:spPr>
      </p:pic>
      <p:pic>
        <p:nvPicPr>
          <p:cNvPr id="607" name="Google Shape;607;p16" title="Captura de pantalla 2025-10-16 a la(s) 12.57.25 p.m..png"/>
          <p:cNvPicPr preferRelativeResize="0"/>
          <p:nvPr/>
        </p:nvPicPr>
        <p:blipFill>
          <a:blip r:embed="rId6">
            <a:alphaModFix/>
          </a:blip>
          <a:stretch>
            <a:fillRect/>
          </a:stretch>
        </p:blipFill>
        <p:spPr>
          <a:xfrm>
            <a:off x="4246013" y="2638219"/>
            <a:ext cx="4214851" cy="22053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7"/>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17"/>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17"/>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17"/>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17"/>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17"/>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7"/>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7"/>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17"/>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17"/>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17"/>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1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17"/>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17"/>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17"/>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1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17"/>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7"/>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7"/>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17"/>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17"/>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17"/>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17"/>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7"/>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7"/>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17"/>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7"/>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7"/>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17"/>
          <p:cNvSpPr/>
          <p:nvPr/>
        </p:nvSpPr>
        <p:spPr>
          <a:xfrm>
            <a:off x="233452" y="804750"/>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1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17"/>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PRESUPUESTO</a:t>
            </a:r>
            <a:endParaRPr b="1" sz="2400">
              <a:solidFill>
                <a:schemeClr val="accent5"/>
              </a:solidFill>
              <a:latin typeface="Calibri"/>
              <a:ea typeface="Calibri"/>
              <a:cs typeface="Calibri"/>
              <a:sym typeface="Calibri"/>
            </a:endParaRPr>
          </a:p>
        </p:txBody>
      </p:sp>
      <p:sp>
        <p:nvSpPr>
          <p:cNvPr id="644" name="Google Shape;644;p1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45" name="Google Shape;645;p1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46" name="Google Shape;646;p17"/>
          <p:cNvPicPr preferRelativeResize="0"/>
          <p:nvPr/>
        </p:nvPicPr>
        <p:blipFill rotWithShape="1">
          <a:blip r:embed="rId5">
            <a:alphaModFix/>
          </a:blip>
          <a:srcRect b="0" l="0" r="0" t="0"/>
          <a:stretch/>
        </p:blipFill>
        <p:spPr>
          <a:xfrm>
            <a:off x="317320" y="574165"/>
            <a:ext cx="7858642" cy="251584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7" name="Google Shape;647;p17"/>
          <p:cNvPicPr preferRelativeResize="0"/>
          <p:nvPr/>
        </p:nvPicPr>
        <p:blipFill rotWithShape="1">
          <a:blip r:embed="rId6">
            <a:alphaModFix/>
          </a:blip>
          <a:srcRect b="0" l="0" r="0" t="0"/>
          <a:stretch/>
        </p:blipFill>
        <p:spPr>
          <a:xfrm>
            <a:off x="4939021" y="4010480"/>
            <a:ext cx="1135957" cy="49389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8" name="Google Shape;648;p17"/>
          <p:cNvPicPr preferRelativeResize="0"/>
          <p:nvPr/>
        </p:nvPicPr>
        <p:blipFill rotWithShape="1">
          <a:blip r:embed="rId7">
            <a:alphaModFix/>
          </a:blip>
          <a:srcRect b="0" l="0" r="0" t="0"/>
          <a:stretch/>
        </p:blipFill>
        <p:spPr>
          <a:xfrm>
            <a:off x="4960043" y="3254361"/>
            <a:ext cx="3215919" cy="51820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649" name="Google Shape;649;p17"/>
          <p:cNvPicPr preferRelativeResize="0"/>
          <p:nvPr/>
        </p:nvPicPr>
        <p:blipFill rotWithShape="1">
          <a:blip r:embed="rId8">
            <a:alphaModFix/>
          </a:blip>
          <a:srcRect b="0" l="0" r="0" t="0"/>
          <a:stretch/>
        </p:blipFill>
        <p:spPr>
          <a:xfrm>
            <a:off x="6189224" y="4010480"/>
            <a:ext cx="1988992" cy="50296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18"/>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1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1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18"/>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1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18"/>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1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1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1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1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1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1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1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1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1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1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1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1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18"/>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1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1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1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1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1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18"/>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18"/>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1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18"/>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18"/>
          <p:cNvSpPr/>
          <p:nvPr/>
        </p:nvSpPr>
        <p:spPr>
          <a:xfrm>
            <a:off x="233452" y="821389"/>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1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18"/>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KANBAN</a:t>
            </a:r>
            <a:endParaRPr b="1" sz="2400">
              <a:solidFill>
                <a:schemeClr val="accent5"/>
              </a:solidFill>
              <a:latin typeface="Calibri"/>
              <a:ea typeface="Calibri"/>
              <a:cs typeface="Calibri"/>
              <a:sym typeface="Calibri"/>
            </a:endParaRPr>
          </a:p>
        </p:txBody>
      </p:sp>
      <p:sp>
        <p:nvSpPr>
          <p:cNvPr id="686" name="Google Shape;686;p1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687" name="Google Shape;687;p1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688" name="Google Shape;688;p18"/>
          <p:cNvPicPr preferRelativeResize="0"/>
          <p:nvPr/>
        </p:nvPicPr>
        <p:blipFill rotWithShape="1">
          <a:blip r:embed="rId5">
            <a:alphaModFix/>
          </a:blip>
          <a:srcRect b="0" l="0" r="0" t="0"/>
          <a:stretch/>
        </p:blipFill>
        <p:spPr>
          <a:xfrm>
            <a:off x="903507" y="555024"/>
            <a:ext cx="6988469" cy="41036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1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1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1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1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1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1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1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1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1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1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1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1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1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1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1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1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1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1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1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1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1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1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1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1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1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1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1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1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19"/>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1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19"/>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0 – </a:t>
            </a:r>
            <a:r>
              <a:rPr b="1" lang="es-ES" sz="2400">
                <a:solidFill>
                  <a:schemeClr val="accent5"/>
                </a:solidFill>
                <a:latin typeface="Calibri"/>
                <a:ea typeface="Calibri"/>
                <a:cs typeface="Calibri"/>
                <a:sym typeface="Calibri"/>
              </a:rPr>
              <a:t>PREPARACIÓN</a:t>
            </a:r>
            <a:r>
              <a:rPr b="1" lang="es-ES" sz="2400">
                <a:solidFill>
                  <a:schemeClr val="accent5"/>
                </a:solidFill>
                <a:latin typeface="Calibri"/>
                <a:ea typeface="Calibri"/>
                <a:cs typeface="Calibri"/>
                <a:sym typeface="Calibri"/>
              </a:rPr>
              <a:t> DE ENTORNO</a:t>
            </a:r>
            <a:endParaRPr b="1" sz="2400">
              <a:solidFill>
                <a:schemeClr val="accent5"/>
              </a:solidFill>
              <a:latin typeface="Calibri"/>
              <a:ea typeface="Calibri"/>
              <a:cs typeface="Calibri"/>
              <a:sym typeface="Calibri"/>
            </a:endParaRPr>
          </a:p>
        </p:txBody>
      </p:sp>
      <p:sp>
        <p:nvSpPr>
          <p:cNvPr id="725" name="Google Shape;725;p1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26" name="Google Shape;726;p1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27" name="Google Shape;727;p19"/>
          <p:cNvSpPr txBox="1"/>
          <p:nvPr/>
        </p:nvSpPr>
        <p:spPr>
          <a:xfrm>
            <a:off x="437775" y="701055"/>
            <a:ext cx="7855500" cy="191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None/>
            </a:pPr>
            <a:r>
              <a:rPr lang="es-ES">
                <a:solidFill>
                  <a:schemeClr val="dk1"/>
                </a:solidFill>
                <a:latin typeface="Calibri"/>
                <a:ea typeface="Calibri"/>
                <a:cs typeface="Calibri"/>
                <a:sym typeface="Calibri"/>
              </a:rPr>
              <a:t>Duración</a:t>
            </a:r>
            <a:r>
              <a:rPr lang="es-ES">
                <a:solidFill>
                  <a:schemeClr val="dk1"/>
                </a:solidFill>
                <a:latin typeface="Calibri"/>
                <a:ea typeface="Calibri"/>
                <a:cs typeface="Calibri"/>
                <a:sym typeface="Calibri"/>
              </a:rPr>
              <a:t>: 3 semanas </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None/>
            </a:pPr>
            <a:r>
              <a:rPr lang="es-ES">
                <a:solidFill>
                  <a:schemeClr val="dk1"/>
                </a:solidFill>
                <a:latin typeface="Calibri"/>
                <a:ea typeface="Calibri"/>
                <a:cs typeface="Calibri"/>
                <a:sym typeface="Calibri"/>
              </a:rPr>
              <a:t>Evidencias: </a:t>
            </a:r>
            <a:r>
              <a:rPr lang="es-ES">
                <a:solidFill>
                  <a:schemeClr val="dk1"/>
                </a:solidFill>
                <a:latin typeface="Calibri"/>
                <a:ea typeface="Calibri"/>
                <a:cs typeface="Calibri"/>
                <a:sym typeface="Calibri"/>
              </a:rPr>
              <a:t>Documentación</a:t>
            </a:r>
            <a:r>
              <a:rPr lang="es-ES">
                <a:solidFill>
                  <a:schemeClr val="dk1"/>
                </a:solidFill>
                <a:latin typeface="Calibri"/>
                <a:ea typeface="Calibri"/>
                <a:cs typeface="Calibri"/>
                <a:sym typeface="Calibri"/>
              </a:rPr>
              <a:t> Scrum definida</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SzPts val="1100"/>
              <a:buNone/>
            </a:pPr>
            <a:r>
              <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Clr>
                <a:schemeClr val="dk1"/>
              </a:buClr>
              <a:buSzPts val="1100"/>
              <a:buFont typeface="Arial"/>
              <a:buNone/>
            </a:pPr>
            <a:r>
              <a:rPr lang="es-ES">
                <a:solidFill>
                  <a:schemeClr val="dk1"/>
                </a:solidFill>
                <a:latin typeface="Calibri"/>
                <a:ea typeface="Calibri"/>
                <a:cs typeface="Calibri"/>
                <a:sym typeface="Calibri"/>
              </a:rPr>
              <a:t>Descripción</a:t>
            </a:r>
            <a:r>
              <a:rPr lang="es-ES">
                <a:solidFill>
                  <a:schemeClr val="dk1"/>
                </a:solidFill>
                <a:latin typeface="Calibri"/>
                <a:ea typeface="Calibri"/>
                <a:cs typeface="Calibri"/>
                <a:sym typeface="Calibri"/>
              </a:rPr>
              <a:t>: </a:t>
            </a:r>
            <a:r>
              <a:rPr lang="es-ES">
                <a:solidFill>
                  <a:schemeClr val="dk1"/>
                </a:solidFill>
                <a:latin typeface="Calibri"/>
                <a:ea typeface="Calibri"/>
                <a:cs typeface="Calibri"/>
                <a:sym typeface="Calibri"/>
              </a:rPr>
              <a:t>preparación, Contexto de migratio y </a:t>
            </a:r>
            <a:r>
              <a:rPr lang="es-ES">
                <a:solidFill>
                  <a:schemeClr val="dk1"/>
                </a:solidFill>
                <a:latin typeface="Calibri"/>
                <a:ea typeface="Calibri"/>
                <a:cs typeface="Calibri"/>
                <a:sym typeface="Calibri"/>
              </a:rPr>
              <a:t> </a:t>
            </a:r>
            <a:r>
              <a:rPr lang="es-ES">
                <a:solidFill>
                  <a:schemeClr val="dk1"/>
                </a:solidFill>
                <a:latin typeface="Calibri"/>
                <a:ea typeface="Calibri"/>
                <a:cs typeface="Calibri"/>
                <a:sym typeface="Calibri"/>
              </a:rPr>
              <a:t>configuración</a:t>
            </a:r>
            <a:r>
              <a:rPr lang="es-ES">
                <a:solidFill>
                  <a:schemeClr val="dk1"/>
                </a:solidFill>
                <a:latin typeface="Calibri"/>
                <a:ea typeface="Calibri"/>
                <a:cs typeface="Calibri"/>
                <a:sym typeface="Calibri"/>
              </a:rPr>
              <a:t> de </a:t>
            </a:r>
            <a:r>
              <a:rPr lang="es-ES">
                <a:solidFill>
                  <a:schemeClr val="dk1"/>
                </a:solidFill>
                <a:latin typeface="Calibri"/>
                <a:ea typeface="Calibri"/>
                <a:cs typeface="Calibri"/>
                <a:sym typeface="Calibri"/>
              </a:rPr>
              <a:t>entorno</a:t>
            </a:r>
            <a:r>
              <a:rPr lang="es-ES">
                <a:solidFill>
                  <a:schemeClr val="dk1"/>
                </a:solidFill>
                <a:latin typeface="Calibri"/>
                <a:ea typeface="Calibri"/>
                <a:cs typeface="Calibri"/>
                <a:sym typeface="Calibri"/>
              </a:rPr>
              <a:t> de trabajo, junto a la </a:t>
            </a:r>
            <a:r>
              <a:rPr lang="es-ES">
                <a:solidFill>
                  <a:schemeClr val="dk1"/>
                </a:solidFill>
                <a:latin typeface="Calibri"/>
                <a:ea typeface="Calibri"/>
                <a:cs typeface="Calibri"/>
                <a:sym typeface="Calibri"/>
              </a:rPr>
              <a:t>obtención</a:t>
            </a:r>
            <a:r>
              <a:rPr lang="es-ES">
                <a:solidFill>
                  <a:schemeClr val="dk1"/>
                </a:solidFill>
                <a:latin typeface="Calibri"/>
                <a:ea typeface="Calibri"/>
                <a:cs typeface="Calibri"/>
                <a:sym typeface="Calibri"/>
              </a:rPr>
              <a:t> de las plantillas de </a:t>
            </a:r>
            <a:r>
              <a:rPr lang="es-ES">
                <a:solidFill>
                  <a:schemeClr val="dk1"/>
                </a:solidFill>
                <a:latin typeface="Calibri"/>
                <a:ea typeface="Calibri"/>
                <a:cs typeface="Calibri"/>
                <a:sym typeface="Calibri"/>
              </a:rPr>
              <a:t>documentación</a:t>
            </a:r>
            <a:r>
              <a:rPr lang="es-ES">
                <a:solidFill>
                  <a:schemeClr val="dk1"/>
                </a:solidFill>
                <a:latin typeface="Calibri"/>
                <a:ea typeface="Calibri"/>
                <a:cs typeface="Calibri"/>
                <a:sym typeface="Calibri"/>
              </a:rPr>
              <a:t> y evidencias a lo largo del proyecto.</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chemeClr val="dk1"/>
              </a:solidFill>
              <a:latin typeface="Calibri"/>
              <a:ea typeface="Calibri"/>
              <a:cs typeface="Calibri"/>
              <a:sym typeface="Calibri"/>
            </a:endParaRPr>
          </a:p>
        </p:txBody>
      </p:sp>
      <p:sp>
        <p:nvSpPr>
          <p:cNvPr id="728" name="Google Shape;728;p19"/>
          <p:cNvSpPr/>
          <p:nvPr/>
        </p:nvSpPr>
        <p:spPr>
          <a:xfrm>
            <a:off x="468325" y="2491675"/>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Generación</a:t>
            </a:r>
            <a:r>
              <a:rPr lang="es-ES" sz="1200"/>
              <a:t> de Trello</a:t>
            </a:r>
            <a:endParaRPr sz="1200"/>
          </a:p>
        </p:txBody>
      </p:sp>
      <p:sp>
        <p:nvSpPr>
          <p:cNvPr id="729" name="Google Shape;729;p19"/>
          <p:cNvSpPr/>
          <p:nvPr/>
        </p:nvSpPr>
        <p:spPr>
          <a:xfrm>
            <a:off x="3050363" y="254200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Plantillas de </a:t>
            </a:r>
            <a:r>
              <a:rPr lang="es-ES" sz="1200"/>
              <a:t>documentación</a:t>
            </a:r>
            <a:r>
              <a:rPr lang="es-ES" sz="1200"/>
              <a:t> </a:t>
            </a:r>
            <a:endParaRPr sz="1200"/>
          </a:p>
        </p:txBody>
      </p:sp>
      <p:sp>
        <p:nvSpPr>
          <p:cNvPr id="730" name="Google Shape;730;p19"/>
          <p:cNvSpPr/>
          <p:nvPr/>
        </p:nvSpPr>
        <p:spPr>
          <a:xfrm>
            <a:off x="5583238" y="258285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Reunión</a:t>
            </a:r>
            <a:r>
              <a:rPr lang="es-ES" sz="1200"/>
              <a:t> equipo migratio</a:t>
            </a:r>
            <a:endParaRPr sz="1200"/>
          </a:p>
        </p:txBody>
      </p:sp>
      <p:sp>
        <p:nvSpPr>
          <p:cNvPr id="731" name="Google Shape;731;p19"/>
          <p:cNvSpPr/>
          <p:nvPr/>
        </p:nvSpPr>
        <p:spPr>
          <a:xfrm>
            <a:off x="3050375" y="3672588"/>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Creación de entorno de trabajo </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2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2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2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2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2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2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2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2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2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2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2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2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2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2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2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p2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2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2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2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2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2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20"/>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2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2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0 – BACKLOG</a:t>
            </a:r>
            <a:endParaRPr b="1" sz="2400">
              <a:solidFill>
                <a:schemeClr val="accent5"/>
              </a:solidFill>
              <a:latin typeface="Calibri"/>
              <a:ea typeface="Calibri"/>
              <a:cs typeface="Calibri"/>
              <a:sym typeface="Calibri"/>
            </a:endParaRPr>
          </a:p>
        </p:txBody>
      </p:sp>
      <p:sp>
        <p:nvSpPr>
          <p:cNvPr id="768" name="Google Shape;768;p2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769" name="Google Shape;769;p2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770" name="Google Shape;770;p20"/>
          <p:cNvGraphicFramePr/>
          <p:nvPr/>
        </p:nvGraphicFramePr>
        <p:xfrm>
          <a:off x="1335239" y="564914"/>
          <a:ext cx="3000000" cy="3000000"/>
        </p:xfrm>
        <a:graphic>
          <a:graphicData uri="http://schemas.openxmlformats.org/drawingml/2006/table">
            <a:tbl>
              <a:tblPr>
                <a:noFill/>
                <a:tableStyleId>{A2000AEF-3157-48F0-9CC0-4320655CD2A0}</a:tableStyleId>
              </a:tblPr>
              <a:tblGrid>
                <a:gridCol w="2928625"/>
                <a:gridCol w="1504975"/>
                <a:gridCol w="772825"/>
                <a:gridCol w="1088050"/>
              </a:tblGrid>
              <a:tr h="659725">
                <a:tc>
                  <a:txBody>
                    <a:bodyPr/>
                    <a:lstStyle/>
                    <a:p>
                      <a:pPr indent="0" lvl="0" marL="0" rtl="0" algn="ctr">
                        <a:lnSpc>
                          <a:spcPct val="115000"/>
                        </a:lnSpc>
                        <a:spcBef>
                          <a:spcPts val="0"/>
                        </a:spcBef>
                        <a:spcAft>
                          <a:spcPts val="0"/>
                        </a:spcAft>
                        <a:buNone/>
                      </a:pPr>
                      <a:r>
                        <a:rPr b="1" lang="es-ES" sz="1100">
                          <a:solidFill>
                            <a:srgbClr val="FFFFFF"/>
                          </a:solidFill>
                          <a:latin typeface="Calibri"/>
                          <a:ea typeface="Calibri"/>
                          <a:cs typeface="Calibri"/>
                          <a:sym typeface="Calibri"/>
                        </a:rPr>
                        <a:t>Tarea</a:t>
                      </a:r>
                      <a:endParaRPr b="1" sz="11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100">
                          <a:solidFill>
                            <a:srgbClr val="FFFFFF"/>
                          </a:solidFill>
                          <a:latin typeface="Calibri"/>
                          <a:ea typeface="Calibri"/>
                          <a:cs typeface="Calibri"/>
                          <a:sym typeface="Calibri"/>
                        </a:rPr>
                        <a:t>Dueño / Voluntario</a:t>
                      </a:r>
                      <a:endParaRPr b="1" sz="11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100">
                          <a:solidFill>
                            <a:srgbClr val="FFFFFF"/>
                          </a:solidFill>
                          <a:latin typeface="Calibri"/>
                          <a:ea typeface="Calibri"/>
                          <a:cs typeface="Calibri"/>
                          <a:sym typeface="Calibri"/>
                        </a:rPr>
                        <a:t>Estatus</a:t>
                      </a:r>
                      <a:endParaRPr b="1" sz="11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100">
                          <a:solidFill>
                            <a:srgbClr val="FFFFFF"/>
                          </a:solidFill>
                          <a:latin typeface="Calibri"/>
                          <a:ea typeface="Calibri"/>
                          <a:cs typeface="Calibri"/>
                          <a:sym typeface="Calibri"/>
                        </a:rPr>
                        <a:t>Horas estimadas totales</a:t>
                      </a:r>
                      <a:endParaRPr b="1" sz="11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Contexto migratio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10</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Reunion con interesados</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8</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Creación de entorno de trabajo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8</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Completar Sprint</a:t>
                      </a:r>
                      <a:endParaRPr sz="800">
                        <a:latin typeface="Calibri"/>
                        <a:ea typeface="Calibri"/>
                        <a:cs typeface="Calibri"/>
                        <a:sym typeface="Calibri"/>
                      </a:endParaRPr>
                    </a:p>
                    <a:p>
                      <a:pPr indent="0" lvl="0" marL="0" rtl="0" algn="l">
                        <a:lnSpc>
                          <a:spcPct val="115000"/>
                        </a:lnSpc>
                        <a:spcBef>
                          <a:spcPts val="0"/>
                        </a:spcBef>
                        <a:spcAft>
                          <a:spcPts val="0"/>
                        </a:spcAft>
                        <a:buNone/>
                      </a:pPr>
                      <a:r>
                        <a:rPr lang="es-ES" sz="800">
                          <a:latin typeface="Calibri"/>
                          <a:ea typeface="Calibri"/>
                          <a:cs typeface="Calibri"/>
                          <a:sym typeface="Calibri"/>
                        </a:rPr>
                        <a:t>Backlog</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12</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Seleccion y definicion de plantillas</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3</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Completar Impediment</a:t>
                      </a:r>
                      <a:endParaRPr sz="800">
                        <a:latin typeface="Calibri"/>
                        <a:ea typeface="Calibri"/>
                        <a:cs typeface="Calibri"/>
                        <a:sym typeface="Calibri"/>
                      </a:endParaRPr>
                    </a:p>
                    <a:p>
                      <a:pPr indent="0" lvl="0" marL="0" rtl="0" algn="l">
                        <a:lnSpc>
                          <a:spcPct val="115000"/>
                        </a:lnSpc>
                        <a:spcBef>
                          <a:spcPts val="0"/>
                        </a:spcBef>
                        <a:spcAft>
                          <a:spcPts val="0"/>
                        </a:spcAft>
                        <a:buNone/>
                      </a:pPr>
                      <a:r>
                        <a:rPr lang="es-ES" sz="800">
                          <a:latin typeface="Calibri"/>
                          <a:ea typeface="Calibri"/>
                          <a:cs typeface="Calibri"/>
                          <a:sym typeface="Calibri"/>
                        </a:rPr>
                        <a:t>Log</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9</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11925">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Completar Sprint</a:t>
                      </a:r>
                      <a:endParaRPr sz="800">
                        <a:latin typeface="Calibri"/>
                        <a:ea typeface="Calibri"/>
                        <a:cs typeface="Calibri"/>
                        <a:sym typeface="Calibri"/>
                      </a:endParaRPr>
                    </a:p>
                    <a:p>
                      <a:pPr indent="0" lvl="0" marL="0" rtl="0" algn="l">
                        <a:lnSpc>
                          <a:spcPct val="115000"/>
                        </a:lnSpc>
                        <a:spcBef>
                          <a:spcPts val="0"/>
                        </a:spcBef>
                        <a:spcAft>
                          <a:spcPts val="0"/>
                        </a:spcAft>
                        <a:buNone/>
                      </a:pPr>
                      <a:r>
                        <a:rPr lang="es-ES" sz="800">
                          <a:latin typeface="Calibri"/>
                          <a:ea typeface="Calibri"/>
                          <a:cs typeface="Calibri"/>
                          <a:sym typeface="Calibri"/>
                        </a:rPr>
                        <a:t>Review</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7</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Completar Acta de Sprint Retrospective</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5</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0300">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Generación de Trello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Percy/Eduardo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Finalizado</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10</a:t>
                      </a:r>
                      <a:endParaRPr sz="8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2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2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2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2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2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2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2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2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2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2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2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2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2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2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2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2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2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2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2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2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2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2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2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2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2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2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21"/>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2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2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0 – BURNDOWN CHART</a:t>
            </a:r>
            <a:endParaRPr b="1" sz="2400">
              <a:solidFill>
                <a:schemeClr val="accent5"/>
              </a:solidFill>
              <a:latin typeface="Calibri"/>
              <a:ea typeface="Calibri"/>
              <a:cs typeface="Calibri"/>
              <a:sym typeface="Calibri"/>
            </a:endParaRPr>
          </a:p>
        </p:txBody>
      </p:sp>
      <p:sp>
        <p:nvSpPr>
          <p:cNvPr id="807" name="Google Shape;807;p2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08" name="Google Shape;808;p2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809" name="Google Shape;809;p21"/>
          <p:cNvPicPr preferRelativeResize="0"/>
          <p:nvPr/>
        </p:nvPicPr>
        <p:blipFill>
          <a:blip r:embed="rId5">
            <a:alphaModFix/>
          </a:blip>
          <a:stretch>
            <a:fillRect/>
          </a:stretch>
        </p:blipFill>
        <p:spPr>
          <a:xfrm>
            <a:off x="152400" y="684905"/>
            <a:ext cx="8470676" cy="443066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2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2"/>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22"/>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2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2"/>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2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2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2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2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2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2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2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2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2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2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2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2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3" name="Google Shape;833;p2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2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5" name="Google Shape;835;p2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6" name="Google Shape;836;p2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p2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2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9" name="Google Shape;839;p2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2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1" name="Google Shape;841;p2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2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3" name="Google Shape;843;p22"/>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2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5" name="Google Shape;845;p2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0 – IMPEDIMENT LOG</a:t>
            </a:r>
            <a:endParaRPr b="1" sz="2400">
              <a:solidFill>
                <a:schemeClr val="accent5"/>
              </a:solidFill>
              <a:latin typeface="Calibri"/>
              <a:ea typeface="Calibri"/>
              <a:cs typeface="Calibri"/>
              <a:sym typeface="Calibri"/>
            </a:endParaRPr>
          </a:p>
        </p:txBody>
      </p:sp>
      <p:sp>
        <p:nvSpPr>
          <p:cNvPr id="846" name="Google Shape;846;p2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47" name="Google Shape;847;p2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848" name="Google Shape;848;p22"/>
          <p:cNvGraphicFramePr/>
          <p:nvPr/>
        </p:nvGraphicFramePr>
        <p:xfrm>
          <a:off x="233475" y="885500"/>
          <a:ext cx="3000000" cy="3000000"/>
        </p:xfrm>
        <a:graphic>
          <a:graphicData uri="http://schemas.openxmlformats.org/drawingml/2006/table">
            <a:tbl>
              <a:tblPr>
                <a:noFill/>
                <a:tableStyleId>{A2000AEF-3157-48F0-9CC0-4320655CD2A0}</a:tableStyleId>
              </a:tblPr>
              <a:tblGrid>
                <a:gridCol w="1213675"/>
                <a:gridCol w="1609250"/>
                <a:gridCol w="2423400"/>
                <a:gridCol w="845275"/>
                <a:gridCol w="591900"/>
                <a:gridCol w="1947050"/>
              </a:tblGrid>
              <a:tr h="586300">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Fecha</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Tarea</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Impedimento</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Responsable</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Estado</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Acción</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22675">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18/08/2025</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Reunión</a:t>
                      </a:r>
                      <a:r>
                        <a:rPr lang="es-ES" sz="1000">
                          <a:latin typeface="Calibri"/>
                          <a:ea typeface="Calibri"/>
                          <a:cs typeface="Calibri"/>
                          <a:sym typeface="Calibri"/>
                        </a:rPr>
                        <a:t> con interesados</a:t>
                      </a:r>
                      <a:endParaRPr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Poca capacidad horaria para la junta</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Eduardo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Resuelto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Pedir permiso en el trabajo.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67225">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25/8/2025</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Creación de entorno de trabajo</a:t>
                      </a:r>
                      <a:endParaRPr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Camaras muy costosas</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Percy</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Resuelto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se </a:t>
                      </a:r>
                      <a:r>
                        <a:rPr lang="es-ES" sz="1000">
                          <a:latin typeface="Calibri"/>
                          <a:ea typeface="Calibri"/>
                          <a:cs typeface="Calibri"/>
                          <a:sym typeface="Calibri"/>
                        </a:rPr>
                        <a:t>encontró</a:t>
                      </a:r>
                      <a:r>
                        <a:rPr lang="es-ES" sz="1000">
                          <a:latin typeface="Calibri"/>
                          <a:ea typeface="Calibri"/>
                          <a:cs typeface="Calibri"/>
                          <a:sym typeface="Calibri"/>
                        </a:rPr>
                        <a:t> una camara ip de un valor medio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409325">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5/10/2025</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sz="1000">
                        <a:latin typeface="Calibri"/>
                        <a:ea typeface="Calibri"/>
                        <a:cs typeface="Calibri"/>
                        <a:sym typeface="Calibri"/>
                      </a:endParaRPr>
                    </a:p>
                    <a:p>
                      <a:pPr indent="0" lvl="0" marL="0" rtl="0" algn="l">
                        <a:lnSpc>
                          <a:spcPct val="115000"/>
                        </a:lnSpc>
                        <a:spcBef>
                          <a:spcPts val="0"/>
                        </a:spcBef>
                        <a:spcAft>
                          <a:spcPts val="0"/>
                        </a:spcAft>
                        <a:buNone/>
                      </a:pPr>
                      <a:r>
                        <a:rPr lang="es-ES" sz="1000">
                          <a:latin typeface="Calibri"/>
                          <a:ea typeface="Calibri"/>
                          <a:cs typeface="Calibri"/>
                          <a:sym typeface="Calibri"/>
                        </a:rPr>
                        <a:t>Completar Sprint Backlog</a:t>
                      </a:r>
                      <a:endParaRPr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Confusión</a:t>
                      </a:r>
                      <a:r>
                        <a:rPr lang="es-ES" sz="1000">
                          <a:latin typeface="Calibri"/>
                          <a:ea typeface="Calibri"/>
                          <a:cs typeface="Calibri"/>
                          <a:sym typeface="Calibri"/>
                        </a:rPr>
                        <a:t> en el conteo de hora</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Percy</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Resuelto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Se realiza </a:t>
                      </a:r>
                      <a:r>
                        <a:rPr lang="es-ES" sz="1000">
                          <a:latin typeface="Calibri"/>
                          <a:ea typeface="Calibri"/>
                          <a:cs typeface="Calibri"/>
                          <a:sym typeface="Calibri"/>
                        </a:rPr>
                        <a:t>consulta</a:t>
                      </a:r>
                      <a:r>
                        <a:rPr lang="es-ES" sz="1000">
                          <a:latin typeface="Calibri"/>
                          <a:ea typeface="Calibri"/>
                          <a:cs typeface="Calibri"/>
                          <a:sym typeface="Calibri"/>
                        </a:rPr>
                        <a:t> al profesor del funcionamiento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586300">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1/9/2025</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Generación de Trello</a:t>
                      </a:r>
                      <a:endParaRPr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Las tareas creadas no se guardaban</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Eduardo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Resuelto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Se </a:t>
                      </a:r>
                      <a:r>
                        <a:rPr lang="es-ES" sz="1000">
                          <a:latin typeface="Calibri"/>
                          <a:ea typeface="Calibri"/>
                          <a:cs typeface="Calibri"/>
                          <a:sym typeface="Calibri"/>
                        </a:rPr>
                        <a:t>actualizó</a:t>
                      </a:r>
                      <a:r>
                        <a:rPr lang="es-ES" sz="1000">
                          <a:latin typeface="Calibri"/>
                          <a:ea typeface="Calibri"/>
                          <a:cs typeface="Calibri"/>
                          <a:sym typeface="Calibri"/>
                        </a:rPr>
                        <a:t> el notebook</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586300">
                <a:tc>
                  <a:txBody>
                    <a:bodyPr/>
                    <a:lstStyle/>
                    <a:p>
                      <a:pPr indent="0" lvl="0" marL="0" rtl="0" algn="ctr">
                        <a:lnSpc>
                          <a:spcPct val="115000"/>
                        </a:lnSpc>
                        <a:spcBef>
                          <a:spcPts val="0"/>
                        </a:spcBef>
                        <a:spcAft>
                          <a:spcPts val="0"/>
                        </a:spcAft>
                        <a:buNone/>
                      </a:pPr>
                      <a:r>
                        <a:rPr lang="es-ES" sz="1000">
                          <a:latin typeface="Calibri"/>
                          <a:ea typeface="Calibri"/>
                          <a:cs typeface="Calibri"/>
                          <a:sym typeface="Calibri"/>
                        </a:rPr>
                        <a:t>3/9/2025</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Completar Acta de Sprint Retrospective</a:t>
                      </a:r>
                      <a:endParaRPr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No había una plantilla creada</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Percy</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Resuelto</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1000">
                          <a:latin typeface="Calibri"/>
                          <a:ea typeface="Calibri"/>
                          <a:cs typeface="Calibri"/>
                          <a:sym typeface="Calibri"/>
                        </a:rPr>
                        <a:t>Se busco en proyectos pasados</a:t>
                      </a:r>
                      <a:endParaRPr sz="10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2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4" name="Google Shape;854;p2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855" name="Google Shape;855;p2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2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2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p2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2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2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2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p2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3" name="Google Shape;863;p2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2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2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2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2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2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9" name="Google Shape;869;p2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2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2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2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2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2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2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2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7" name="Google Shape;877;p2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2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9" name="Google Shape;879;p2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2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1" name="Google Shape;881;p2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23"/>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883" name="Google Shape;883;p2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2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1 – Captura de </a:t>
            </a:r>
            <a:r>
              <a:rPr b="1" lang="es-ES" sz="2400">
                <a:solidFill>
                  <a:schemeClr val="accent5"/>
                </a:solidFill>
                <a:latin typeface="Calibri"/>
                <a:ea typeface="Calibri"/>
                <a:cs typeface="Calibri"/>
                <a:sym typeface="Calibri"/>
              </a:rPr>
              <a:t>imagen</a:t>
            </a:r>
            <a:r>
              <a:rPr b="1" lang="es-ES" sz="2400">
                <a:solidFill>
                  <a:schemeClr val="accent5"/>
                </a:solidFill>
                <a:latin typeface="Calibri"/>
                <a:ea typeface="Calibri"/>
                <a:cs typeface="Calibri"/>
                <a:sym typeface="Calibri"/>
              </a:rPr>
              <a:t> </a:t>
            </a:r>
            <a:endParaRPr b="1" sz="2400">
              <a:solidFill>
                <a:schemeClr val="accent5"/>
              </a:solidFill>
              <a:latin typeface="Calibri"/>
              <a:ea typeface="Calibri"/>
              <a:cs typeface="Calibri"/>
              <a:sym typeface="Calibri"/>
            </a:endParaRPr>
          </a:p>
        </p:txBody>
      </p:sp>
      <p:sp>
        <p:nvSpPr>
          <p:cNvPr id="885" name="Google Shape;885;p2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86" name="Google Shape;886;p2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887" name="Google Shape;887;p23"/>
          <p:cNvSpPr txBox="1"/>
          <p:nvPr/>
        </p:nvSpPr>
        <p:spPr>
          <a:xfrm>
            <a:off x="352007" y="716563"/>
            <a:ext cx="7378500" cy="1449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ES">
                <a:solidFill>
                  <a:schemeClr val="dk1"/>
                </a:solidFill>
                <a:latin typeface="Calibri"/>
                <a:ea typeface="Calibri"/>
                <a:cs typeface="Calibri"/>
                <a:sym typeface="Calibri"/>
              </a:rPr>
              <a:t>Duración: 3 semanas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s-ES">
                <a:solidFill>
                  <a:schemeClr val="dk1"/>
                </a:solidFill>
                <a:latin typeface="Calibri"/>
                <a:ea typeface="Calibri"/>
                <a:cs typeface="Calibri"/>
                <a:sym typeface="Calibri"/>
              </a:rPr>
              <a:t>Evidencias: Documentación Scrum definida y avance del incremento </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Clr>
                <a:schemeClr val="dk1"/>
              </a:buClr>
              <a:buSzPts val="1100"/>
              <a:buFont typeface="Arial"/>
              <a:buNone/>
            </a:pPr>
            <a:r>
              <a:rPr lang="es-ES">
                <a:solidFill>
                  <a:schemeClr val="dk1"/>
                </a:solidFill>
                <a:latin typeface="Calibri"/>
                <a:ea typeface="Calibri"/>
                <a:cs typeface="Calibri"/>
                <a:sym typeface="Calibri"/>
              </a:rPr>
              <a:t>Descripción: Desarrollo del </a:t>
            </a:r>
            <a:r>
              <a:rPr lang="es-ES">
                <a:solidFill>
                  <a:schemeClr val="dk1"/>
                </a:solidFill>
                <a:latin typeface="Calibri"/>
                <a:ea typeface="Calibri"/>
                <a:cs typeface="Calibri"/>
                <a:sym typeface="Calibri"/>
              </a:rPr>
              <a:t>código</a:t>
            </a:r>
            <a:r>
              <a:rPr lang="es-ES">
                <a:solidFill>
                  <a:schemeClr val="dk1"/>
                </a:solidFill>
                <a:latin typeface="Calibri"/>
                <a:ea typeface="Calibri"/>
                <a:cs typeface="Calibri"/>
                <a:sym typeface="Calibri"/>
              </a:rPr>
              <a:t> inicial para capturar el conteo de personas en tiempo real utilizando las </a:t>
            </a:r>
            <a:r>
              <a:rPr lang="es-ES">
                <a:solidFill>
                  <a:schemeClr val="dk1"/>
                </a:solidFill>
                <a:latin typeface="Calibri"/>
                <a:ea typeface="Calibri"/>
                <a:cs typeface="Calibri"/>
                <a:sym typeface="Calibri"/>
              </a:rPr>
              <a:t>historias</a:t>
            </a:r>
            <a:r>
              <a:rPr lang="es-ES">
                <a:solidFill>
                  <a:schemeClr val="dk1"/>
                </a:solidFill>
                <a:latin typeface="Calibri"/>
                <a:ea typeface="Calibri"/>
                <a:cs typeface="Calibri"/>
                <a:sym typeface="Calibri"/>
              </a:rPr>
              <a:t> de usuarios para seguir con la </a:t>
            </a:r>
            <a:r>
              <a:rPr lang="es-ES">
                <a:solidFill>
                  <a:schemeClr val="dk1"/>
                </a:solidFill>
                <a:latin typeface="Calibri"/>
                <a:ea typeface="Calibri"/>
                <a:cs typeface="Calibri"/>
                <a:sym typeface="Calibri"/>
              </a:rPr>
              <a:t>idea</a:t>
            </a:r>
            <a:r>
              <a:rPr lang="es-ES">
                <a:solidFill>
                  <a:schemeClr val="dk1"/>
                </a:solidFill>
                <a:latin typeface="Calibri"/>
                <a:ea typeface="Calibri"/>
                <a:cs typeface="Calibri"/>
                <a:sym typeface="Calibri"/>
              </a:rPr>
              <a:t> principal de </a:t>
            </a:r>
            <a:r>
              <a:rPr lang="es-ES">
                <a:solidFill>
                  <a:schemeClr val="dk1"/>
                </a:solidFill>
                <a:latin typeface="Calibri"/>
                <a:ea typeface="Calibri"/>
                <a:cs typeface="Calibri"/>
                <a:sym typeface="Calibri"/>
              </a:rPr>
              <a:t>migration</a:t>
            </a:r>
            <a:r>
              <a:rPr lang="es-ES">
                <a:solidFill>
                  <a:schemeClr val="dk1"/>
                </a:solidFill>
                <a:latin typeface="Calibri"/>
                <a:ea typeface="Calibri"/>
                <a:cs typeface="Calibri"/>
                <a:sym typeface="Calibri"/>
              </a:rPr>
              <a:t> </a:t>
            </a:r>
            <a:endParaRPr b="1" sz="1455">
              <a:solidFill>
                <a:srgbClr val="FFFFFF"/>
              </a:solidFill>
            </a:endParaRPr>
          </a:p>
        </p:txBody>
      </p:sp>
      <p:sp>
        <p:nvSpPr>
          <p:cNvPr id="888" name="Google Shape;888;p23"/>
          <p:cNvSpPr/>
          <p:nvPr/>
        </p:nvSpPr>
        <p:spPr>
          <a:xfrm>
            <a:off x="1836200" y="284920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Capturar </a:t>
            </a:r>
            <a:r>
              <a:rPr lang="es-ES" sz="1200"/>
              <a:t>imagen</a:t>
            </a:r>
            <a:r>
              <a:rPr lang="es-ES" sz="1200"/>
              <a:t> Con </a:t>
            </a:r>
            <a:r>
              <a:rPr lang="es-ES" sz="1200"/>
              <a:t>cámara</a:t>
            </a:r>
            <a:endParaRPr sz="1200"/>
          </a:p>
        </p:txBody>
      </p:sp>
      <p:sp>
        <p:nvSpPr>
          <p:cNvPr id="889" name="Google Shape;889;p23"/>
          <p:cNvSpPr/>
          <p:nvPr/>
        </p:nvSpPr>
        <p:spPr>
          <a:xfrm>
            <a:off x="5160313" y="28698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Procesar </a:t>
            </a:r>
            <a:r>
              <a:rPr lang="es-ES" sz="1200"/>
              <a:t>imagen</a:t>
            </a:r>
            <a:endParaRPr sz="1200"/>
          </a:p>
        </p:txBody>
      </p:sp>
      <p:sp>
        <p:nvSpPr>
          <p:cNvPr id="890" name="Google Shape;890;p23"/>
          <p:cNvSpPr txBox="1"/>
          <p:nvPr/>
        </p:nvSpPr>
        <p:spPr>
          <a:xfrm>
            <a:off x="3429000" y="2348638"/>
            <a:ext cx="1955100" cy="2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t>Historia de usuarios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2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2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 name="Google Shape;898;p2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 name="Google Shape;899;p2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2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2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2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2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2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2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Google Shape;906;p2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2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2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24"/>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0" name="Google Shape;910;p2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1" name="Google Shape;911;p2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p2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 name="Google Shape;913;p2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2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2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2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2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2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 name="Google Shape;919;p2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2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2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 name="Google Shape;922;p2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24"/>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24"/>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5" name="Google Shape;925;p2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p24"/>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1 – BACKLOG</a:t>
            </a:r>
            <a:endParaRPr b="1" sz="2400">
              <a:solidFill>
                <a:schemeClr val="accent5"/>
              </a:solidFill>
              <a:latin typeface="Calibri"/>
              <a:ea typeface="Calibri"/>
              <a:cs typeface="Calibri"/>
              <a:sym typeface="Calibri"/>
            </a:endParaRPr>
          </a:p>
        </p:txBody>
      </p:sp>
      <p:sp>
        <p:nvSpPr>
          <p:cNvPr id="927" name="Google Shape;927;p2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928" name="Google Shape;928;p2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929" name="Google Shape;929;p24"/>
          <p:cNvPicPr preferRelativeResize="0"/>
          <p:nvPr/>
        </p:nvPicPr>
        <p:blipFill rotWithShape="1">
          <a:blip r:embed="rId5">
            <a:alphaModFix/>
          </a:blip>
          <a:srcRect b="0" l="0" r="0" t="0"/>
          <a:stretch/>
        </p:blipFill>
        <p:spPr>
          <a:xfrm>
            <a:off x="482825" y="756128"/>
            <a:ext cx="6890478" cy="1606325"/>
          </a:xfrm>
          <a:prstGeom prst="rect">
            <a:avLst/>
          </a:prstGeom>
          <a:noFill/>
          <a:ln>
            <a:noFill/>
          </a:ln>
        </p:spPr>
      </p:pic>
      <p:pic>
        <p:nvPicPr>
          <p:cNvPr id="930" name="Google Shape;930;p24"/>
          <p:cNvPicPr preferRelativeResize="0"/>
          <p:nvPr/>
        </p:nvPicPr>
        <p:blipFill rotWithShape="1">
          <a:blip r:embed="rId6">
            <a:alphaModFix/>
          </a:blip>
          <a:srcRect b="0" l="0" r="0" t="0"/>
          <a:stretch/>
        </p:blipFill>
        <p:spPr>
          <a:xfrm>
            <a:off x="509080" y="2715448"/>
            <a:ext cx="8077603" cy="149634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25"/>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6" name="Google Shape;936;p25"/>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7" name="Google Shape;937;p25"/>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8" name="Google Shape;938;p25"/>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9" name="Google Shape;939;p25"/>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 name="Google Shape;940;p25"/>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1" name="Google Shape;941;p25"/>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25"/>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3" name="Google Shape;943;p25"/>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4" name="Google Shape;944;p25"/>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5" name="Google Shape;945;p25"/>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p25"/>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7" name="Google Shape;947;p25"/>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25"/>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25"/>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p25"/>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 name="Google Shape;951;p25"/>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 name="Google Shape;952;p25"/>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3" name="Google Shape;953;p25"/>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p25"/>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5" name="Google Shape;955;p25"/>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25"/>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7" name="Google Shape;957;p25"/>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 name="Google Shape;958;p25"/>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 name="Google Shape;959;p25"/>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 name="Google Shape;960;p25"/>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1" name="Google Shape;961;p25"/>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25"/>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 name="Google Shape;963;p25"/>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 name="Google Shape;964;p25"/>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 name="Google Shape;965;p25"/>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 name="Google Shape;966;p25"/>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1 – BURNDOWN CHART</a:t>
            </a:r>
            <a:endParaRPr b="1" sz="2400">
              <a:solidFill>
                <a:schemeClr val="accent5"/>
              </a:solidFill>
              <a:latin typeface="Calibri"/>
              <a:ea typeface="Calibri"/>
              <a:cs typeface="Calibri"/>
              <a:sym typeface="Calibri"/>
            </a:endParaRPr>
          </a:p>
        </p:txBody>
      </p:sp>
      <p:sp>
        <p:nvSpPr>
          <p:cNvPr id="967" name="Google Shape;967;p2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968" name="Google Shape;968;p25"/>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969" name="Google Shape;969;p25"/>
          <p:cNvPicPr preferRelativeResize="0"/>
          <p:nvPr/>
        </p:nvPicPr>
        <p:blipFill rotWithShape="1">
          <a:blip r:embed="rId5">
            <a:alphaModFix/>
          </a:blip>
          <a:srcRect b="0" l="0" r="0" t="0"/>
          <a:stretch/>
        </p:blipFill>
        <p:spPr>
          <a:xfrm>
            <a:off x="378625" y="956731"/>
            <a:ext cx="8077281" cy="27948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26"/>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5" name="Google Shape;975;p26"/>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26"/>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26"/>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8" name="Google Shape;978;p26"/>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 name="Google Shape;979;p26"/>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26"/>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26"/>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2" name="Google Shape;982;p26"/>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p26"/>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4" name="Google Shape;984;p26"/>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5" name="Google Shape;985;p26"/>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6" name="Google Shape;986;p26"/>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p26"/>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26"/>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26"/>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0" name="Google Shape;990;p26"/>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26"/>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2" name="Google Shape;992;p26"/>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26"/>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26"/>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26"/>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26"/>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26"/>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26"/>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26"/>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26"/>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26"/>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2" name="Google Shape;1002;p26"/>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26"/>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4" name="Google Shape;1004;p26"/>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5" name="Google Shape;1005;p26"/>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1 – IMPEDIMENT LOG</a:t>
            </a:r>
            <a:endParaRPr b="1" sz="2400">
              <a:solidFill>
                <a:schemeClr val="accent5"/>
              </a:solidFill>
              <a:latin typeface="Calibri"/>
              <a:ea typeface="Calibri"/>
              <a:cs typeface="Calibri"/>
              <a:sym typeface="Calibri"/>
            </a:endParaRPr>
          </a:p>
        </p:txBody>
      </p:sp>
      <p:sp>
        <p:nvSpPr>
          <p:cNvPr id="1006" name="Google Shape;1006;p2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07" name="Google Shape;1007;p26"/>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008" name="Google Shape;1008;p26"/>
          <p:cNvGraphicFramePr/>
          <p:nvPr/>
        </p:nvGraphicFramePr>
        <p:xfrm>
          <a:off x="108775" y="860013"/>
          <a:ext cx="3000000" cy="3000000"/>
        </p:xfrm>
        <a:graphic>
          <a:graphicData uri="http://schemas.openxmlformats.org/drawingml/2006/table">
            <a:tbl>
              <a:tblPr>
                <a:noFill/>
                <a:tableStyleId>{A2000AEF-3157-48F0-9CC0-4320655CD2A0}</a:tableStyleId>
              </a:tblPr>
              <a:tblGrid>
                <a:gridCol w="1265100"/>
                <a:gridCol w="937800"/>
                <a:gridCol w="1008550"/>
                <a:gridCol w="1610150"/>
                <a:gridCol w="672375"/>
                <a:gridCol w="548500"/>
                <a:gridCol w="2450650"/>
              </a:tblGrid>
              <a:tr h="190500">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Fecha</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HU</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Tarea</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Impedimento</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Responsable</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Estado</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900">
                          <a:latin typeface="Calibri"/>
                          <a:ea typeface="Calibri"/>
                          <a:cs typeface="Calibri"/>
                          <a:sym typeface="Calibri"/>
                        </a:rPr>
                        <a:t>Acción</a:t>
                      </a:r>
                      <a:endParaRPr b="1" sz="9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90500">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15/9/2025</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HU-03</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Investigar camara</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Retraso en la entrega de la </a:t>
                      </a:r>
                      <a:r>
                        <a:rPr lang="es-ES" sz="900">
                          <a:latin typeface="Calibri"/>
                          <a:ea typeface="Calibri"/>
                          <a:cs typeface="Calibri"/>
                          <a:sym typeface="Calibri"/>
                        </a:rPr>
                        <a:t>cámara</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Eduardo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Completado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Se </a:t>
                      </a:r>
                      <a:r>
                        <a:rPr lang="es-ES" sz="900">
                          <a:latin typeface="Calibri"/>
                          <a:ea typeface="Calibri"/>
                          <a:cs typeface="Calibri"/>
                          <a:sym typeface="Calibri"/>
                        </a:rPr>
                        <a:t>contactó</a:t>
                      </a:r>
                      <a:r>
                        <a:rPr lang="es-ES" sz="900">
                          <a:latin typeface="Calibri"/>
                          <a:ea typeface="Calibri"/>
                          <a:cs typeface="Calibri"/>
                          <a:sym typeface="Calibri"/>
                        </a:rPr>
                        <a:t> a otro </a:t>
                      </a:r>
                      <a:r>
                        <a:rPr lang="es-ES" sz="900">
                          <a:latin typeface="Calibri"/>
                          <a:ea typeface="Calibri"/>
                          <a:cs typeface="Calibri"/>
                          <a:sym typeface="Calibri"/>
                        </a:rPr>
                        <a:t>proveedor</a:t>
                      </a:r>
                      <a:r>
                        <a:rPr lang="es-ES" sz="900">
                          <a:latin typeface="Calibri"/>
                          <a:ea typeface="Calibri"/>
                          <a:cs typeface="Calibri"/>
                          <a:sym typeface="Calibri"/>
                        </a:rPr>
                        <a:t>.</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90500">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21/9/2025</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HU-03</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Configurar transmisión</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Falta del switch poe</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Eduardo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Completado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Se </a:t>
                      </a:r>
                      <a:r>
                        <a:rPr lang="es-ES" sz="900">
                          <a:latin typeface="Calibri"/>
                          <a:ea typeface="Calibri"/>
                          <a:cs typeface="Calibri"/>
                          <a:sym typeface="Calibri"/>
                        </a:rPr>
                        <a:t>compró</a:t>
                      </a:r>
                      <a:r>
                        <a:rPr lang="es-ES" sz="900">
                          <a:latin typeface="Calibri"/>
                          <a:ea typeface="Calibri"/>
                          <a:cs typeface="Calibri"/>
                          <a:sym typeface="Calibri"/>
                        </a:rPr>
                        <a:t> el switch poe</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90500">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16/9/2025</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HU-03</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Configurar transmisión</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Cámara no sincroniza drivers</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Percy</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Completado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Buscar drivers alternativos / probar en Windows</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3375">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17/9/2025</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HU-03</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Desarrollar script</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El script no procesa frames en tiempo real</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Eduardo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Completado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Optimizar librerías, </a:t>
                      </a:r>
                      <a:r>
                        <a:rPr lang="es-ES" sz="900">
                          <a:latin typeface="Calibri"/>
                          <a:ea typeface="Calibri"/>
                          <a:cs typeface="Calibri"/>
                          <a:sym typeface="Calibri"/>
                        </a:rPr>
                        <a:t>Editar</a:t>
                      </a:r>
                      <a:r>
                        <a:rPr lang="es-ES" sz="900">
                          <a:latin typeface="Calibri"/>
                          <a:ea typeface="Calibri"/>
                          <a:cs typeface="Calibri"/>
                          <a:sym typeface="Calibri"/>
                        </a:rPr>
                        <a:t> </a:t>
                      </a:r>
                      <a:r>
                        <a:rPr lang="es-ES" sz="900">
                          <a:latin typeface="Calibri"/>
                          <a:ea typeface="Calibri"/>
                          <a:cs typeface="Calibri"/>
                          <a:sym typeface="Calibri"/>
                        </a:rPr>
                        <a:t>código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3375">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20/9/2025</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HU-03</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900">
                          <a:latin typeface="Calibri"/>
                          <a:ea typeface="Calibri"/>
                          <a:cs typeface="Calibri"/>
                          <a:sym typeface="Calibri"/>
                        </a:rPr>
                        <a:t>Desarrollar script</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Problema de visualización en </a:t>
                      </a:r>
                      <a:r>
                        <a:rPr lang="es-ES" sz="900">
                          <a:latin typeface="Calibri"/>
                          <a:ea typeface="Calibri"/>
                          <a:cs typeface="Calibri"/>
                          <a:sym typeface="Calibri"/>
                        </a:rPr>
                        <a:t>dashboard</a:t>
                      </a:r>
                      <a:r>
                        <a:rPr lang="es-ES" sz="900">
                          <a:latin typeface="Calibri"/>
                          <a:ea typeface="Calibri"/>
                          <a:cs typeface="Calibri"/>
                          <a:sym typeface="Calibri"/>
                        </a:rPr>
                        <a:t> tiempo real</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Eduardo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Completado</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900">
                          <a:latin typeface="Calibri"/>
                          <a:ea typeface="Calibri"/>
                          <a:cs typeface="Calibri"/>
                          <a:sym typeface="Calibri"/>
                        </a:rPr>
                        <a:t>Edito el codigo cambiando </a:t>
                      </a:r>
                      <a:r>
                        <a:rPr lang="es-ES" sz="900">
                          <a:latin typeface="Calibri"/>
                          <a:ea typeface="Calibri"/>
                          <a:cs typeface="Calibri"/>
                          <a:sym typeface="Calibri"/>
                        </a:rPr>
                        <a:t>parámetros</a:t>
                      </a:r>
                      <a:r>
                        <a:rPr lang="es-ES" sz="900">
                          <a:latin typeface="Calibri"/>
                          <a:ea typeface="Calibri"/>
                          <a:cs typeface="Calibri"/>
                          <a:sym typeface="Calibri"/>
                        </a:rPr>
                        <a:t> del dashboard</a:t>
                      </a:r>
                      <a:endParaRPr sz="9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27"/>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 name="Google Shape;1014;p27"/>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27"/>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27"/>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p27"/>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 name="Google Shape;1018;p27"/>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27"/>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 name="Google Shape;1020;p27"/>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p27"/>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2" name="Google Shape;1022;p27"/>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27"/>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 name="Google Shape;1024;p27"/>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27"/>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27"/>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27"/>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27"/>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27"/>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27"/>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27"/>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 name="Google Shape;1032;p27"/>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27"/>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4" name="Google Shape;1034;p27"/>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5" name="Google Shape;1035;p27"/>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6" name="Google Shape;1036;p27"/>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27"/>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8" name="Google Shape;1038;p27"/>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27"/>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0" name="Google Shape;1040;p27"/>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1" name="Google Shape;1041;p27"/>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27"/>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27"/>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4" name="Google Shape;1044;p27"/>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1 – EVIDENCIA PRUEBAS</a:t>
            </a:r>
            <a:endParaRPr b="1" sz="2400">
              <a:solidFill>
                <a:schemeClr val="accent5"/>
              </a:solidFill>
              <a:latin typeface="Calibri"/>
              <a:ea typeface="Calibri"/>
              <a:cs typeface="Calibri"/>
              <a:sym typeface="Calibri"/>
            </a:endParaRPr>
          </a:p>
        </p:txBody>
      </p:sp>
      <p:sp>
        <p:nvSpPr>
          <p:cNvPr id="1045" name="Google Shape;1045;p2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46" name="Google Shape;1046;p27"/>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047" name="Google Shape;1047;p27"/>
          <p:cNvPicPr preferRelativeResize="0"/>
          <p:nvPr/>
        </p:nvPicPr>
        <p:blipFill>
          <a:blip r:embed="rId5">
            <a:alphaModFix/>
          </a:blip>
          <a:stretch>
            <a:fillRect/>
          </a:stretch>
        </p:blipFill>
        <p:spPr>
          <a:xfrm>
            <a:off x="332775" y="830013"/>
            <a:ext cx="7847903" cy="629875"/>
          </a:xfrm>
          <a:prstGeom prst="rect">
            <a:avLst/>
          </a:prstGeom>
          <a:noFill/>
          <a:ln>
            <a:noFill/>
          </a:ln>
        </p:spPr>
      </p:pic>
      <p:pic>
        <p:nvPicPr>
          <p:cNvPr id="1048" name="Google Shape;1048;p27"/>
          <p:cNvPicPr preferRelativeResize="0"/>
          <p:nvPr/>
        </p:nvPicPr>
        <p:blipFill rotWithShape="1">
          <a:blip r:embed="rId6">
            <a:alphaModFix/>
          </a:blip>
          <a:srcRect b="0" l="0" r="0" t="11504"/>
          <a:stretch/>
        </p:blipFill>
        <p:spPr>
          <a:xfrm>
            <a:off x="1372500" y="1516225"/>
            <a:ext cx="5529836" cy="30609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28"/>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4" name="Google Shape;1054;p28"/>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1055" name="Google Shape;1055;p28"/>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28"/>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7" name="Google Shape;1057;p28"/>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 name="Google Shape;1058;p28"/>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9" name="Google Shape;1059;p28"/>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0" name="Google Shape;1060;p28"/>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28"/>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2" name="Google Shape;1062;p28"/>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3" name="Google Shape;1063;p28"/>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4" name="Google Shape;1064;p28"/>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5" name="Google Shape;1065;p28"/>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6" name="Google Shape;1066;p28"/>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7" name="Google Shape;1067;p28"/>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8" name="Google Shape;1068;p28"/>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28"/>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0" name="Google Shape;1070;p28"/>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1" name="Google Shape;1071;p28"/>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28"/>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3" name="Google Shape;1073;p28"/>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4" name="Google Shape;1074;p28"/>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5" name="Google Shape;1075;p28"/>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6" name="Google Shape;1076;p28"/>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7" name="Google Shape;1077;p28"/>
          <p:cNvSpPr/>
          <p:nvPr/>
        </p:nvSpPr>
        <p:spPr>
          <a:xfrm>
            <a:off x="4772829" y="1791743"/>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28"/>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28"/>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0" name="Google Shape;1080;p28"/>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1" name="Google Shape;1081;p28"/>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1082" name="Google Shape;1082;p28"/>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3" name="Google Shape;1083;p28"/>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2 – </a:t>
            </a:r>
            <a:r>
              <a:rPr b="1" lang="es-ES" sz="2400">
                <a:solidFill>
                  <a:schemeClr val="accent5"/>
                </a:solidFill>
                <a:latin typeface="Calibri"/>
                <a:ea typeface="Calibri"/>
                <a:cs typeface="Calibri"/>
                <a:sym typeface="Calibri"/>
              </a:rPr>
              <a:t>dashboard</a:t>
            </a:r>
            <a:r>
              <a:rPr b="1" lang="es-ES" sz="2400">
                <a:solidFill>
                  <a:schemeClr val="accent5"/>
                </a:solidFill>
                <a:latin typeface="Calibri"/>
                <a:ea typeface="Calibri"/>
                <a:cs typeface="Calibri"/>
                <a:sym typeface="Calibri"/>
              </a:rPr>
              <a:t> y </a:t>
            </a:r>
            <a:r>
              <a:rPr b="1" lang="es-ES" sz="2400">
                <a:solidFill>
                  <a:schemeClr val="accent5"/>
                </a:solidFill>
                <a:latin typeface="Calibri"/>
                <a:ea typeface="Calibri"/>
                <a:cs typeface="Calibri"/>
                <a:sym typeface="Calibri"/>
              </a:rPr>
              <a:t>densidad</a:t>
            </a:r>
            <a:endParaRPr b="1" sz="2400">
              <a:solidFill>
                <a:schemeClr val="accent5"/>
              </a:solidFill>
              <a:latin typeface="Calibri"/>
              <a:ea typeface="Calibri"/>
              <a:cs typeface="Calibri"/>
              <a:sym typeface="Calibri"/>
            </a:endParaRPr>
          </a:p>
        </p:txBody>
      </p:sp>
      <p:sp>
        <p:nvSpPr>
          <p:cNvPr id="1084" name="Google Shape;1084;p28"/>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085" name="Google Shape;1085;p28"/>
          <p:cNvSpPr txBox="1"/>
          <p:nvPr/>
        </p:nvSpPr>
        <p:spPr>
          <a:xfrm>
            <a:off x="903457" y="630075"/>
            <a:ext cx="7378500" cy="1449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ES">
                <a:solidFill>
                  <a:schemeClr val="dk1"/>
                </a:solidFill>
                <a:latin typeface="Calibri"/>
                <a:ea typeface="Calibri"/>
                <a:cs typeface="Calibri"/>
                <a:sym typeface="Calibri"/>
              </a:rPr>
              <a:t>Duración: 3 semanas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s-ES">
                <a:solidFill>
                  <a:schemeClr val="dk1"/>
                </a:solidFill>
                <a:latin typeface="Calibri"/>
                <a:ea typeface="Calibri"/>
                <a:cs typeface="Calibri"/>
                <a:sym typeface="Calibri"/>
              </a:rPr>
              <a:t>Evidencias: Documentación Scrum definida y avance del incremento</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12700" rtl="0" algn="l">
              <a:lnSpc>
                <a:spcPct val="115000"/>
              </a:lnSpc>
              <a:spcBef>
                <a:spcPts val="0"/>
              </a:spcBef>
              <a:spcAft>
                <a:spcPts val="0"/>
              </a:spcAft>
              <a:buClr>
                <a:schemeClr val="dk1"/>
              </a:buClr>
              <a:buSzPts val="1100"/>
              <a:buFont typeface="Arial"/>
              <a:buNone/>
            </a:pPr>
            <a:r>
              <a:rPr lang="es-ES">
                <a:solidFill>
                  <a:schemeClr val="dk1"/>
                </a:solidFill>
                <a:latin typeface="Calibri"/>
                <a:ea typeface="Calibri"/>
                <a:cs typeface="Calibri"/>
                <a:sym typeface="Calibri"/>
              </a:rPr>
              <a:t>Descripción: Migración del código a collab y montaje de base de datos y backend/frontend en render </a:t>
            </a:r>
            <a:endParaRPr b="1" sz="1455">
              <a:solidFill>
                <a:srgbClr val="FFFFFF"/>
              </a:solidFill>
            </a:endParaRPr>
          </a:p>
        </p:txBody>
      </p:sp>
      <p:sp>
        <p:nvSpPr>
          <p:cNvPr id="1086" name="Google Shape;1086;p28"/>
          <p:cNvSpPr/>
          <p:nvPr/>
        </p:nvSpPr>
        <p:spPr>
          <a:xfrm>
            <a:off x="1836200" y="2849200"/>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Capturar imagen Con cámara</a:t>
            </a:r>
            <a:endParaRPr sz="1200"/>
          </a:p>
        </p:txBody>
      </p:sp>
      <p:sp>
        <p:nvSpPr>
          <p:cNvPr id="1087" name="Google Shape;1087;p28"/>
          <p:cNvSpPr/>
          <p:nvPr/>
        </p:nvSpPr>
        <p:spPr>
          <a:xfrm>
            <a:off x="5160313" y="2869863"/>
            <a:ext cx="1813800" cy="62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ES" sz="1200"/>
              <a:t>Procesar imagen</a:t>
            </a:r>
            <a:endParaRPr sz="1200"/>
          </a:p>
        </p:txBody>
      </p:sp>
      <p:sp>
        <p:nvSpPr>
          <p:cNvPr id="1088" name="Google Shape;1088;p28"/>
          <p:cNvSpPr txBox="1"/>
          <p:nvPr/>
        </p:nvSpPr>
        <p:spPr>
          <a:xfrm>
            <a:off x="3429000" y="2348638"/>
            <a:ext cx="1955100" cy="2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t>Historia de usuarios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29"/>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29"/>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5" name="Google Shape;1095;p29"/>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29"/>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7" name="Google Shape;1097;p29"/>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29"/>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29"/>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0" name="Google Shape;1100;p29"/>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1" name="Google Shape;1101;p29"/>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2" name="Google Shape;1102;p29"/>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29"/>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4" name="Google Shape;1104;p29"/>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5" name="Google Shape;1105;p29"/>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6" name="Google Shape;1106;p29"/>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7" name="Google Shape;1107;p29"/>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8" name="Google Shape;1108;p29"/>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9" name="Google Shape;1109;p29"/>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0" name="Google Shape;1110;p29"/>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1" name="Google Shape;1111;p29"/>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2" name="Google Shape;1112;p29"/>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3" name="Google Shape;1113;p29"/>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4" name="Google Shape;1114;p29"/>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5" name="Google Shape;1115;p29"/>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6" name="Google Shape;1116;p29"/>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7" name="Google Shape;1117;p29"/>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8" name="Google Shape;1118;p29"/>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9" name="Google Shape;1119;p29"/>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0" name="Google Shape;1120;p29"/>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1" name="Google Shape;1121;p29"/>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2" name="Google Shape;1122;p29"/>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3" name="Google Shape;1123;p29"/>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4" name="Google Shape;1124;p29"/>
          <p:cNvSpPr txBox="1"/>
          <p:nvPr/>
        </p:nvSpPr>
        <p:spPr>
          <a:xfrm>
            <a:off x="381002" y="23653"/>
            <a:ext cx="7807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2 – BACKLOG</a:t>
            </a:r>
            <a:endParaRPr b="1" sz="2400">
              <a:solidFill>
                <a:schemeClr val="accent5"/>
              </a:solidFill>
              <a:latin typeface="Calibri"/>
              <a:ea typeface="Calibri"/>
              <a:cs typeface="Calibri"/>
              <a:sym typeface="Calibri"/>
            </a:endParaRPr>
          </a:p>
        </p:txBody>
      </p:sp>
      <p:sp>
        <p:nvSpPr>
          <p:cNvPr id="1125" name="Google Shape;1125;p2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126" name="Google Shape;1126;p29"/>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127" name="Google Shape;1127;p29"/>
          <p:cNvGraphicFramePr/>
          <p:nvPr/>
        </p:nvGraphicFramePr>
        <p:xfrm>
          <a:off x="381000" y="493008"/>
          <a:ext cx="3000000" cy="3000000"/>
        </p:xfrm>
        <a:graphic>
          <a:graphicData uri="http://schemas.openxmlformats.org/drawingml/2006/table">
            <a:tbl>
              <a:tblPr>
                <a:noFill/>
                <a:tableStyleId>{A2000AEF-3157-48F0-9CC0-4320655CD2A0}</a:tableStyleId>
              </a:tblPr>
              <a:tblGrid>
                <a:gridCol w="993750"/>
                <a:gridCol w="2772000"/>
                <a:gridCol w="2510500"/>
                <a:gridCol w="1290100"/>
                <a:gridCol w="662500"/>
              </a:tblGrid>
              <a:tr h="563850">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Identificador (ID) de </a:t>
                      </a:r>
                      <a:r>
                        <a:rPr b="1" lang="es-ES" sz="1000">
                          <a:solidFill>
                            <a:srgbClr val="FFFFFF"/>
                          </a:solidFill>
                          <a:latin typeface="Calibri"/>
                          <a:ea typeface="Calibri"/>
                          <a:cs typeface="Calibri"/>
                          <a:sym typeface="Calibri"/>
                        </a:rPr>
                        <a:t>ítem</a:t>
                      </a:r>
                      <a:r>
                        <a:rPr b="1" lang="es-ES" sz="1000">
                          <a:solidFill>
                            <a:srgbClr val="FFFFFF"/>
                          </a:solidFill>
                          <a:latin typeface="Calibri"/>
                          <a:ea typeface="Calibri"/>
                          <a:cs typeface="Calibri"/>
                          <a:sym typeface="Calibri"/>
                        </a:rPr>
                        <a:t> de product backlog</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Enunciado del </a:t>
                      </a:r>
                      <a:r>
                        <a:rPr b="1" lang="es-ES" sz="1000">
                          <a:solidFill>
                            <a:srgbClr val="FFFFFF"/>
                          </a:solidFill>
                          <a:latin typeface="Calibri"/>
                          <a:ea typeface="Calibri"/>
                          <a:cs typeface="Calibri"/>
                          <a:sym typeface="Calibri"/>
                        </a:rPr>
                        <a:t>ítem</a:t>
                      </a:r>
                      <a:r>
                        <a:rPr b="1" lang="es-ES" sz="1000">
                          <a:solidFill>
                            <a:srgbClr val="FFFFFF"/>
                          </a:solidFill>
                          <a:latin typeface="Calibri"/>
                          <a:ea typeface="Calibri"/>
                          <a:cs typeface="Calibri"/>
                          <a:sym typeface="Calibri"/>
                        </a:rPr>
                        <a:t> de Product Backlog</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Tarea</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Dueño / Voluntario</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b="1" lang="es-ES" sz="1000">
                          <a:solidFill>
                            <a:srgbClr val="FFFFFF"/>
                          </a:solidFill>
                          <a:latin typeface="Calibri"/>
                          <a:ea typeface="Calibri"/>
                          <a:cs typeface="Calibri"/>
                          <a:sym typeface="Calibri"/>
                        </a:rPr>
                        <a:t>Estatus</a:t>
                      </a:r>
                      <a:endParaRPr b="1" sz="1000">
                        <a:solidFill>
                          <a:srgbClr val="FFFFFF"/>
                        </a:solidFill>
                        <a:latin typeface="Calibri"/>
                        <a:ea typeface="Calibri"/>
                        <a:cs typeface="Calibri"/>
                        <a:sym typeface="Calibri"/>
                      </a:endParaRPr>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97D"/>
                    </a:solidFill>
                  </a:tcPr>
                </a:tc>
              </a:tr>
              <a:tr h="448300">
                <a:tc>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HU-05</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Como administrador, necesito guardar en la base de datos los registros de densidad de personas obtenidos, con la finalidad de disponer de información histórica y confiable para reportes y visualización en la app.</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Definir endpoints + API RESTFULL</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Percy/Eduardo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Finalizado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rowSpan="3">
                  <a:txBody>
                    <a:bodyPr/>
                    <a:lstStyle/>
                    <a:p>
                      <a:pPr indent="0" lvl="0" marL="0" rtl="0" algn="ctr">
                        <a:lnSpc>
                          <a:spcPct val="115000"/>
                        </a:lnSpc>
                        <a:spcBef>
                          <a:spcPts val="0"/>
                        </a:spcBef>
                        <a:spcAft>
                          <a:spcPts val="0"/>
                        </a:spcAft>
                        <a:buNone/>
                      </a:pPr>
                      <a:r>
                        <a:rPr b="1" lang="es-ES" sz="1000">
                          <a:latin typeface="Calibri"/>
                          <a:ea typeface="Calibri"/>
                          <a:cs typeface="Calibri"/>
                          <a:sym typeface="Calibri"/>
                        </a:rPr>
                        <a:t>HU-06</a:t>
                      </a:r>
                      <a:endParaRPr b="1" sz="10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rowSpan="3">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Como administrador, necesito visualizar reportes de densidad de visitantes por lugar y fecha, con la finalidad de planificar medidas de control y gestión turística.</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Crear proyecto base en Node.js + Express</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Percy/Eduardo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Finalizado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vMerge="1"/>
                <a:tc vMerge="1"/>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Configurar BD PostgreSQL</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Percy/Eduardo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Finalizado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48025">
                <a:tc vMerge="1"/>
                <a:tc vMerge="1"/>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Validar funcionamiento desde interfaz</a:t>
                      </a:r>
                      <a:endParaRPr sz="700">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Percy/Eduardo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latin typeface="Calibri"/>
                          <a:ea typeface="Calibri"/>
                          <a:cs typeface="Calibri"/>
                          <a:sym typeface="Calibri"/>
                        </a:rPr>
                        <a:t>Finalizado</a:t>
                      </a:r>
                      <a:endParaRPr sz="700">
                        <a:latin typeface="Calibri"/>
                        <a:ea typeface="Calibri"/>
                        <a:cs typeface="Calibri"/>
                        <a:sym typeface="Calibri"/>
                      </a:endParaRPr>
                    </a:p>
                  </a:txBody>
                  <a:tcPr marT="91425" marB="91425"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id="1128" name="Google Shape;1128;p29"/>
          <p:cNvPicPr preferRelativeResize="0"/>
          <p:nvPr/>
        </p:nvPicPr>
        <p:blipFill>
          <a:blip r:embed="rId5">
            <a:alphaModFix/>
          </a:blip>
          <a:stretch>
            <a:fillRect/>
          </a:stretch>
        </p:blipFill>
        <p:spPr>
          <a:xfrm>
            <a:off x="252038" y="2861775"/>
            <a:ext cx="8769450" cy="1673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30"/>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4" name="Google Shape;1134;p30"/>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5" name="Google Shape;1135;p30"/>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6" name="Google Shape;1136;p30"/>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30"/>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8" name="Google Shape;1138;p30"/>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9" name="Google Shape;1139;p30"/>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0" name="Google Shape;1140;p30"/>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1" name="Google Shape;1141;p30"/>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2" name="Google Shape;1142;p30"/>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3" name="Google Shape;1143;p30"/>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4" name="Google Shape;1144;p30"/>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30"/>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6" name="Google Shape;1146;p30"/>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7" name="Google Shape;1147;p30"/>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8" name="Google Shape;1148;p30"/>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9" name="Google Shape;1149;p30"/>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30"/>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1" name="Google Shape;1151;p30"/>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2" name="Google Shape;1152;p30"/>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3" name="Google Shape;1153;p30"/>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4" name="Google Shape;1154;p30"/>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30"/>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30"/>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7" name="Google Shape;1157;p30"/>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8" name="Google Shape;1158;p30"/>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9" name="Google Shape;1159;p30"/>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0" name="Google Shape;1160;p30"/>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30"/>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2" name="Google Shape;1162;p30"/>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3" name="Google Shape;1163;p30"/>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4" name="Google Shape;1164;p30"/>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2 – BURNDOWN CHART</a:t>
            </a:r>
            <a:endParaRPr b="1" sz="2400">
              <a:solidFill>
                <a:schemeClr val="accent5"/>
              </a:solidFill>
              <a:latin typeface="Calibri"/>
              <a:ea typeface="Calibri"/>
              <a:cs typeface="Calibri"/>
              <a:sym typeface="Calibri"/>
            </a:endParaRPr>
          </a:p>
        </p:txBody>
      </p:sp>
      <p:sp>
        <p:nvSpPr>
          <p:cNvPr id="1165" name="Google Shape;1165;p3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166" name="Google Shape;1166;p30"/>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167" name="Google Shape;1167;p30"/>
          <p:cNvPicPr preferRelativeResize="0"/>
          <p:nvPr/>
        </p:nvPicPr>
        <p:blipFill rotWithShape="1">
          <a:blip r:embed="rId5">
            <a:alphaModFix/>
          </a:blip>
          <a:srcRect b="0" l="0" r="0" t="0"/>
          <a:stretch/>
        </p:blipFill>
        <p:spPr>
          <a:xfrm>
            <a:off x="548767" y="710783"/>
            <a:ext cx="6425153" cy="350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31"/>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3" name="Google Shape;1173;p31"/>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4" name="Google Shape;1174;p31"/>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5" name="Google Shape;1175;p31"/>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6" name="Google Shape;1176;p31"/>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7" name="Google Shape;1177;p31"/>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8" name="Google Shape;1178;p31"/>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9" name="Google Shape;1179;p31"/>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0" name="Google Shape;1180;p31"/>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31"/>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2" name="Google Shape;1182;p31"/>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31"/>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4" name="Google Shape;1184;p31"/>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5" name="Google Shape;1185;p31"/>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6" name="Google Shape;1186;p31"/>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31"/>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31"/>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31"/>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31"/>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31"/>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31"/>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3" name="Google Shape;1193;p31"/>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4" name="Google Shape;1194;p31"/>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5" name="Google Shape;1195;p31"/>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6" name="Google Shape;1196;p31"/>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7" name="Google Shape;1197;p31"/>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8" name="Google Shape;1198;p31"/>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9" name="Google Shape;1199;p31"/>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0" name="Google Shape;1200;p31"/>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1" name="Google Shape;1201;p31"/>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2" name="Google Shape;1202;p31"/>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3" name="Google Shape;1203;p31"/>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2 – IMPEDIMENT LOG</a:t>
            </a:r>
            <a:endParaRPr b="1" sz="2400">
              <a:solidFill>
                <a:schemeClr val="accent5"/>
              </a:solidFill>
              <a:latin typeface="Calibri"/>
              <a:ea typeface="Calibri"/>
              <a:cs typeface="Calibri"/>
              <a:sym typeface="Calibri"/>
            </a:endParaRPr>
          </a:p>
        </p:txBody>
      </p:sp>
      <p:sp>
        <p:nvSpPr>
          <p:cNvPr id="1204" name="Google Shape;1204;p3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05" name="Google Shape;1205;p31"/>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graphicFrame>
        <p:nvGraphicFramePr>
          <p:cNvPr id="1206" name="Google Shape;1206;p31"/>
          <p:cNvGraphicFramePr/>
          <p:nvPr/>
        </p:nvGraphicFramePr>
        <p:xfrm>
          <a:off x="108750" y="989450"/>
          <a:ext cx="3000000" cy="3000000"/>
        </p:xfrm>
        <a:graphic>
          <a:graphicData uri="http://schemas.openxmlformats.org/drawingml/2006/table">
            <a:tbl>
              <a:tblPr>
                <a:noFill/>
                <a:tableStyleId>{A2000AEF-3157-48F0-9CC0-4320655CD2A0}</a:tableStyleId>
              </a:tblPr>
              <a:tblGrid>
                <a:gridCol w="1154825"/>
                <a:gridCol w="859200"/>
                <a:gridCol w="1478200"/>
                <a:gridCol w="2428125"/>
                <a:gridCol w="658025"/>
                <a:gridCol w="489175"/>
                <a:gridCol w="1810775"/>
              </a:tblGrid>
              <a:tr h="400675">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Fecha</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HU</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Tarea</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Impedimento</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Responsable</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Estado</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s-ES" sz="800">
                          <a:latin typeface="Calibri"/>
                          <a:ea typeface="Calibri"/>
                          <a:cs typeface="Calibri"/>
                          <a:sym typeface="Calibri"/>
                        </a:rPr>
                        <a:t>Acción</a:t>
                      </a:r>
                      <a:endParaRPr b="1" sz="800">
                        <a:latin typeface="Calibri"/>
                        <a:ea typeface="Calibri"/>
                        <a:cs typeface="Calibri"/>
                        <a:sym typeface="Calibri"/>
                      </a:endParaRPr>
                    </a:p>
                  </a:txBody>
                  <a:tcPr marT="91425" marB="91425"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1/10/2025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Ingesta /api/metricsen Render</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demoraba 10–15s el primer insert</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Eduardo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Resuelto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Bajar la latencia y tiempo de envios</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3/10/2025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Idempotencia / deduplicación</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Duplicados por segundos</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Resuelto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Índice único (source_id, ts_sec)</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5/10/2025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HU-06</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Dashboard (gráficos)</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Servidor bloqueaba cargas de Chart.js/CDN</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Resuelto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Crear nuestro propio dashboard</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11/10/2025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Normalización de tiempo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Desfase horario (UTC vs Hora local) en dashboard</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Eduardo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En curso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Guardar tiempo; conversión en API a Chile/Santiago.</a:t>
                      </a:r>
                      <a:endParaRPr sz="800">
                        <a:latin typeface="Calibri"/>
                        <a:ea typeface="Calibri"/>
                        <a:cs typeface="Calibri"/>
                        <a:sym typeface="Calibri"/>
                      </a:endParaRPr>
                    </a:p>
                  </a:txBody>
                  <a:tcPr marT="91425" marB="91425" marR="91425" marL="9142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14/10/2025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HU-06</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Métrica semáforo por capacidad</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Falta join a lugar.</a:t>
                      </a:r>
                      <a:r>
                        <a:rPr lang="es-ES" sz="800">
                          <a:latin typeface="Calibri"/>
                          <a:ea typeface="Calibri"/>
                          <a:cs typeface="Calibri"/>
                          <a:sym typeface="Calibri"/>
                        </a:rPr>
                        <a:t>capacidad máxima</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Percy</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Resuelto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Join por source_id→lugar_id</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00675">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15/10/2025</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s-ES" sz="800">
                          <a:latin typeface="Calibri"/>
                          <a:ea typeface="Calibri"/>
                          <a:cs typeface="Calibri"/>
                          <a:sym typeface="Calibri"/>
                        </a:rPr>
                        <a:t>HU-06</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Snapshot de cámara en UI</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La </a:t>
                      </a:r>
                      <a:r>
                        <a:rPr lang="es-ES" sz="800">
                          <a:latin typeface="Calibri"/>
                          <a:ea typeface="Calibri"/>
                          <a:cs typeface="Calibri"/>
                          <a:sym typeface="Calibri"/>
                        </a:rPr>
                        <a:t>autentificación</a:t>
                      </a:r>
                      <a:r>
                        <a:rPr lang="es-ES" sz="800">
                          <a:latin typeface="Calibri"/>
                          <a:ea typeface="Calibri"/>
                          <a:cs typeface="Calibri"/>
                          <a:sym typeface="Calibri"/>
                        </a:rPr>
                        <a:t> del snapshot bloqueaba la </a:t>
                      </a:r>
                      <a:r>
                        <a:rPr lang="es-ES" sz="800">
                          <a:latin typeface="Calibri"/>
                          <a:ea typeface="Calibri"/>
                          <a:cs typeface="Calibri"/>
                          <a:sym typeface="Calibri"/>
                        </a:rPr>
                        <a:t>imagen</a:t>
                      </a:r>
                      <a:r>
                        <a:rPr lang="es-ES" sz="800">
                          <a:latin typeface="Calibri"/>
                          <a:ea typeface="Calibri"/>
                          <a:cs typeface="Calibri"/>
                          <a:sym typeface="Calibri"/>
                        </a:rPr>
                        <a:t> y </a:t>
                      </a:r>
                      <a:r>
                        <a:rPr lang="es-ES" sz="800">
                          <a:latin typeface="Calibri"/>
                          <a:ea typeface="Calibri"/>
                          <a:cs typeface="Calibri"/>
                          <a:sym typeface="Calibri"/>
                        </a:rPr>
                        <a:t>ralentiza</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Eduardo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Resuelto</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s-ES" sz="800">
                          <a:latin typeface="Calibri"/>
                          <a:ea typeface="Calibri"/>
                          <a:cs typeface="Calibri"/>
                          <a:sym typeface="Calibri"/>
                        </a:rPr>
                        <a:t>Desactivar snapshot</a:t>
                      </a:r>
                      <a:endParaRPr sz="800">
                        <a:latin typeface="Calibri"/>
                        <a:ea typeface="Calibri"/>
                        <a:cs typeface="Calibri"/>
                        <a:sym typeface="Calibri"/>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32"/>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32"/>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3" name="Google Shape;1213;p32"/>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4" name="Google Shape;1214;p32"/>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5" name="Google Shape;1215;p32"/>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6" name="Google Shape;1216;p32"/>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7" name="Google Shape;1217;p32"/>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8" name="Google Shape;1218;p32"/>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9" name="Google Shape;1219;p32"/>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0" name="Google Shape;1220;p32"/>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32"/>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32"/>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3" name="Google Shape;1223;p32"/>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4" name="Google Shape;1224;p32"/>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5" name="Google Shape;1225;p32"/>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6" name="Google Shape;1226;p32"/>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p32"/>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8" name="Google Shape;1228;p32"/>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9" name="Google Shape;1229;p32"/>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0" name="Google Shape;1230;p32"/>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1" name="Google Shape;1231;p32"/>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2" name="Google Shape;1232;p32"/>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3" name="Google Shape;1233;p32"/>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4" name="Google Shape;1234;p32"/>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5" name="Google Shape;1235;p32"/>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6" name="Google Shape;1236;p32"/>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7" name="Google Shape;1237;p32"/>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8" name="Google Shape;1238;p32"/>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9" name="Google Shape;1239;p32"/>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0" name="Google Shape;1240;p32"/>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SPRINT 2 – EVIDENCIA PRUEBAS</a:t>
            </a:r>
            <a:endParaRPr b="1" sz="2400">
              <a:solidFill>
                <a:schemeClr val="accent5"/>
              </a:solidFill>
              <a:latin typeface="Calibri"/>
              <a:ea typeface="Calibri"/>
              <a:cs typeface="Calibri"/>
              <a:sym typeface="Calibri"/>
            </a:endParaRPr>
          </a:p>
        </p:txBody>
      </p:sp>
      <p:sp>
        <p:nvSpPr>
          <p:cNvPr id="1241" name="Google Shape;1241;p3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42" name="Google Shape;1242;p32"/>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243" name="Google Shape;1243;p32"/>
          <p:cNvPicPr preferRelativeResize="0"/>
          <p:nvPr/>
        </p:nvPicPr>
        <p:blipFill>
          <a:blip r:embed="rId5">
            <a:alphaModFix/>
          </a:blip>
          <a:stretch>
            <a:fillRect/>
          </a:stretch>
        </p:blipFill>
        <p:spPr>
          <a:xfrm>
            <a:off x="52925" y="591403"/>
            <a:ext cx="8918825" cy="892797"/>
          </a:xfrm>
          <a:prstGeom prst="rect">
            <a:avLst/>
          </a:prstGeom>
          <a:noFill/>
          <a:ln>
            <a:noFill/>
          </a:ln>
        </p:spPr>
      </p:pic>
      <p:pic>
        <p:nvPicPr>
          <p:cNvPr id="1244" name="Google Shape;1244;p32"/>
          <p:cNvPicPr preferRelativeResize="0"/>
          <p:nvPr/>
        </p:nvPicPr>
        <p:blipFill>
          <a:blip r:embed="rId6">
            <a:alphaModFix/>
          </a:blip>
          <a:stretch>
            <a:fillRect/>
          </a:stretch>
        </p:blipFill>
        <p:spPr>
          <a:xfrm>
            <a:off x="4500225" y="2414050"/>
            <a:ext cx="4348134" cy="2331175"/>
          </a:xfrm>
          <a:prstGeom prst="rect">
            <a:avLst/>
          </a:prstGeom>
          <a:noFill/>
          <a:ln>
            <a:noFill/>
          </a:ln>
        </p:spPr>
      </p:pic>
      <p:pic>
        <p:nvPicPr>
          <p:cNvPr id="1245" name="Google Shape;1245;p32"/>
          <p:cNvPicPr preferRelativeResize="0"/>
          <p:nvPr/>
        </p:nvPicPr>
        <p:blipFill>
          <a:blip r:embed="rId7">
            <a:alphaModFix/>
          </a:blip>
          <a:stretch>
            <a:fillRect/>
          </a:stretch>
        </p:blipFill>
        <p:spPr>
          <a:xfrm>
            <a:off x="233450" y="1522850"/>
            <a:ext cx="5696410" cy="833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33"/>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1" name="Google Shape;1251;p33"/>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2" name="Google Shape;1252;p33"/>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3" name="Google Shape;1253;p33"/>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4" name="Google Shape;1254;p33"/>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5" name="Google Shape;1255;p33"/>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6" name="Google Shape;1256;p33"/>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7" name="Google Shape;1257;p33"/>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8" name="Google Shape;1258;p33"/>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9" name="Google Shape;1259;p33"/>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0" name="Google Shape;1260;p33"/>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1" name="Google Shape;1261;p33"/>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2" name="Google Shape;1262;p33"/>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3" name="Google Shape;1263;p33"/>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4" name="Google Shape;1264;p33"/>
          <p:cNvSpPr/>
          <p:nvPr/>
        </p:nvSpPr>
        <p:spPr>
          <a:xfrm>
            <a:off x="7492543" y="3442703"/>
            <a:ext cx="688135" cy="596335"/>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5" name="Google Shape;1265;p33"/>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6" name="Google Shape;1266;p33"/>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7" name="Google Shape;1267;p33"/>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p33"/>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9" name="Google Shape;1269;p33"/>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0" name="Google Shape;1270;p33"/>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1" name="Google Shape;1271;p33"/>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2" name="Google Shape;1272;p33"/>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3" name="Google Shape;1273;p33"/>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4" name="Google Shape;1274;p33"/>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5" name="Google Shape;1275;p33"/>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6" name="Google Shape;1276;p33"/>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7" name="Google Shape;1277;p33"/>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8" name="Google Shape;1278;p33"/>
          <p:cNvSpPr/>
          <p:nvPr/>
        </p:nvSpPr>
        <p:spPr>
          <a:xfrm>
            <a:off x="6879455" y="4167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33"/>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0" name="Google Shape;1280;p33"/>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1" name="Google Shape;1281;p33"/>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DEMOSTRACIÓN</a:t>
            </a:r>
            <a:endParaRPr b="1" sz="2400">
              <a:solidFill>
                <a:schemeClr val="accent5"/>
              </a:solidFill>
              <a:latin typeface="Calibri"/>
              <a:ea typeface="Calibri"/>
              <a:cs typeface="Calibri"/>
              <a:sym typeface="Calibri"/>
            </a:endParaRPr>
          </a:p>
        </p:txBody>
      </p:sp>
      <p:sp>
        <p:nvSpPr>
          <p:cNvPr id="1282" name="Google Shape;1282;p3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283" name="Google Shape;1283;p33"/>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284" name="Google Shape;1284;p33"/>
          <p:cNvPicPr preferRelativeResize="0"/>
          <p:nvPr/>
        </p:nvPicPr>
        <p:blipFill>
          <a:blip r:embed="rId5">
            <a:alphaModFix/>
          </a:blip>
          <a:stretch>
            <a:fillRect/>
          </a:stretch>
        </p:blipFill>
        <p:spPr>
          <a:xfrm>
            <a:off x="2925500" y="527775"/>
            <a:ext cx="3953950" cy="3649800"/>
          </a:xfrm>
          <a:prstGeom prst="rect">
            <a:avLst/>
          </a:prstGeom>
          <a:noFill/>
          <a:ln>
            <a:noFill/>
          </a:ln>
        </p:spPr>
      </p:pic>
      <p:sp>
        <p:nvSpPr>
          <p:cNvPr id="1285" name="Google Shape;1285;p33"/>
          <p:cNvSpPr txBox="1"/>
          <p:nvPr/>
        </p:nvSpPr>
        <p:spPr>
          <a:xfrm>
            <a:off x="3130925" y="3573238"/>
            <a:ext cx="3351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500" u="sng">
                <a:solidFill>
                  <a:schemeClr val="hlink"/>
                </a:solidFill>
                <a:hlinkClick r:id="rId6"/>
              </a:rPr>
              <a:t>https://vision-api-wki3.onrender.com/</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34"/>
          <p:cNvSpPr/>
          <p:nvPr/>
        </p:nvSpPr>
        <p:spPr>
          <a:xfrm>
            <a:off x="775" y="0"/>
            <a:ext cx="9143224" cy="5143499"/>
          </a:xfrm>
          <a:custGeom>
            <a:rect b="b" l="l" r="r" t="t"/>
            <a:pathLst>
              <a:path extrusionOk="0" h="5143499" w="9143224">
                <a:moveTo>
                  <a:pt x="9143224" y="0"/>
                </a:moveTo>
                <a:lnTo>
                  <a:pt x="0" y="0"/>
                </a:lnTo>
                <a:lnTo>
                  <a:pt x="0" y="5143499"/>
                </a:lnTo>
                <a:lnTo>
                  <a:pt x="9143224" y="5143499"/>
                </a:lnTo>
                <a:lnTo>
                  <a:pt x="9143224"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1" name="Google Shape;1291;p34"/>
          <p:cNvSpPr/>
          <p:nvPr/>
        </p:nvSpPr>
        <p:spPr>
          <a:xfrm>
            <a:off x="775" y="0"/>
            <a:ext cx="9144000" cy="5143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2" name="Google Shape;1292;p34"/>
          <p:cNvSpPr/>
          <p:nvPr/>
        </p:nvSpPr>
        <p:spPr>
          <a:xfrm>
            <a:off x="4626325" y="1277163"/>
            <a:ext cx="2363100" cy="392400"/>
          </a:xfrm>
          <a:custGeom>
            <a:rect b="b" l="l" r="r" t="t"/>
            <a:pathLst>
              <a:path extrusionOk="0" h="392400" w="2363100">
                <a:moveTo>
                  <a:pt x="0" y="0"/>
                </a:moveTo>
                <a:lnTo>
                  <a:pt x="2363100" y="0"/>
                </a:lnTo>
                <a:lnTo>
                  <a:pt x="2363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3" name="Google Shape;1293;p34"/>
          <p:cNvSpPr/>
          <p:nvPr/>
        </p:nvSpPr>
        <p:spPr>
          <a:xfrm>
            <a:off x="6613752" y="1358873"/>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4" name="Google Shape;1294;p34"/>
          <p:cNvSpPr/>
          <p:nvPr/>
        </p:nvSpPr>
        <p:spPr>
          <a:xfrm>
            <a:off x="4788325" y="2849208"/>
            <a:ext cx="2039100" cy="392400"/>
          </a:xfrm>
          <a:custGeom>
            <a:rect b="b" l="l" r="r" t="t"/>
            <a:pathLst>
              <a:path extrusionOk="0" h="392400" w="2039100">
                <a:moveTo>
                  <a:pt x="0" y="0"/>
                </a:moveTo>
                <a:lnTo>
                  <a:pt x="2039100" y="0"/>
                </a:lnTo>
                <a:lnTo>
                  <a:pt x="2039100" y="392400"/>
                </a:lnTo>
                <a:lnTo>
                  <a:pt x="0" y="392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5" name="Google Shape;1295;p34"/>
          <p:cNvSpPr/>
          <p:nvPr/>
        </p:nvSpPr>
        <p:spPr>
          <a:xfrm>
            <a:off x="6674295" y="284289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6" name="Google Shape;1296;p34"/>
          <p:cNvSpPr/>
          <p:nvPr/>
        </p:nvSpPr>
        <p:spPr>
          <a:xfrm>
            <a:off x="7068625" y="2762100"/>
            <a:ext cx="1510500" cy="193200"/>
          </a:xfrm>
          <a:custGeom>
            <a:rect b="b" l="l" r="r" t="t"/>
            <a:pathLst>
              <a:path extrusionOk="0" h="193200" w="1510500">
                <a:moveTo>
                  <a:pt x="0" y="0"/>
                </a:moveTo>
                <a:lnTo>
                  <a:pt x="1510500" y="0"/>
                </a:lnTo>
                <a:lnTo>
                  <a:pt x="1510500" y="193200"/>
                </a:lnTo>
                <a:lnTo>
                  <a:pt x="0" y="1932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7" name="Google Shape;1297;p34"/>
          <p:cNvSpPr/>
          <p:nvPr/>
        </p:nvSpPr>
        <p:spPr>
          <a:xfrm>
            <a:off x="8484419" y="2844166"/>
            <a:ext cx="0" cy="148819"/>
          </a:xfrm>
          <a:custGeom>
            <a:rect b="b" l="l" r="r" t="t"/>
            <a:pathLst>
              <a:path extrusionOk="0" h="148819" w="120000">
                <a:moveTo>
                  <a:pt x="0" y="0"/>
                </a:moveTo>
                <a:lnTo>
                  <a:pt x="0" y="148819"/>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8" name="Google Shape;1298;p34"/>
          <p:cNvSpPr/>
          <p:nvPr/>
        </p:nvSpPr>
        <p:spPr>
          <a:xfrm>
            <a:off x="6935425" y="4039038"/>
            <a:ext cx="1855500" cy="187375"/>
          </a:xfrm>
          <a:custGeom>
            <a:rect b="b" l="l" r="r" t="t"/>
            <a:pathLst>
              <a:path extrusionOk="0" h="187375" w="1855500">
                <a:moveTo>
                  <a:pt x="0" y="0"/>
                </a:moveTo>
                <a:lnTo>
                  <a:pt x="1855500" y="0"/>
                </a:lnTo>
                <a:lnTo>
                  <a:pt x="1855500" y="187375"/>
                </a:lnTo>
                <a:lnTo>
                  <a:pt x="0" y="1873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9" name="Google Shape;1299;p34"/>
          <p:cNvSpPr/>
          <p:nvPr/>
        </p:nvSpPr>
        <p:spPr>
          <a:xfrm>
            <a:off x="8623086"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0" name="Google Shape;1300;p34"/>
          <p:cNvSpPr/>
          <p:nvPr/>
        </p:nvSpPr>
        <p:spPr>
          <a:xfrm>
            <a:off x="108776" y="79325"/>
            <a:ext cx="2532901" cy="725425"/>
          </a:xfrm>
          <a:custGeom>
            <a:rect b="b" l="l" r="r" t="t"/>
            <a:pathLst>
              <a:path extrusionOk="0" h="725425" w="2532901">
                <a:moveTo>
                  <a:pt x="0" y="0"/>
                </a:moveTo>
                <a:lnTo>
                  <a:pt x="2532901" y="0"/>
                </a:lnTo>
                <a:lnTo>
                  <a:pt x="2532901" y="725425"/>
                </a:lnTo>
                <a:lnTo>
                  <a:pt x="0" y="72542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1" name="Google Shape;1301;p34"/>
          <p:cNvSpPr/>
          <p:nvPr/>
        </p:nvSpPr>
        <p:spPr>
          <a:xfrm>
            <a:off x="226700" y="4654075"/>
            <a:ext cx="303851" cy="298252"/>
          </a:xfrm>
          <a:custGeom>
            <a:rect b="b" l="l" r="r" t="t"/>
            <a:pathLst>
              <a:path extrusionOk="0" h="298252" w="303851">
                <a:moveTo>
                  <a:pt x="0" y="0"/>
                </a:moveTo>
                <a:lnTo>
                  <a:pt x="303851" y="0"/>
                </a:lnTo>
                <a:lnTo>
                  <a:pt x="303851" y="298252"/>
                </a:lnTo>
                <a:lnTo>
                  <a:pt x="0" y="298252"/>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2" name="Google Shape;1302;p34"/>
          <p:cNvSpPr/>
          <p:nvPr/>
        </p:nvSpPr>
        <p:spPr>
          <a:xfrm>
            <a:off x="193067" y="4643876"/>
            <a:ext cx="372243" cy="41796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3" name="Google Shape;1303;p34"/>
          <p:cNvSpPr/>
          <p:nvPr/>
        </p:nvSpPr>
        <p:spPr>
          <a:xfrm>
            <a:off x="5441601" y="490534"/>
            <a:ext cx="766300" cy="799618"/>
          </a:xfrm>
          <a:custGeom>
            <a:rect b="b" l="l" r="r" t="t"/>
            <a:pathLst>
              <a:path extrusionOk="0" h="799618" w="766300">
                <a:moveTo>
                  <a:pt x="0" y="0"/>
                </a:moveTo>
                <a:lnTo>
                  <a:pt x="766300" y="0"/>
                </a:lnTo>
                <a:lnTo>
                  <a:pt x="766300" y="799618"/>
                </a:lnTo>
                <a:lnTo>
                  <a:pt x="0" y="79961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4" name="Google Shape;1304;p34"/>
          <p:cNvSpPr/>
          <p:nvPr/>
        </p:nvSpPr>
        <p:spPr>
          <a:xfrm>
            <a:off x="1705375" y="2650500"/>
            <a:ext cx="2363744" cy="1848638"/>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s-ES" sz="1200">
                <a:solidFill>
                  <a:schemeClr val="dk1"/>
                </a:solidFill>
              </a:rPr>
              <a:t>“Considero que la solución propuesta es bastante innovadora, aprovechando las herramientas existentes. Ayudándonos a potenciar nuestras competencias como la integración de ia y gestión de proyectos mientras aceptamos el desafío de trabajar con un cliente real .”</a:t>
            </a:r>
            <a:endParaRPr sz="1200">
              <a:solidFill>
                <a:schemeClr val="dk1"/>
              </a:solidFill>
            </a:endParaRPr>
          </a:p>
        </p:txBody>
      </p:sp>
      <p:sp>
        <p:nvSpPr>
          <p:cNvPr id="1305" name="Google Shape;1305;p34"/>
          <p:cNvSpPr/>
          <p:nvPr/>
        </p:nvSpPr>
        <p:spPr>
          <a:xfrm>
            <a:off x="613025" y="4803200"/>
            <a:ext cx="8047500" cy="0"/>
          </a:xfrm>
          <a:custGeom>
            <a:rect b="b" l="l" r="r" t="t"/>
            <a:pathLst>
              <a:path extrusionOk="0" h="120000" w="8047500">
                <a:moveTo>
                  <a:pt x="0" y="0"/>
                </a:moveTo>
                <a:lnTo>
                  <a:pt x="8047500" y="0"/>
                </a:lnTo>
              </a:path>
            </a:pathLst>
          </a:custGeom>
          <a:noFill/>
          <a:ln cap="flat" cmpd="sng" w="23750">
            <a:solidFill>
              <a:srgbClr val="35D4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6" name="Google Shape;1306;p34"/>
          <p:cNvSpPr/>
          <p:nvPr/>
        </p:nvSpPr>
        <p:spPr>
          <a:xfrm>
            <a:off x="608262" y="4803200"/>
            <a:ext cx="8057025" cy="0"/>
          </a:xfrm>
          <a:custGeom>
            <a:rect b="b" l="l" r="r" t="t"/>
            <a:pathLst>
              <a:path extrusionOk="0" h="120000" w="8057025">
                <a:moveTo>
                  <a:pt x="0" y="0"/>
                </a:moveTo>
                <a:lnTo>
                  <a:pt x="8057025" y="0"/>
                </a:lnTo>
              </a:path>
            </a:pathLst>
          </a:custGeom>
          <a:noFill/>
          <a:ln cap="flat" cmpd="sng" w="33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7" name="Google Shape;1307;p34"/>
          <p:cNvSpPr/>
          <p:nvPr/>
        </p:nvSpPr>
        <p:spPr>
          <a:xfrm>
            <a:off x="6916975" y="1303575"/>
            <a:ext cx="1813800" cy="181575"/>
          </a:xfrm>
          <a:custGeom>
            <a:rect b="b" l="l" r="r" t="t"/>
            <a:pathLst>
              <a:path extrusionOk="0" h="181575" w="1813800">
                <a:moveTo>
                  <a:pt x="0" y="0"/>
                </a:moveTo>
                <a:lnTo>
                  <a:pt x="1813800" y="0"/>
                </a:lnTo>
                <a:lnTo>
                  <a:pt x="1813800" y="181575"/>
                </a:lnTo>
                <a:lnTo>
                  <a:pt x="0" y="18157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8" name="Google Shape;1308;p34"/>
          <p:cNvSpPr/>
          <p:nvPr/>
        </p:nvSpPr>
        <p:spPr>
          <a:xfrm>
            <a:off x="8484521" y="1385285"/>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9" name="Google Shape;1309;p34"/>
          <p:cNvSpPr/>
          <p:nvPr/>
        </p:nvSpPr>
        <p:spPr>
          <a:xfrm>
            <a:off x="5479800" y="2073063"/>
            <a:ext cx="688123" cy="688123"/>
          </a:xfrm>
          <a:custGeom>
            <a:rect b="b" l="l" r="r" t="t"/>
            <a:pathLst>
              <a:path extrusionOk="0" h="688123" w="688123">
                <a:moveTo>
                  <a:pt x="0" y="0"/>
                </a:moveTo>
                <a:lnTo>
                  <a:pt x="688123" y="0"/>
                </a:lnTo>
                <a:lnTo>
                  <a:pt x="688123" y="688123"/>
                </a:lnTo>
                <a:lnTo>
                  <a:pt x="0" y="688123"/>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0" name="Google Shape;1310;p34"/>
          <p:cNvSpPr/>
          <p:nvPr/>
        </p:nvSpPr>
        <p:spPr>
          <a:xfrm>
            <a:off x="7470325" y="562320"/>
            <a:ext cx="732575" cy="724428"/>
          </a:xfrm>
          <a:custGeom>
            <a:rect b="b" l="l" r="r" t="t"/>
            <a:pathLst>
              <a:path extrusionOk="0" h="724428" w="732575">
                <a:moveTo>
                  <a:pt x="0" y="0"/>
                </a:moveTo>
                <a:lnTo>
                  <a:pt x="732575" y="0"/>
                </a:lnTo>
                <a:lnTo>
                  <a:pt x="732575" y="724428"/>
                </a:lnTo>
                <a:lnTo>
                  <a:pt x="0" y="724428"/>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1" name="Google Shape;1311;p34"/>
          <p:cNvSpPr/>
          <p:nvPr/>
        </p:nvSpPr>
        <p:spPr>
          <a:xfrm>
            <a:off x="7492538" y="2016293"/>
            <a:ext cx="688125" cy="702331"/>
          </a:xfrm>
          <a:custGeom>
            <a:rect b="b" l="l" r="r" t="t"/>
            <a:pathLst>
              <a:path extrusionOk="0" h="702331" w="688125">
                <a:moveTo>
                  <a:pt x="0" y="0"/>
                </a:moveTo>
                <a:lnTo>
                  <a:pt x="688125" y="0"/>
                </a:lnTo>
                <a:lnTo>
                  <a:pt x="688125" y="702331"/>
                </a:lnTo>
                <a:lnTo>
                  <a:pt x="0" y="702331"/>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2" name="Google Shape;1312;p34"/>
          <p:cNvSpPr/>
          <p:nvPr/>
        </p:nvSpPr>
        <p:spPr>
          <a:xfrm>
            <a:off x="4680325" y="4039038"/>
            <a:ext cx="2255100" cy="449100"/>
          </a:xfrm>
          <a:custGeom>
            <a:rect b="b" l="l" r="r" t="t"/>
            <a:pathLst>
              <a:path extrusionOk="0" h="449100" w="2255100">
                <a:moveTo>
                  <a:pt x="0" y="0"/>
                </a:moveTo>
                <a:lnTo>
                  <a:pt x="2255100" y="0"/>
                </a:lnTo>
                <a:lnTo>
                  <a:pt x="22551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3" name="Google Shape;1313;p34"/>
          <p:cNvSpPr/>
          <p:nvPr/>
        </p:nvSpPr>
        <p:spPr>
          <a:xfrm>
            <a:off x="6687129" y="4120748"/>
            <a:ext cx="0" cy="165288"/>
          </a:xfrm>
          <a:custGeom>
            <a:rect b="b" l="l" r="r" t="t"/>
            <a:pathLst>
              <a:path extrusionOk="0" h="165288" w="120000">
                <a:moveTo>
                  <a:pt x="0" y="0"/>
                </a:moveTo>
                <a:lnTo>
                  <a:pt x="0" y="165288"/>
                </a:lnTo>
                <a:lnTo>
                  <a:pt x="0" y="0"/>
                </a:lnTo>
                <a:close/>
              </a:path>
            </a:pathLst>
          </a:custGeom>
          <a:solidFill>
            <a:srgbClr val="01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4" name="Google Shape;1314;p34"/>
          <p:cNvSpPr/>
          <p:nvPr/>
        </p:nvSpPr>
        <p:spPr>
          <a:xfrm>
            <a:off x="6879455" y="148515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5" name="Google Shape;1315;p34"/>
          <p:cNvSpPr/>
          <p:nvPr/>
        </p:nvSpPr>
        <p:spPr>
          <a:xfrm>
            <a:off x="4831013" y="1794478"/>
            <a:ext cx="1914300" cy="449100"/>
          </a:xfrm>
          <a:custGeom>
            <a:rect b="b" l="l" r="r" t="t"/>
            <a:pathLst>
              <a:path extrusionOk="0" h="449100" w="1914300">
                <a:moveTo>
                  <a:pt x="0" y="0"/>
                </a:moveTo>
                <a:lnTo>
                  <a:pt x="1914300" y="0"/>
                </a:lnTo>
                <a:lnTo>
                  <a:pt x="1914300" y="449100"/>
                </a:lnTo>
                <a:lnTo>
                  <a:pt x="0" y="4491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6" name="Google Shape;1316;p34"/>
          <p:cNvSpPr/>
          <p:nvPr/>
        </p:nvSpPr>
        <p:spPr>
          <a:xfrm>
            <a:off x="6879455" y="2955300"/>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7" name="Google Shape;1317;p34"/>
          <p:cNvSpPr/>
          <p:nvPr/>
        </p:nvSpPr>
        <p:spPr>
          <a:xfrm>
            <a:off x="4824775" y="422778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8" name="Google Shape;1318;p34"/>
          <p:cNvSpPr/>
          <p:nvPr/>
        </p:nvSpPr>
        <p:spPr>
          <a:xfrm>
            <a:off x="6879455" y="4166818"/>
            <a:ext cx="1914300" cy="376800"/>
          </a:xfrm>
          <a:custGeom>
            <a:rect b="b" l="l" r="r" t="t"/>
            <a:pathLst>
              <a:path extrusionOk="0" h="376800" w="1914300">
                <a:moveTo>
                  <a:pt x="0" y="0"/>
                </a:moveTo>
                <a:lnTo>
                  <a:pt x="1914300" y="0"/>
                </a:lnTo>
                <a:lnTo>
                  <a:pt x="1914300" y="376800"/>
                </a:lnTo>
                <a:lnTo>
                  <a:pt x="0" y="3768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9" name="Google Shape;1319;p34"/>
          <p:cNvSpPr/>
          <p:nvPr/>
        </p:nvSpPr>
        <p:spPr>
          <a:xfrm>
            <a:off x="233452" y="851451"/>
            <a:ext cx="4262400" cy="3060900"/>
          </a:xfrm>
          <a:custGeom>
            <a:rect b="b" l="l" r="r" t="t"/>
            <a:pathLst>
              <a:path extrusionOk="0" h="3060900" w="4262400">
                <a:moveTo>
                  <a:pt x="0" y="0"/>
                </a:moveTo>
                <a:lnTo>
                  <a:pt x="4262400" y="0"/>
                </a:lnTo>
                <a:lnTo>
                  <a:pt x="4262400" y="3060900"/>
                </a:lnTo>
                <a:lnTo>
                  <a:pt x="0" y="30609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0" name="Google Shape;1320;p34"/>
          <p:cNvSpPr/>
          <p:nvPr/>
        </p:nvSpPr>
        <p:spPr>
          <a:xfrm>
            <a:off x="8683025" y="4635500"/>
            <a:ext cx="235800" cy="335400"/>
          </a:xfrm>
          <a:custGeom>
            <a:rect b="b" l="l" r="r" t="t"/>
            <a:pathLst>
              <a:path extrusionOk="0" h="335400" w="235800">
                <a:moveTo>
                  <a:pt x="0" y="0"/>
                </a:moveTo>
                <a:lnTo>
                  <a:pt x="235800" y="0"/>
                </a:lnTo>
                <a:lnTo>
                  <a:pt x="235800" y="335400"/>
                </a:lnTo>
                <a:lnTo>
                  <a:pt x="0" y="335400"/>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1" name="Google Shape;1321;p34"/>
          <p:cNvSpPr txBox="1"/>
          <p:nvPr/>
        </p:nvSpPr>
        <p:spPr>
          <a:xfrm>
            <a:off x="233452" y="15878"/>
            <a:ext cx="78079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accent5"/>
                </a:solidFill>
                <a:latin typeface="Calibri"/>
                <a:ea typeface="Calibri"/>
                <a:cs typeface="Calibri"/>
                <a:sym typeface="Calibri"/>
              </a:rPr>
              <a:t>CONCLUSIÓN</a:t>
            </a:r>
            <a:endParaRPr b="1" sz="2400">
              <a:solidFill>
                <a:schemeClr val="accent5"/>
              </a:solidFill>
              <a:latin typeface="Calibri"/>
              <a:ea typeface="Calibri"/>
              <a:cs typeface="Calibri"/>
              <a:sym typeface="Calibri"/>
            </a:endParaRPr>
          </a:p>
        </p:txBody>
      </p:sp>
      <p:sp>
        <p:nvSpPr>
          <p:cNvPr id="1322" name="Google Shape;1322;p3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sp>
        <p:nvSpPr>
          <p:cNvPr id="1323" name="Google Shape;1323;p34"/>
          <p:cNvSpPr txBox="1"/>
          <p:nvPr/>
        </p:nvSpPr>
        <p:spPr>
          <a:xfrm>
            <a:off x="903507" y="630063"/>
            <a:ext cx="1032717" cy="7640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55"/>
              <a:buFont typeface="Arial"/>
              <a:buNone/>
            </a:pPr>
            <a:r>
              <a:rPr b="1" i="0" lang="es-ES" sz="1455" u="none" cap="none" strike="noStrike">
                <a:solidFill>
                  <a:srgbClr val="FFFFFF"/>
                </a:solidFill>
                <a:latin typeface="Arial"/>
                <a:ea typeface="Arial"/>
                <a:cs typeface="Arial"/>
                <a:sym typeface="Arial"/>
              </a:rPr>
              <a:t>ACOMPAÑAMIENTO</a:t>
            </a:r>
            <a:endParaRPr b="0" i="0" sz="1400" u="none" cap="none" strike="noStrike">
              <a:solidFill>
                <a:srgbClr val="000000"/>
              </a:solidFill>
              <a:latin typeface="Arial"/>
              <a:ea typeface="Arial"/>
              <a:cs typeface="Arial"/>
              <a:sym typeface="Arial"/>
            </a:endParaRPr>
          </a:p>
        </p:txBody>
      </p:sp>
      <p:pic>
        <p:nvPicPr>
          <p:cNvPr id="1324" name="Google Shape;1324;p34" title="Diseño sin título-12.png"/>
          <p:cNvPicPr preferRelativeResize="0"/>
          <p:nvPr/>
        </p:nvPicPr>
        <p:blipFill rotWithShape="1">
          <a:blip r:embed="rId5">
            <a:alphaModFix/>
          </a:blip>
          <a:srcRect b="27358" l="18768" r="27606" t="18475"/>
          <a:stretch/>
        </p:blipFill>
        <p:spPr>
          <a:xfrm>
            <a:off x="5281775" y="710500"/>
            <a:ext cx="1510500" cy="1525750"/>
          </a:xfrm>
          <a:prstGeom prst="rect">
            <a:avLst/>
          </a:prstGeom>
          <a:noFill/>
          <a:ln>
            <a:noFill/>
          </a:ln>
        </p:spPr>
      </p:pic>
      <p:pic>
        <p:nvPicPr>
          <p:cNvPr id="1325" name="Google Shape;1325;p34" title="Diseño sin título-11.png"/>
          <p:cNvPicPr preferRelativeResize="0"/>
          <p:nvPr/>
        </p:nvPicPr>
        <p:blipFill rotWithShape="1">
          <a:blip r:embed="rId6">
            <a:alphaModFix/>
          </a:blip>
          <a:srcRect b="29552" l="18288" r="26608" t="16282"/>
          <a:stretch/>
        </p:blipFill>
        <p:spPr>
          <a:xfrm>
            <a:off x="2037300" y="705550"/>
            <a:ext cx="1552225" cy="1525750"/>
          </a:xfrm>
          <a:prstGeom prst="rect">
            <a:avLst/>
          </a:prstGeom>
          <a:noFill/>
          <a:ln>
            <a:noFill/>
          </a:ln>
        </p:spPr>
      </p:pic>
      <p:sp>
        <p:nvSpPr>
          <p:cNvPr id="1326" name="Google Shape;1326;p34"/>
          <p:cNvSpPr/>
          <p:nvPr/>
        </p:nvSpPr>
        <p:spPr>
          <a:xfrm>
            <a:off x="4894825" y="2642425"/>
            <a:ext cx="3537014" cy="1848638"/>
          </a:xfrm>
          <a:custGeom>
            <a:rect b="b" l="l" r="r" t="t"/>
            <a:pathLst>
              <a:path extrusionOk="0" h="596335" w="688135">
                <a:moveTo>
                  <a:pt x="0" y="0"/>
                </a:moveTo>
                <a:lnTo>
                  <a:pt x="688135" y="0"/>
                </a:lnTo>
                <a:lnTo>
                  <a:pt x="688135" y="596335"/>
                </a:lnTo>
                <a:lnTo>
                  <a:pt x="0" y="596335"/>
                </a:lnTo>
                <a:lnTo>
                  <a:pt x="0" y="0"/>
                </a:lnTo>
                <a:close/>
              </a:path>
            </a:pathLst>
          </a:custGeom>
          <a:solidFill>
            <a:srgbClr val="000000">
              <a:alpha val="0"/>
            </a:srgbClr>
          </a:solidFill>
          <a:ln>
            <a:noFill/>
          </a:ln>
        </p:spPr>
        <p:txBody>
          <a:bodyPr anchorCtr="0" anchor="t" bIns="0" lIns="0" spcFirstLastPara="1" rIns="0" wrap="square" tIns="0">
            <a:noAutofit/>
          </a:bodyPr>
          <a:lstStyle/>
          <a:p>
            <a:pPr indent="0" lvl="0" marL="0" rtl="0" algn="just">
              <a:lnSpc>
                <a:spcPct val="115000"/>
              </a:lnSpc>
              <a:spcBef>
                <a:spcPts val="0"/>
              </a:spcBef>
              <a:spcAft>
                <a:spcPts val="0"/>
              </a:spcAft>
              <a:buSzPts val="1100"/>
              <a:buNone/>
            </a:pPr>
            <a:r>
              <a:rPr lang="es-ES" sz="1200">
                <a:solidFill>
                  <a:schemeClr val="dk1"/>
                </a:solidFill>
              </a:rPr>
              <a:t>“</a:t>
            </a:r>
            <a:r>
              <a:rPr lang="es-ES" sz="1200">
                <a:solidFill>
                  <a:schemeClr val="dk1"/>
                </a:solidFill>
              </a:rPr>
              <a:t>El equipo logró cumplir con los objetivos propuestos para este sprint, dejando preparado el entorno para la siguiente iteración, que abordará la visualización de datos y la optimización de la interfaz en la aplicación móvil. En conjunto, los resultados de este sprint representan un avance significativo hacia la validación funcional del prototipo de Migratio y su capacidad de aportar soluciones tecnológicas al desafío del Overturismo.</a:t>
            </a:r>
            <a:endParaRPr sz="1200">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just">
              <a:lnSpc>
                <a:spcPct val="115000"/>
              </a:lnSpc>
              <a:spcBef>
                <a:spcPts val="0"/>
              </a:spcBef>
              <a:spcAft>
                <a:spcPts val="0"/>
              </a:spcAft>
              <a:buSzPts val="1100"/>
              <a:buNone/>
            </a:pPr>
            <a:r>
              <a:t/>
            </a:r>
            <a:endParaRPr sz="1200">
              <a:solidFill>
                <a:schemeClr val="dk1"/>
              </a:solidFill>
            </a:endParaRPr>
          </a:p>
        </p:txBody>
      </p:sp>
      <p:sp>
        <p:nvSpPr>
          <p:cNvPr id="1327" name="Google Shape;1327;p34"/>
          <p:cNvSpPr txBox="1"/>
          <p:nvPr/>
        </p:nvSpPr>
        <p:spPr>
          <a:xfrm>
            <a:off x="1825218" y="218627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ES">
                <a:solidFill>
                  <a:srgbClr val="191919"/>
                </a:solidFill>
                <a:latin typeface="Catamaran"/>
                <a:ea typeface="Catamaran"/>
                <a:cs typeface="Catamaran"/>
                <a:sym typeface="Catamaran"/>
              </a:rPr>
              <a:t>Percy Santibañez</a:t>
            </a:r>
            <a:endParaRPr b="1">
              <a:solidFill>
                <a:srgbClr val="191919"/>
              </a:solidFill>
              <a:latin typeface="Catamaran"/>
              <a:ea typeface="Catamaran"/>
              <a:cs typeface="Catamaran"/>
              <a:sym typeface="Catamaran"/>
            </a:endParaRPr>
          </a:p>
          <a:p>
            <a:pPr indent="0" lvl="0" marL="0" rtl="0" algn="l">
              <a:spcBef>
                <a:spcPts val="0"/>
              </a:spcBef>
              <a:spcAft>
                <a:spcPts val="0"/>
              </a:spcAft>
              <a:buNone/>
            </a:pPr>
            <a:r>
              <a:t/>
            </a:r>
            <a:endParaRPr b="1">
              <a:solidFill>
                <a:srgbClr val="2D3239"/>
              </a:solidFill>
              <a:latin typeface="Catamaran"/>
              <a:ea typeface="Catamaran"/>
              <a:cs typeface="Catamaran"/>
              <a:sym typeface="Catamaran"/>
            </a:endParaRPr>
          </a:p>
        </p:txBody>
      </p:sp>
      <p:sp>
        <p:nvSpPr>
          <p:cNvPr id="1328" name="Google Shape;1328;p34"/>
          <p:cNvSpPr txBox="1"/>
          <p:nvPr/>
        </p:nvSpPr>
        <p:spPr>
          <a:xfrm>
            <a:off x="5083968" y="2177775"/>
            <a:ext cx="19764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s-ES">
                <a:solidFill>
                  <a:srgbClr val="2D3239"/>
                </a:solidFill>
                <a:latin typeface="Catamaran"/>
                <a:ea typeface="Catamaran"/>
                <a:cs typeface="Catamaran"/>
                <a:sym typeface="Catamaran"/>
              </a:rPr>
              <a:t>Eduardo Villegas</a:t>
            </a:r>
            <a:endParaRPr b="1">
              <a:solidFill>
                <a:srgbClr val="2D3239"/>
              </a:solidFill>
              <a:latin typeface="Catamaran"/>
              <a:ea typeface="Catamaran"/>
              <a:cs typeface="Catamaran"/>
              <a:sym typeface="Catamar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pic>
        <p:nvPicPr>
          <p:cNvPr id="1333" name="Google Shape;1333;g394d6a005cf_2_11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Eduardo Villegas Rojas</dc:creator>
</cp:coreProperties>
</file>